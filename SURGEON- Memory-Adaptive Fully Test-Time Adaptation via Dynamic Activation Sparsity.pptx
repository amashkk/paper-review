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</p:sldMasterIdLst>
  <p:notesMasterIdLst>
    <p:notesMasterId r:id="rId28"/>
  </p:notesMasterIdLst>
  <p:sldIdLst>
    <p:sldId id="256" r:id="rId6"/>
    <p:sldId id="440" r:id="rId7"/>
    <p:sldId id="258" r:id="rId8"/>
    <p:sldId id="372" r:id="rId9"/>
    <p:sldId id="445" r:id="rId10"/>
    <p:sldId id="439" r:id="rId11"/>
    <p:sldId id="434" r:id="rId12"/>
    <p:sldId id="429" r:id="rId13"/>
    <p:sldId id="436" r:id="rId14"/>
    <p:sldId id="430" r:id="rId15"/>
    <p:sldId id="447" r:id="rId16"/>
    <p:sldId id="448" r:id="rId17"/>
    <p:sldId id="446" r:id="rId18"/>
    <p:sldId id="451" r:id="rId19"/>
    <p:sldId id="442" r:id="rId20"/>
    <p:sldId id="437" r:id="rId21"/>
    <p:sldId id="433" r:id="rId22"/>
    <p:sldId id="452" r:id="rId23"/>
    <p:sldId id="422" r:id="rId24"/>
    <p:sldId id="453" r:id="rId25"/>
    <p:sldId id="438" r:id="rId26"/>
    <p:sldId id="292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4" autoAdjust="0"/>
    <p:restoredTop sz="76295" autoAdjust="0"/>
  </p:normalViewPr>
  <p:slideViewPr>
    <p:cSldViewPr snapToGrid="0">
      <p:cViewPr varScale="1">
        <p:scale>
          <a:sx n="84" d="100"/>
          <a:sy n="84" d="100"/>
        </p:scale>
        <p:origin x="1350" y="60"/>
      </p:cViewPr>
      <p:guideLst/>
    </p:cSldViewPr>
  </p:slideViewPr>
  <p:outlineViewPr>
    <p:cViewPr>
      <p:scale>
        <a:sx n="33" d="100"/>
        <a:sy n="33" d="100"/>
      </p:scale>
      <p:origin x="0" y="-3596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409118-D757-465C-AB1A-5DF74F985BCA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C9C8E-8CA7-443A-832F-F0F3F7A960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13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570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B2975-502E-EF2D-7509-960C0B913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A905857-63EF-105D-2159-51DD8515E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E245294-29B0-B075-3558-11298E8C3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4F2A64-6F8D-7FA9-A927-74C72D205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301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5571-2E96-BACF-B54C-95F68138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D358540-550C-E43E-6D65-F8878EE64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73FD05-9674-F238-D601-7A0A871A7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隨著 AI 與物聯網 (IoT) 技術的成熟，現在的趨勢是將深度學習模型直接部署到邊緣終端設備 (Mobile terminals) 上，例如自駕車或智慧感測器，以追求即時的運算。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b="1" dirty="0"/>
              <a:t>然而，實務上遇到了致命的痛點 (第二點)：</a:t>
            </a:r>
            <a:r>
              <a:rPr lang="zh-TW" altLang="zh-TW" dirty="0"/>
              <a:t> 模型在實驗室乾淨的數據下訓練得很好，但一旦部署到真實世界，往往會遭遇嚴重的『分佈偏移 (Distribution shifts)』。舉例來說，天氣突然起霧、下雪，或是感測器老化產生雜訊。這種訓練環境與測試環境的落差，會導致模型的推論準確率發生斷崖式的下跌。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b="1" dirty="0"/>
              <a:t>為了解決這個落差，引出了本篇論文的核心技術 (第三點)：</a:t>
            </a:r>
            <a:r>
              <a:rPr lang="zh-TW" altLang="zh-TW" dirty="0"/>
              <a:t> 為了解決上述問題，學界提出了『測試時自適應 (Test-Time Adaptation, TTA)』。TTA 的強大之處在於，它允許模型在不需要人工提供真實標籤 (Unlabeled) 的情況下，直接在目標環境中，利用即時收集到的資料進行線上 (Online) 的自我更新，藉此迅速恢復模型的辨識能力。</a:t>
            </a:r>
          </a:p>
          <a:p>
            <a:pPr algn="jus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891B92-471F-E0EE-A015-1FFDFD232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058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84810-23C7-83FC-E774-B37C7DF1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0F5898-035A-2B06-0A4F-C6CB4D2B2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501D9D-FE25-1134-F900-4A1A39054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在很多實際的部署場景裡，原始的訓練資料和訓練流程是不能被存取或修改的——因為隱私法規，訓練資料可能包含醫療影像或個人資料，不能任意使用；也因為儲存限制，訓練資料動輒幾百GB甚至幾TB，部署裝置根本沒有空間存放。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dirty="0"/>
              <a:t>第二句說：為了解決這個限制，FTTA 被提出——讓模型可以在不依賴原始訓練流程的情況下，線上即時適應新環境。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dirty="0"/>
              <a:t>第三句是轉折。FTTA 雖然解決了第一個問題，但要在資源受限的裝置上部署 FTTA，會被『高記憶體消耗』嚴重阻礙。這個記憶體開銷主要來自於：backward propagation 過程中，需要快取中間的 activation，才能計算梯度、更新權重。</a:t>
            </a:r>
            <a:endParaRPr lang="zh-TW" alt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------------------------------------------------------------------</a:t>
            </a:r>
          </a:p>
          <a:p>
            <a:endParaRPr lang="en-US" dirty="0"/>
          </a:p>
          <a:p>
            <a:endParaRPr lang="en-US" dirty="0"/>
          </a:p>
          <a:p>
            <a:r>
              <a:rPr lang="en-TW" dirty="0"/>
              <a:t>實際部署時,原始訓練資料常常因為隱私或儲存成本而無法取得;所以需要一種「只給我訓練好的模型,不需要原始訓練資料、不需要修改訓練流程」就能適應新環境的方法,這就是 FTTA。SURGEON 就是符合這個限制的方法。</a:t>
            </a:r>
          </a:p>
          <a:p>
            <a:endParaRPr lang="en-TW" dirty="0"/>
          </a:p>
          <a:p>
            <a:r>
              <a:rPr lang="en-US" dirty="0"/>
              <a:t>F</a:t>
            </a:r>
            <a:r>
              <a:rPr lang="en-TW" dirty="0"/>
              <a:t>ine tuning需要原始訓練資料：Fine-tuning（用新資料大幅更新模型） → 因為大幅更新 W 會造成 Catastrophic Forgetting → 需要餵原始資料提醒模型「別忘了舊知識」</a:t>
            </a:r>
            <a:endParaRPr lang="en-US" dirty="0"/>
          </a:p>
          <a:p>
            <a:endParaRPr lang="en-US" dirty="0"/>
          </a:p>
          <a:p>
            <a:r>
              <a:rPr lang="zh-TW" altLang="zh-TW" dirty="0"/>
              <a:t>「裝置存不下訓練資料」這句話想強調的問題是：如果你想用 Fine-tuning 的方式來適應新環境，而且想避免 Catastrophic Forgetting，標準做法需要把原始訓練資料也一起拿來訓練——但裝置上沒有存這份資料</a:t>
            </a:r>
            <a:endParaRPr lang="en-TW" dirty="0"/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B8F2F-2DA3-26F6-70B2-E53F6F23E8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4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A6DAF-BE8D-812F-CFCE-F6866A72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F0F5BB-B3BD-0934-A61E-0AEB69C63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53274A-29C4-9B0F-453F-34ACCCC41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在系統框架上，</a:t>
            </a:r>
            <a:r>
              <a:rPr lang="zh-TW" altLang="zh-TW" b="1" dirty="0"/>
              <a:t>作者提出了</a:t>
            </a:r>
            <a:r>
              <a:rPr lang="zh-TW" altLang="zh-TW" dirty="0"/>
              <a:t> SURGEON。這是一個專為『高記憶體效率之完全測試時自適應 (FTTA)』所設計的框架，能在維持模型準確率的嚴格前提下，逐層最佳化記憶體的開銷。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dirty="0"/>
              <a:t>在核心方法上，</a:t>
            </a:r>
            <a:r>
              <a:rPr lang="zh-TW" altLang="zh-TW" b="1" dirty="0"/>
              <a:t>該研究</a:t>
            </a:r>
            <a:r>
              <a:rPr lang="zh-TW" altLang="zh-TW" dirty="0"/>
              <a:t>提出了一種新穎的記憶體優化策略——『動態激活稀疏化 (Dynamic Activation Sparsity)』。這項策略創新地將『準確率貢獻』與『記憶體消耗』同時納入評估，讓系統能動態地將資源分配給最關鍵的網路層。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dirty="0"/>
              <a:t>在實驗驗證上，</a:t>
            </a:r>
            <a:r>
              <a:rPr lang="zh-TW" altLang="zh-TW" b="1" dirty="0"/>
              <a:t>論文的結果證明了</a:t>
            </a:r>
            <a:r>
              <a:rPr lang="zh-TW" altLang="zh-TW" dirty="0"/>
              <a:t>此方法具備高度的泛化能力。SURGEON 在多種資料集、網路架構與任務組合中，皆成功達成了準確率與記憶體壓縮率的 SOTA (State-of-the-Art) 表現。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392ED7-5134-7B14-31EF-892AA0B8E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084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CDF24-9CE3-A463-032A-FD8031515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72EEBD-14C1-C3B6-C528-FB999596D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919BAF-ACDB-628E-CFF3-D1ED47542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itchFamily="2" charset="2"/>
              <a:buChar char="Ø"/>
            </a:pPr>
            <a:r>
              <a:rPr lang="en-TW" altLang="zh-TW" b="1" dirty="0"/>
              <a:t>Memory-Efficient Fully Test-Time Adaptation</a:t>
            </a:r>
            <a:endParaRPr lang="en-US" altLang="zh-TW" dirty="0"/>
          </a:p>
          <a:p>
            <a:r>
              <a:rPr lang="zh-TW" altLang="zh-TW" dirty="0"/>
              <a:t>本研究聚焦於完全測試時自適應（FTTA）在資源受限環境下的應用。FTTA 的核心優勢在於，能使預訓練模型直接利用無標籤的目標數據進行線上更新，進而緩解領域偏移（Domain Shifts）所造成的效能衰退，且全過程無需修改原始的訓練流程。</a:t>
            </a:r>
          </a:p>
          <a:p>
            <a:endParaRPr lang="en-US" altLang="zh-TW" dirty="0"/>
          </a:p>
          <a:p>
            <a:r>
              <a:rPr lang="zh-TW" altLang="zh-TW" dirty="0"/>
              <a:t>然而，將此技術部署於邊緣設備時，面臨著嚴峻的記憶體瓶頸。在設備端執行反向傳播以更新模型權重時，系統必須暫存大量的中間層激活值（Activations）以計算梯度。此龐大的記憶體開銷構成了 FTTA 實際落地的主要限制，亦為本研究致力解決的核心問題。</a:t>
            </a:r>
            <a:endParaRPr lang="en-US" altLang="zh-TW" dirty="0"/>
          </a:p>
          <a:p>
            <a:endParaRPr lang="en-US" altLang="zh-TW" b="1" dirty="0"/>
          </a:p>
          <a:p>
            <a:pPr marL="171450" indent="-171450">
              <a:buFont typeface="Wingdings" pitchFamily="2" charset="2"/>
              <a:buChar char="Ø"/>
            </a:pPr>
            <a:r>
              <a:rPr lang="en-TW" altLang="zh-TW" b="1" dirty="0"/>
              <a:t>Memory-Efficient Strategies for Backpropagation 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dirty="0"/>
              <a:t>針對反向傳播的記憶體優化策略。在終端設備執行測試時自適應（TTA）時，嚴格的硬體記憶體限制為首要瓶頸。</a:t>
            </a:r>
          </a:p>
          <a:p>
            <a:r>
              <a:rPr lang="zh-TW" altLang="zh-TW" dirty="0"/>
              <a:t>現有文獻 [2, 17, 41] 已明確剖析：自適應過程中的龐大記憶體開銷，主要並非源於模型參數，而是為了在反向傳播中計算梯度與更新權重，所必須暫存的大量中間層激活值（Activations）。</a:t>
            </a:r>
            <a:endParaRPr lang="en-US" altLang="zh-TW" dirty="0"/>
          </a:p>
          <a:p>
            <a:endParaRPr lang="zh-TW" altLang="zh-TW" dirty="0"/>
          </a:p>
          <a:p>
            <a:r>
              <a:rPr lang="zh-TW" altLang="zh-TW" dirty="0"/>
              <a:t>基於此共識，本研究確立了具體的解決途徑：欲實現終端設備的記憶體效率，最根本的關鍵在於有效縮減這些暫存激活值的空間佔用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BFDF46-A2F4-233F-4AB8-DCD68C824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45181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0148D-68A1-1210-A904-2C65DD2D1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46B336-56FC-739D-83AB-991229199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AA7ED051-7A49-ABD9-841C-FF4113237F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zh-TW" altLang="zh-TW" dirty="0"/>
                  <a:t>ΔW 的用途就是「告訴你這個權重該往哪個方向調、調多少」——它的正負號決定方向，大小決定步伐。透過</a:t>
                </a:r>
                <a:r>
                  <a:rPr lang="en-US" altLang="zh-TW" dirty="0"/>
                  <a:t>gradient descent</a:t>
                </a:r>
                <a:r>
                  <a:rPr lang="zh-TW" altLang="zh-TW" dirty="0"/>
                  <a:t>更新權重，模型就能一步一步朝著「讓 Loss 變小」的方向前進。沒有 Δ</a:t>
                </a:r>
                <a:r>
                  <a:rPr lang="zh-TW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zh-TW" altLang="zh-TW" dirty="0"/>
                  <a:t>，模型有幾百萬個權重，根本不知道該怎麼調，永遠學不會任何東西。在 TTA 場景下，ΔW 就是讓模型能夠「適應新環境」的根本機制。</a:t>
                </a:r>
                <a:endParaRPr lang="en-US" altLang="zh-TW" dirty="0"/>
              </a:p>
              <a:p>
                <a:pPr algn="just"/>
                <a:endParaRPr lang="en-US" altLang="zh-TW" dirty="0"/>
              </a:p>
              <a:p>
                <a:pPr algn="just"/>
                <a:r>
                  <a:rPr lang="zh-TW" altLang="zh-TW" dirty="0"/>
                  <a:t>圖上畫的是網路裡連續三層,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zh-TW" dirty="0"/>
                  <a:t>經過權重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zh-TW" altLang="zh-TW" dirty="0"/>
                  <a:t>變成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再經過權重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變成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zh-TW" dirty="0"/>
                  <a:t>,最後接到 Loss L。</a:t>
                </a:r>
              </a:p>
              <a:p>
                <a:pPr algn="just"/>
                <a:r>
                  <a:rPr lang="zh-TW" altLang="zh-TW" dirty="0"/>
                  <a:t>Backward 要算兩個東西:</a:t>
                </a:r>
                <a:endParaRPr lang="en-US" altLang="zh-TW" dirty="0"/>
              </a:p>
              <a:p>
                <a:pPr algn="just"/>
                <a:endParaRPr lang="zh-TW" altLang="zh-TW" dirty="0"/>
              </a:p>
              <a:p>
                <a:pPr algn="just"/>
                <a:r>
                  <a:rPr lang="zh-TW" altLang="zh-TW" dirty="0"/>
                  <a:t>第一個是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,也就是這一層權重該怎麼調。因為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是透過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zh-TW" dirty="0"/>
                  <a:t>才影響到 L 的,用連鎖律拆開,最後得到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zh-TW" i="0" dirty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等於『從後面傳來的梯度』乘上『這一層的輸入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en-US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』。這是 backward 真正要的東西,拿去更新權重用。</a:t>
                </a:r>
                <a:endParaRPr lang="en-US" altLang="zh-TW" dirty="0"/>
              </a:p>
              <a:p>
                <a:pPr algn="just"/>
                <a:endParaRPr lang="zh-TW" altLang="zh-TW" dirty="0"/>
              </a:p>
              <a:p>
                <a:pPr algn="just"/>
                <a:r>
                  <a:rPr lang="zh-TW" altLang="zh-TW" dirty="0"/>
                  <a:t>第二個是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,它不是最終目的,是傳給前一層的訊號。同樣用連鎖律,但這次對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微分,得到的是乘上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,不是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。算出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之後,前一層才能接著算自己的權重梯度。</a:t>
                </a:r>
              </a:p>
              <a:p>
                <a:pPr algn="just"/>
                <a:endParaRPr lang="en-US" altLang="zh-TW" dirty="0"/>
              </a:p>
              <a:p>
                <a:pPr algn="just"/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endParaRPr lang="en-TW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AA7ED051-7A49-ABD9-841C-FF4113237F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TW" dirty="0"/>
                  <a:t>我們的模型必須在</a:t>
                </a:r>
                <a:r>
                  <a:rPr lang="en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沒有標準答案、不能改架構、環境隨時會變</a:t>
                </a:r>
                <a:r>
                  <a:rPr lang="en-TW" dirty="0"/>
                  <a:t>的嚴苛條件下自我進化。而在這個進化（反向傳播）的數學過程中，一定會產生大量的激活值 </a:t>
                </a:r>
                <a:r>
                  <a:rPr lang="en-TW" sz="120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𝐴_𝑖</a:t>
                </a:r>
                <a:r>
                  <a:rPr lang="en-TW" i="0" dirty="0">
                    <a:latin typeface="Cambria Math" panose="02040503050406030204" pitchFamily="18" charset="0"/>
                  </a:rPr>
                  <a:t>，</a:t>
                </a:r>
                <a:r>
                  <a:rPr lang="en-TW" dirty="0"/>
                  <a:t>這就是我們接下來要解決的記憶體魔王。</a:t>
                </a:r>
              </a:p>
              <a:p>
                <a:endParaRPr lang="en-TW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F23649-1D6F-168D-51B6-045F5D398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4550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5A0C1-4285-799F-E0B3-95BA1613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267A458-B0A7-8F14-E612-BC3906478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514F3C8-4361-85F2-7D17-91251D13F6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TW" altLang="zh-TW" dirty="0"/>
              <a:t>這張圖是 SURGEON 的整體架構圖，分成 forward 和 backward 兩部分。</a:t>
            </a:r>
          </a:p>
          <a:p>
            <a:pPr algn="just"/>
            <a:r>
              <a:rPr lang="zh-TW" altLang="zh-TW" b="1" dirty="0"/>
              <a:t>左邊 forward</a:t>
            </a:r>
            <a:r>
              <a:rPr lang="zh-TW" altLang="zh-TW" dirty="0"/>
              <a:t>：資料正常地一層一層往前算，算出 Loss。但同時，每一層的 activation A_i 會經過一個『動態剪枝』的步驟——用這一層專屬的剪枝率 p_i^t，把 A_i 裡不重要的元素剪掉，變成稀疏的 Ȧ_i，然後壓縮存進 cache。圖上可以看到兩層的剪枝率不一樣，一個是 80%、一個是 40%，這就是『層特定』的意思。</a:t>
            </a:r>
            <a:endParaRPr lang="en-US" altLang="zh-TW" dirty="0"/>
          </a:p>
          <a:p>
            <a:pPr algn="just"/>
            <a:endParaRPr lang="zh-TW" altLang="zh-TW" dirty="0"/>
          </a:p>
          <a:p>
            <a:pPr algn="just"/>
            <a:r>
              <a:rPr lang="zh-TW" altLang="zh-TW" b="1" dirty="0"/>
              <a:t>右邊 backward</a:t>
            </a:r>
            <a:r>
              <a:rPr lang="zh-TW" altLang="zh-TW" dirty="0"/>
              <a:t>：梯度從 Loss 開始往回傳。每一層做兩件事：一是用 W_i 把梯度 ΔA 往前傳；二是把 cache 裡存的 Ȧ_i 拿出來（就是那條長虛線），跟傳過來的梯度一起算出 ΔW_i——這是真正用來更新權重的東西。</a:t>
            </a:r>
            <a:endParaRPr lang="en-US" altLang="zh-TW" dirty="0"/>
          </a:p>
          <a:p>
            <a:pPr algn="just"/>
            <a:endParaRPr lang="zh-TW" altLang="zh-TW" dirty="0"/>
          </a:p>
          <a:p>
            <a:pPr algn="just"/>
            <a:r>
              <a:rPr lang="zh-TW" altLang="zh-TW" b="1" dirty="0"/>
              <a:t>核心概念</a:t>
            </a:r>
            <a:r>
              <a:rPr lang="zh-TW" altLang="zh-TW" dirty="0"/>
              <a:t>：長期存在 cache 裡的是『壓縮後的稀疏版本』，只有在 backward 算到那一層的瞬間，才會被拿出來用。這樣既能保留『算梯度所需的資訊』，又能大幅降低長期佔用的記憶體。</a:t>
            </a:r>
          </a:p>
          <a:p>
            <a:pPr algn="just"/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just"/>
            <a:r>
              <a:rPr lang="zh-TW" altLang="zh-TW" dirty="0"/>
              <a:t>「為什麼會用到記憶體」的答案就是：backward 需要 A_i，但 A_i 是 forward 時算的，中間有時間差，所以必須一直存著等 backward 用。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B47D62-2A58-6708-3AB4-AA1431B27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96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A773-56DE-8631-EFB9-BEE40E09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CBA57A-AA95-A336-8059-79A6D31B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04D9A343-29A9-5FF6-BF5E-E92E82089A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zh-TW" altLang="zh-TW" dirty="0"/>
                  <a:t>當模型遇到大霧或雨天（領域偏移）時，網路中每一層的反應是不一樣的。有些層需要大幅度更新權重來適應新環境，有些層則維持原樣即可。如果我們用死板的「全局統一修剪比例（例如每一層都固定剪掉 50%）」，一定會搞砸模型的準確率。我們必須為每一層量身打造專屬的修剪比例。</a:t>
                </a:r>
                <a:endParaRPr lang="en-US" altLang="zh-TW" dirty="0"/>
              </a:p>
              <a:p>
                <a:pPr algn="just"/>
                <a:endParaRPr lang="en-US" altLang="zh-TW" dirty="0"/>
              </a:p>
              <a:p>
                <a:pPr algn="just"/>
                <a:r>
                  <a:rPr lang="zh-TW" altLang="en-US" dirty="0"/>
                  <a:t>需要進行</a:t>
                </a:r>
                <a:r>
                  <a:rPr lang="zh-TW" altLang="zh-TW" dirty="0"/>
                  <a:t>動態修剪後，</a:t>
                </a:r>
                <a:r>
                  <a:rPr lang="zh-TW" altLang="zh-TW" b="1" dirty="0"/>
                  <a:t>該如何決定每一層的修剪比例？</a:t>
                </a:r>
                <a:r>
                  <a:rPr lang="zh-TW" altLang="zh-TW" dirty="0"/>
                  <a:t> 為此，</a:t>
                </a:r>
                <a:r>
                  <a:rPr lang="zh-TW" altLang="en-US" dirty="0"/>
                  <a:t>這篇論文</a:t>
                </a:r>
                <a:r>
                  <a:rPr lang="zh-TW" altLang="zh-TW" dirty="0"/>
                  <a:t>引入了第一個關鍵指標：『梯度重要性 (Gradient Importance)』。</a:t>
                </a:r>
                <a:endParaRPr lang="en-US" altLang="zh-TW" dirty="0"/>
              </a:p>
              <a:p>
                <a:pPr algn="just"/>
                <a:r>
                  <a:rPr lang="zh-TW" altLang="zh-TW" dirty="0"/>
                  <a:t>過去的研究指出</a:t>
                </a:r>
                <a:r>
                  <a:rPr lang="en-US" altLang="zh-TW" dirty="0"/>
                  <a:t>[20]</a:t>
                </a:r>
                <a:r>
                  <a:rPr lang="zh-TW" altLang="zh-TW" dirty="0"/>
                  <a:t>，模型在適應未知的數據分佈時，每一層的參與度是不均等的。為了精準量化這種參與度，我們直接觀察該層的</a:t>
                </a:r>
                <a:r>
                  <a:rPr lang="zh-TW" altLang="zh-TW" b="1" dirty="0"/>
                  <a:t>權重梯度 (Weight Gradients)</a:t>
                </a:r>
                <a:r>
                  <a:rPr lang="zh-TW" altLang="zh-TW" dirty="0"/>
                  <a:t>。</a:t>
                </a:r>
                <a:endParaRPr lang="en-US" altLang="zh-TW" dirty="0"/>
              </a:p>
              <a:p>
                <a:pPr algn="just"/>
                <a:endParaRPr lang="en-US" altLang="zh-TW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就是</m:t>
                    </m:r>
                  </m:oMath>
                </a14:m>
                <a:r>
                  <a:rPr lang="zh-TW" altLang="en-US" dirty="0"/>
                  <a:t>梯度，</a:t>
                </a:r>
                <a:r>
                  <a:rPr lang="zh-TW" altLang="zh-TW" dirty="0"/>
                  <a:t>如果這個數值很大（不管是正還是負），代表只要動一下這個權重，Loss 就會大幅下降。這意味著這個權重對適應新環境</a:t>
                </a:r>
                <a:r>
                  <a:rPr lang="zh-TW" altLang="zh-TW" b="1" dirty="0"/>
                  <a:t>影響力極強</a:t>
                </a:r>
                <a:r>
                  <a:rPr lang="zh-TW" altLang="zh-TW" dirty="0"/>
                  <a:t>。</a:t>
                </a:r>
              </a:p>
              <a:p>
                <a:r>
                  <a:rPr lang="zh-TW" altLang="zh-TW" dirty="0"/>
                  <a:t>用梯度判斷重要性，是因為梯度直接回答了「這一層在面對當前這批新資料時，W 需要改變多少」——梯度大代表這層需要大幅調整（正在努力學習），應該保護它（少剪）；梯度小代表這層幾乎不需要調整（沒在學），剪掉也不影響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Formula</a:t>
                </a:r>
              </a:p>
              <a:p>
                <a:r>
                  <a:rPr lang="zh-TW" altLang="zh-TW" dirty="0"/>
                  <a:t>SURGEON 怎麼判斷『哪一層比較重要』的第一個指標——梯度重要性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。</a:t>
                </a:r>
              </a:p>
              <a:p>
                <a:r>
                  <a:rPr lang="zh-TW" altLang="zh-TW" dirty="0"/>
                  <a:t>核心想法是：不同層在面對不同資料時,適應的程度不一樣,所以固定剪枝率不合理。用什麼來判斷『重要程度』？答案是用權重梯度——梯度越大,代表這層對降低 Loss、提升準確率的影響越大,代表它正在努力學習。</a:t>
                </a:r>
                <a:endParaRPr lang="en-US" altLang="zh-TW" dirty="0"/>
              </a:p>
              <a:p>
                <a:endParaRPr lang="zh-TW" altLang="zh-TW" dirty="0"/>
              </a:p>
              <a:p>
                <a:r>
                  <a:rPr lang="zh-TW" altLang="zh-TW" dirty="0"/>
                  <a:t>公式的第一部分,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i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dirty="0"/>
                  <a:t> 就是第 j 個 neuron 的梯度,意思是『這個 neuron 的權重該怎麼調』。</a:t>
                </a:r>
              </a:p>
              <a:p>
                <a:r>
                  <a:rPr lang="zh-TW" altLang="zh-TW" dirty="0"/>
                  <a:t>第二部分,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是把整層所有 neuron 的梯度,做一個均方根（RMS）。先把每個梯度平方,是為了避免正負相消;加總之後除以 neuron 數量,是為了不同層之間能公平比較;最後開根號,把單位調回來。算出來的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,</a:t>
                </a:r>
                <a:r>
                  <a:rPr lang="zh-TW" altLang="en-US" dirty="0"/>
                  <a:t> </a:t>
                </a:r>
                <a:r>
                  <a:rPr lang="zh-TW" altLang="zh-TW" dirty="0"/>
                  <a:t>就是這一層的『重要性分數』。</a:t>
                </a:r>
                <a:endParaRPr lang="en-US" altLang="zh-TW" dirty="0"/>
              </a:p>
              <a:p>
                <a:endParaRPr lang="zh-TW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越大,代表這層正在努力學習,要少剪;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越小,代表這層沒在動,可以多剪,省更多記憶體。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TW" dirty="0"/>
                  <a:t>每層參與度不均等是因為：不同層處理不同層次的特徵（淺層處理低階的亮度/對比度，深層處理高階的物體概念），新環境（例如起霧）主要影響低階特徵，所以淺層需要大幅適應（參與度高），深層幾乎不需要動（參與度低）。用梯度量化這個參與度，是因為梯度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i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en-TW" dirty="0"/>
                  <a:t>）直接告訴你「這一層的 W 對當前 Loss 的影響力是多少」——影響力大就代表這層需要大幅調整（參與度高），這是最直接、不需要額外推測的指標，而且 backward 本來就要算，不用額外設計評估機制。</a:t>
                </a:r>
                <a:endParaRPr lang="zh-TW" altLang="zh-TW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04D9A343-29A9-5FF6-BF5E-E92E82089A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zh-TW" altLang="zh-TW" dirty="0"/>
                  <a:t>當模型遇到大霧或雨天（領域偏移）時，網路中每一層的反應是不一樣的。有些層需要大幅度更新權重來適應新環境，有些層則維持原樣即可。如果我們用死板的「全局統一修剪比例（例如每一層都固定剪掉 50%）」，一定會搞砸模型的準確率。我們必須為每一層量身打造專屬的修剪比例。</a:t>
                </a:r>
                <a:endParaRPr lang="en-US" altLang="zh-TW" dirty="0"/>
              </a:p>
              <a:p>
                <a:pPr algn="just"/>
                <a:endParaRPr lang="en-US" altLang="zh-TW" dirty="0"/>
              </a:p>
              <a:p>
                <a:pPr algn="just"/>
                <a:r>
                  <a:rPr lang="zh-TW" altLang="en-US" dirty="0"/>
                  <a:t>需要進行</a:t>
                </a:r>
                <a:r>
                  <a:rPr lang="zh-TW" altLang="zh-TW" dirty="0"/>
                  <a:t>動態修剪後，</a:t>
                </a:r>
                <a:r>
                  <a:rPr lang="zh-TW" altLang="zh-TW" b="1" dirty="0"/>
                  <a:t>該如何決定每一層的修剪比例？</a:t>
                </a:r>
                <a:r>
                  <a:rPr lang="zh-TW" altLang="zh-TW" dirty="0"/>
                  <a:t> 為此，</a:t>
                </a:r>
                <a:r>
                  <a:rPr lang="zh-TW" altLang="en-US" dirty="0"/>
                  <a:t>這篇論文</a:t>
                </a:r>
                <a:r>
                  <a:rPr lang="zh-TW" altLang="zh-TW" dirty="0"/>
                  <a:t>引入了第一個關鍵指標：『梯度重要性 (Gradient Importance)』。</a:t>
                </a:r>
                <a:endParaRPr lang="en-US" altLang="zh-TW" dirty="0"/>
              </a:p>
              <a:p>
                <a:pPr algn="just"/>
                <a:r>
                  <a:rPr lang="zh-TW" altLang="zh-TW" dirty="0"/>
                  <a:t>過去的研究指出</a:t>
                </a:r>
                <a:r>
                  <a:rPr lang="en-US" altLang="zh-TW" dirty="0"/>
                  <a:t>[20]</a:t>
                </a:r>
                <a:r>
                  <a:rPr lang="zh-TW" altLang="zh-TW" dirty="0"/>
                  <a:t>，模型在適應未知的數據分佈時，每一層的參與度是不均等的。為了精準量化這種參與度，我們直接觀察該層的</a:t>
                </a:r>
                <a:r>
                  <a:rPr lang="zh-TW" altLang="zh-TW" b="1" dirty="0"/>
                  <a:t>權重梯度 (Weight Gradients)</a:t>
                </a:r>
                <a:r>
                  <a:rPr lang="zh-TW" altLang="zh-TW" dirty="0"/>
                  <a:t>。</a:t>
                </a:r>
                <a:endParaRPr lang="en-US" altLang="zh-TW" dirty="0"/>
              </a:p>
              <a:p>
                <a:pPr algn="just"/>
                <a:endParaRPr lang="en-US" altLang="zh-TW" dirty="0"/>
              </a:p>
              <a:p>
                <a:pPr algn="just"/>
                <a:r>
                  <a:rPr lang="zh-TW" altLang="en-US" i="0">
                    <a:latin typeface="Cambria Math" panose="02040503050406030204" pitchFamily="18" charset="0"/>
                  </a:rPr>
                  <a:t>Δ𝑤_𝑖 就是</a:t>
                </a:r>
                <a:r>
                  <a:rPr lang="zh-TW" altLang="en-US" dirty="0"/>
                  <a:t>梯度，</a:t>
                </a:r>
                <a:r>
                  <a:rPr lang="zh-TW" altLang="zh-TW" dirty="0"/>
                  <a:t>如果這個數值很大（不管是正還是負），代表只要動一下這個權重，Loss 就會大幅下降。這意味著這個權重對適應新環境</a:t>
                </a:r>
                <a:r>
                  <a:rPr lang="zh-TW" altLang="zh-TW" b="1" dirty="0"/>
                  <a:t>影響力極強</a:t>
                </a:r>
                <a:r>
                  <a:rPr lang="zh-TW" altLang="zh-TW" dirty="0"/>
                  <a:t>。</a:t>
                </a:r>
              </a:p>
              <a:p>
                <a:endParaRPr lang="en-US" altLang="zh-TW" dirty="0"/>
              </a:p>
              <a:p>
                <a:r>
                  <a:rPr lang="en-US" altLang="zh-TW" dirty="0" err="1"/>
                  <a:t>Fomula</a:t>
                </a:r>
                <a:endParaRPr lang="en-US" altLang="zh-TW" dirty="0"/>
              </a:p>
              <a:p>
                <a:r>
                  <a:rPr lang="zh-TW" altLang="zh-TW" dirty="0"/>
                  <a:t>SURGEON 怎麼判斷『哪一層比較重要』的第一個指標——梯度重要性 G_i。</a:t>
                </a:r>
              </a:p>
              <a:p>
                <a:r>
                  <a:rPr lang="zh-TW" altLang="zh-TW" dirty="0"/>
                  <a:t>核心想法是：不同層在面對不同資料時,適應的程度不一樣,所以固定剪枝率不合理。用什麼來判斷『重要程度』？答案是用權重梯度——梯度越大,代表這層對降低 Loss、提升準確率的影響越大,代表它正在努力學習。</a:t>
                </a:r>
              </a:p>
              <a:p>
                <a:r>
                  <a:rPr lang="zh-TW" altLang="zh-TW" dirty="0"/>
                  <a:t>公式的第一部分,Δw_j 就是第 j 個 neuron 的梯度,意思是『這個 neuron 的權重該怎麼調』。</a:t>
                </a:r>
              </a:p>
              <a:p>
                <a:r>
                  <a:rPr lang="zh-TW" altLang="zh-TW" dirty="0"/>
                  <a:t>第二部分,G_i 是把整層所有 neuron 的梯度,做一個均方根（RMS）。先把每個梯度平方,是為了避免正負相消;加總之後除以 neuron 數量,是為了不同層之間能公平比較;最後開根號,把單位調回來。算出來的 G_i,就是這一層的『重要性分數』。</a:t>
                </a:r>
              </a:p>
              <a:p>
                <a:r>
                  <a:rPr lang="zh-TW" altLang="zh-TW" dirty="0"/>
                  <a:t>G_i 越大,代表這層正在努力學習,要少剪;G_i 越小,代表這層沒在動,可以多剪,省更多記憶體。</a:t>
                </a:r>
              </a:p>
              <a:p>
                <a:endParaRPr lang="en-US" altLang="zh-TW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87DD96-26CD-CBB5-CB52-D203AF756C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9275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2396-8F9A-EBEB-4917-4F3D0D21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A5C9A47-BD3F-05C4-4B0B-BA6962FEA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AD2A89EA-4BC8-D76B-EC51-81935EA9EF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本質上是把「activation 占整體記憶體的比例」這個訊息,轉換成一個「跟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同方向」的決策分數。原始的「占比」方向是「activation 大→占比大」,但這跟我們需要的規則(大=少剪)是相反的——因為 activation 大其實該多剪。取負對數的作用就是把方向「反轉」過來,讓 M_i 變成「activation 小→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大」,這樣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 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才能用同一套簡單規則(數值大=少剪)合併,不用為了方向不一致另外寫複雜的公式。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dirty="0"/>
                  <a:t>占比永遠在 0~1 之間，log(占比) 永遠是負數，而且「占比越大（activation越肥），log值越接近0（相對較大）」——這個方向跟我們需要的（肥的層該對應到較小的數值，因為該多剪）正好相反。加負號的作用就是把這個方向完全翻轉過來，讓「activation 肥 → 數值變小，activation 瘦 → 數值變大」，這樣才符合我們需要的「大=少剪」的統一規則。</a:t>
                </a:r>
                <a:endParaRPr lang="en-US" altLang="zh-TW" dirty="0"/>
              </a:p>
              <a:p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TW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dirty="0"/>
                  <a:t>必須滿足一個共同的方向： 數值大 = 這層重要 = 少剪 數值小 = 這層不重要 = 多剪</a:t>
                </a:r>
                <a:endParaRPr lang="en-US" dirty="0"/>
              </a:p>
              <a:p>
                <a:r>
                  <a:rPr lang="zh-TW" altLang="zh-TW" dirty="0"/>
                  <a:t>相對於整體的比例</a:t>
                </a:r>
                <a:endParaRPr lang="en-TW" dirty="0"/>
              </a:p>
              <a:p>
                <a:endParaRPr lang="en-TW" altLang="zh-TW" dirty="0"/>
              </a:p>
              <a:p>
                <a:r>
                  <a:rPr lang="en-TW" dirty="0"/>
                  <a:t>剪枝划算 = 這層 activation 很大（剪了能省很多記憶體）= 應該多剪 </a:t>
                </a:r>
              </a:p>
              <a:p>
                <a:r>
                  <a:rPr lang="en-TW" dirty="0"/>
                  <a:t>剪枝不划算 = 這層 activation 很小（剪了省不了多少）= 應該少剪 </a:t>
                </a:r>
              </a:p>
              <a:p>
                <a:r>
                  <a:rPr lang="en-TW" dirty="0"/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dirty="0"/>
                  <a:t> 想要的方向： activation 大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dirty="0"/>
                  <a:t>小（多剪） activation 小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dirty="0"/>
                  <a:t>大（少剪）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AD2A89EA-4BC8-D76B-EC51-81935EA9EF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zh-TW" altLang="zh-TW" dirty="0"/>
                  <a:t>就是「這一層的 activation 佔多大記憶體」這個事實,轉換成一個分數——activation 越小,</a:t>
                </a:r>
                <a:r>
                  <a:rPr lang="zh-TW" altLang="en-US" baseline="0" dirty="0"/>
                  <a:t> </a:t>
                </a:r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zh-TW" altLang="zh-TW" dirty="0"/>
                  <a:t>越大(代表剪它沒有意義,不划算);activation 越大,M_i 越小(代表剪它能省很多,值得剪)。它跟 </a:t>
                </a:r>
                <a:r>
                  <a:rPr lang="zh-TW" altLang="en-US" i="0">
                    <a:latin typeface="Cambria Math" panose="02040503050406030204" pitchFamily="18" charset="0"/>
                  </a:rPr>
                  <a:t>𝐺_𝑖</a:t>
                </a:r>
                <a:r>
                  <a:rPr lang="zh-TW" altLang="zh-TW" dirty="0"/>
                  <a:t>(衡量這層有沒有在學習)是兩個不同角度的指標,合在一起才能決定每一層真正該剪多少</a:t>
                </a:r>
                <a:r>
                  <a:rPr lang="zh-TW" altLang="en-US" dirty="0"/>
                  <a:t>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zh-TW" altLang="zh-TW" dirty="0"/>
                  <a:t>本質上是把「activation 占整體記憶體的比例」這個訊息,轉換成一個「跟 </a:t>
                </a:r>
                <a:r>
                  <a:rPr lang="zh-TW" altLang="en-US" i="0">
                    <a:latin typeface="Cambria Math" panose="02040503050406030204" pitchFamily="18" charset="0"/>
                  </a:rPr>
                  <a:t>𝐺_𝑖</a:t>
                </a:r>
                <a:r>
                  <a:rPr lang="zh-TW" altLang="zh-TW" dirty="0"/>
                  <a:t>同方向」的決策分數。原始的「占比」方向是「activation 大→占比大」,但這跟我們需要的規則(大=少剪)是相反的——因為 activation 大其實該多剪。取負對數的作用就是把方向「反轉」過來,讓 M_i 變成「activation 小→</a:t>
                </a:r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zh-TW" altLang="zh-TW" dirty="0"/>
                  <a:t>大」,這樣 </a:t>
                </a:r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zh-TW" altLang="zh-TW" dirty="0"/>
                  <a:t> 跟 </a:t>
                </a:r>
                <a:r>
                  <a:rPr lang="zh-TW" altLang="en-US" i="0">
                    <a:latin typeface="Cambria Math" panose="02040503050406030204" pitchFamily="18" charset="0"/>
                  </a:rPr>
                  <a:t>𝐺_𝑖</a:t>
                </a:r>
                <a:r>
                  <a:rPr lang="zh-TW" altLang="zh-TW" dirty="0"/>
                  <a:t>才能用同一套簡單規則(數值大=少剪)合併,不用為了方向不一致另外寫複雜的公式。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dirty="0"/>
                  <a:t>占比永遠在 0~1 之間，log(占比) 永遠是負數，而且「占比越大（activation越肥），log值越接近0（相對較大）」——這個方向跟我們需要的（肥的層該對應到較小的數值，因為該多剪）正好相反。加負號的作用就是把這個方向完全翻轉過來，讓「activation 肥 → 數值變小，activation 瘦 → 數值變大」，這樣才符合我們需要的「大=少剪」的統一規則。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i="0">
                    <a:latin typeface="Cambria Math" panose="02040503050406030204" pitchFamily="18" charset="0"/>
                  </a:rPr>
                  <a:t>𝐺_𝑖</a:t>
                </a:r>
                <a:r>
                  <a:rPr lang="zh-TW" altLang="en-US" b="0" i="0">
                    <a:latin typeface="Cambria Math" panose="02040503050406030204" pitchFamily="18" charset="0"/>
                  </a:rPr>
                  <a:t>  </a:t>
                </a:r>
                <a:r>
                  <a:rPr lang="en-TW" dirty="0"/>
                  <a:t>和 </a:t>
                </a:r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en-TW" dirty="0"/>
                  <a:t>必須滿足一個共同的方向： 數值大 = 這層重要 = 少剪 數值小 = 這層不重要 = 多剪</a:t>
                </a:r>
              </a:p>
              <a:p>
                <a:endParaRPr lang="en-TW" altLang="zh-TW" dirty="0"/>
              </a:p>
              <a:p>
                <a:r>
                  <a:rPr lang="en-TW" dirty="0"/>
                  <a:t>剪枝划算 = 這層 activation 很大（剪了能省很多記憶體）= 應該多剪 剪枝不划算 = 這層 activation 很小（剪了省不了多少）= 應該少剪 </a:t>
                </a:r>
              </a:p>
              <a:p>
                <a:r>
                  <a:rPr lang="en-TW" dirty="0"/>
                  <a:t>所以</a:t>
                </a:r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en-TW" dirty="0"/>
                  <a:t> 想要的方向： activation 大 → </a:t>
                </a:r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en-TW" dirty="0"/>
                  <a:t>小（多剪） activation 小 → </a:t>
                </a:r>
                <a:r>
                  <a:rPr lang="zh-TW" altLang="en-US" i="0">
                    <a:latin typeface="Cambria Math" panose="02040503050406030204" pitchFamily="18" charset="0"/>
                  </a:rPr>
                  <a:t>𝑀_𝑖</a:t>
                </a:r>
                <a:r>
                  <a:rPr lang="en-TW" dirty="0"/>
                  <a:t>大（少剪）</a:t>
                </a:r>
                <a:endParaRPr lang="en-US" altLang="zh-TW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4BE4B6-C4AA-538D-F582-21BF7CB59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9506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7ADE3-A3B6-8766-9D3B-E7D6DDA2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E57CEF-A371-A15E-BDE4-87DC7608C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D08223C2-8037-E31D-A2FF-EE59526765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zh-TW" altLang="zh-TW" dirty="0"/>
                  <a:t>兩者的數值範圍不一樣 直接相乘，數值範圍大的那個會主宰結果</a:t>
                </a:r>
                <a:endParaRPr lang="en-US" altLang="zh-TW" dirty="0"/>
              </a:p>
              <a:p>
                <a:pPr algn="just"/>
                <a:r>
                  <a:rPr lang="en-US" altLang="zh-TW" dirty="0"/>
                  <a:t>(Norm)</a:t>
                </a:r>
                <a:r>
                  <a:rPr lang="zh-TW" altLang="zh-TW" dirty="0"/>
                  <a:t>正規化的目的：讓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altLang="zh-TW" b="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TW" altLang="zh-TW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altLang="zh-TW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TW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在合併之前，都被縮放到同一個範圍（0~1），這樣兩者才能「公平」地一起決定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altLang="zh-TW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TW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，不會因為原始數值範圍不同而互相蓋過。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r>
                  <a:rPr lang="zh-TW" altLang="zh-TW" dirty="0"/>
                  <a:t>怎麼把前面算出的重要性分數 I_i，轉換成具體的剪枝率 p_i。公式的做法是：先在這個 batch 裡，找出所有層中 I_i 最大的那一個值，當作分母；然後每一層的 I_i 除以這個最大值，得到一個 0 到 1 之間的『相對重要性比例』——最重要的那層比例會是 1.0。最後用 1 減去這個比例，因為我們要的是『剪枝率』，跟『重要性』剛好是相反的方向：越重要的層該剪越少，所以重要性比例越高，剪枝率就要越低。</a:t>
                </a:r>
                <a:endParaRPr lang="en-US" altLang="zh-TW" dirty="0"/>
              </a:p>
              <a:p>
                <a:pPr algn="just"/>
                <a:endParaRPr lang="en-US" altLang="zh-TW" dirty="0"/>
              </a:p>
              <a:p>
                <a:pPr algn="just"/>
                <a:r>
                  <a:rPr lang="zh-TW" altLang="zh-TW" dirty="0"/>
                  <a:t>用這個公式算出來，最重要的那一層，剪枝率會剛好是 0%，完全不剪；最不重要的層，剪枝率會接近 100%，幾乎全部剪掉。</a:t>
                </a:r>
              </a:p>
              <a:p>
                <a:pPr algn="just"/>
                <a:r>
                  <a:rPr lang="zh-TW" altLang="zh-TW" dirty="0"/>
                  <a:t>而且這個計算是『每個 batch 都重新做一次』，因為 I_i 本身會隨著資料和模型權重的變化而改變，這就是『dynamic』剪枝率的數學實現方式。</a:t>
                </a:r>
              </a:p>
              <a:p>
                <a:pPr algn="just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這裡使用 Max 是出於</a:t>
                </a:r>
                <a:r>
                  <a:rPr lang="en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邊界保護 (Boundary Protection)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的考量。</a:t>
                </a:r>
              </a:p>
              <a:p>
                <a:pPr algn="just"/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如果使用平均值，重要性遠超平均的層會算出負的修剪率，在系統實作上會報錯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修剪比例（Ratio）必須是一個介於 </a:t>
                </a:r>
                <a:r>
                  <a:rPr lang="en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 到 1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之間的小數。因為分母是「最大值」，這代表其他所有層的分數（分子）</a:t>
                </a:r>
                <a:r>
                  <a:rPr lang="en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絕對不可能大於分母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pPr algn="just"/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這在數學上保證了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TW" sz="1200" i="1" kern="1200" dirty="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TW" sz="12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en-TW" sz="12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𝐼</m:t>
                            </m:r>
                          </m:e>
                          <m:sub>
                            <m:r>
                              <a:rPr lang="en-TW" sz="12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  <m:sup>
                            <m:r>
                              <a:rPr lang="en-TW" sz="12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func>
                          <m:funcPr>
                            <m:ctrlPr>
                              <a:rPr lang="en-TW" sz="1200" i="1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TW" sz="1200" i="0" kern="1200" dirty="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TW" sz="120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TW" sz="120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TW" sz="120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TW" sz="120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TW" sz="120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sup>
                                </m:sSubSup>
                              </m:e>
                            </m:d>
                          </m:e>
                        </m:func>
                      </m:den>
                    </m:f>
                  </m:oMath>
                </a14:m>
                <a:r>
                  <a:rPr lang="zh-TW" altLang="en-US" sz="1200" i="1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這個分數，永遠會是一個介於 0 到 1 之間的安全小數。</a:t>
                </a:r>
              </a:p>
              <a:p>
                <a:pPr algn="just"/>
                <a:endParaRPr lang="en-US" altLang="zh-TW" dirty="0"/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D08223C2-8037-E31D-A2FF-EE59526765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just"/>
                <a:r>
                  <a:rPr lang="en-US" altLang="zh-TW" dirty="0"/>
                  <a:t>(Norm)</a:t>
                </a:r>
                <a:r>
                  <a:rPr lang="zh-TW" altLang="zh-TW" dirty="0"/>
                  <a:t>正規化的目的：讓 </a:t>
                </a:r>
                <a:r>
                  <a:rPr lang="en-TW" altLang="zh-TW" b="0" i="0">
                    <a:latin typeface="Cambria Math" panose="02040503050406030204" pitchFamily="18" charset="0"/>
                  </a:rPr>
                  <a:t>𝐺_𝑖</a:t>
                </a:r>
                <a:r>
                  <a:rPr lang="zh-TW" altLang="zh-TW" dirty="0"/>
                  <a:t>和 </a:t>
                </a:r>
                <a:r>
                  <a:rPr lang="en-TW" altLang="zh-TW" i="0">
                    <a:latin typeface="Cambria Math" panose="02040503050406030204" pitchFamily="18" charset="0"/>
                  </a:rPr>
                  <a:t>𝑀_𝑖</a:t>
                </a:r>
                <a:r>
                  <a:rPr lang="zh-TW" altLang="zh-TW" dirty="0"/>
                  <a:t>在合併之前，都被縮放到同一個範圍（0~1），這樣兩者才能「公平」地一起決定 </a:t>
                </a:r>
                <a:r>
                  <a:rPr lang="en-TW" altLang="zh-TW" i="0">
                    <a:latin typeface="Cambria Math" panose="02040503050406030204" pitchFamily="18" charset="0"/>
                  </a:rPr>
                  <a:t>𝐼_𝑖</a:t>
                </a:r>
                <a:r>
                  <a:rPr lang="zh-TW" altLang="zh-TW" dirty="0"/>
                  <a:t>，不會因為原始數值範圍不同而互相蓋過。</a:t>
                </a: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r>
                  <a:rPr lang="zh-TW" altLang="zh-TW" dirty="0"/>
                  <a:t>怎麼把前面算出的重要性分數 I_i，轉換成具體的剪枝率 p_i。公式的做法是：先在這個 batch 裡，找出所有層中 I_i 最大的那一個值，當作分母；然後每一層的 I_i 除以這個最大值，得到一個 0 到 1 之間的『相對重要性比例』——最重要的那層比例會是 1.0。最後用 1 減去這個比例，因為我們要的是『剪枝率』，跟『重要性』剛好是相反的方向：越重要的層該剪越少，所以重要性比例越高，剪枝率就要越低。</a:t>
                </a:r>
                <a:endParaRPr lang="en-US" altLang="zh-TW" dirty="0"/>
              </a:p>
              <a:p>
                <a:pPr algn="just"/>
                <a:endParaRPr lang="en-US" altLang="zh-TW" dirty="0"/>
              </a:p>
              <a:p>
                <a:pPr algn="just"/>
                <a:r>
                  <a:rPr lang="zh-TW" altLang="zh-TW" dirty="0"/>
                  <a:t>用這個公式算出來，最重要的那一層，剪枝率會剛好是 0%，完全不剪；最不重要的層，剪枝率會接近 100%，幾乎全部剪掉。</a:t>
                </a:r>
              </a:p>
              <a:p>
                <a:pPr algn="just"/>
                <a:r>
                  <a:rPr lang="zh-TW" altLang="zh-TW" dirty="0"/>
                  <a:t>而且這個計算是『每個 batch 都重新做一次』，因為 I_i 本身會隨著資料和模型權重的變化而改變，這就是『dynamic』剪枝率的數學實現方式。</a:t>
                </a:r>
              </a:p>
              <a:p>
                <a:pPr algn="just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algn="just"/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這裡使用 Max 是出於</a:t>
                </a:r>
                <a:r>
                  <a:rPr lang="en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邊界保護 (Boundary Protection)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的考量。</a:t>
                </a:r>
              </a:p>
              <a:p>
                <a:pPr algn="just"/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如果使用平均值，重要性遠超平均的層會算出負的修剪率，在系統實作上會報錯；如果使用總和 (Sum)，算出來的比例會太小，算出來的修剪率過高，連最核心的層都會被剪掉 90% 以上。</a:t>
                </a:r>
                <a:r>
                  <a:rPr lang="en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除以 Max，是唯一能在數學上保證『全網最重要的一層，其修剪率絕對等於 0』的方法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，這確保了模型在動態適應時，最關鍵的特徵能被 100% 完整保留下來。</a:t>
                </a:r>
              </a:p>
              <a:p>
                <a:pPr algn="just"/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修剪比例（Ratio）必須是一個介於 </a:t>
                </a:r>
                <a:r>
                  <a:rPr lang="en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0 到 1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之間的小數。因為分母是「最大值」，這代表其他所有層的分數（分子）</a:t>
                </a:r>
                <a:r>
                  <a:rPr lang="en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絕對不可能大於分母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</a:p>
              <a:p>
                <a:pPr algn="just"/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這在數學上保證了 </a:t>
                </a:r>
                <a:r>
                  <a:rPr lang="en-TW" altLang="zh-TW" sz="120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(</a:t>
                </a:r>
                <a:r>
                  <a:rPr lang="en-TW" sz="1200" i="0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𝐼_𝑖^𝑡)/max⁡(𝐼_𝑖^𝑡 ) </a:t>
                </a:r>
                <a:r>
                  <a:rPr lang="zh-TW" altLang="en-US" sz="1200" i="1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+mn-ea"/>
                    <a:cs typeface="+mn-cs"/>
                  </a:rPr>
                  <a:t> </a:t>
                </a:r>
                <a:r>
                  <a:rPr lang="en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這個分數，永遠會是一個介於 0 到 1 之間的安全小數。</a:t>
                </a:r>
              </a:p>
              <a:p>
                <a:pPr algn="just"/>
                <a:endParaRPr lang="en-US" altLang="zh-TW" dirty="0"/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9D5C42-8BCC-E659-98E9-4F146C739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485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D6E7C-1E32-446D-21AD-A77FAFBF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D742408-A3F0-1D6D-8E45-ACF6470B4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490F54B-0D8E-609C-B22E-50A30E7B317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zh-TW" dirty="0"/>
                  <a:t>每個 batch 進來，SURGEON 先做一次輕量探測（抽小 subset + 高剪枝率）算出每層剪枝率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TW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TW" altLang="zh-TW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TW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TW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zh-TW" altLang="zh-TW" dirty="0"/>
                  <a:t>。正式 forward 時，每層算完就把 A_i 剪枝，拆成「非零值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dirty="0"/>
                  <a:t> + 1-bit 索引 idx_i」壓縮存進 cache。算完 Loss 後 backward 從後往前，每層從 cache 拿出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dirty="0"/>
                  <a:t>,</a:t>
                </a:r>
                <a14:m>
                  <m:oMath xmlns:m="http://schemas.openxmlformats.org/officeDocument/2006/math">
                    <m:r>
                      <a:rPr lang="zh-TW" altLang="zh-TW" i="1" dirty="0" smtClean="0">
                        <a:effectLst/>
                        <a:latin typeface="Cambria Math" panose="02040503050406030204" pitchFamily="18" charset="0"/>
                      </a:rPr>
                      <m:t>𝑖𝑑</m:t>
                    </m:r>
                    <m:sSub>
                      <m:sSubPr>
                        <m:ctrlPr>
                          <a:rPr lang="zh-TW" altLang="zh-TW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zh-TW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/>
                  <a:t>) 臨時 Reshape 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dirty="0"/>
                  <a:t>，用它算 ΔW_i（權重更新量），算完馬上釋放。最後用所有 ΔW_i 更新權重。下一個 batch 重複，剪枝率重新算。</a:t>
                </a:r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dirty="0"/>
                  <a:t>探測階段的目的是「算出每層該剪多少」。它需要梯度，所以要做一次 forward-backward。為了讓這個額外計算不爆記憶體，用兩招壓低成本：只抽小部分圖片 + 全部用 90% 高剪枝率。算出的梯度雖然不精確，但「哪層大哪層小」的排序夠準，足以決定剪枝率。探測完不更新 W，只帶走剪枝率 p_i^t，給正式適應用。每個 batch 都重新探測，因為資料和模型都在變。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dirty="0"/>
                  <a:t>決定剪枝率的，是「各層 I_i 的相對大小」 不是「I_i 的絕對數值」</a:t>
                </a:r>
                <a:endParaRPr lang="en-US" altLang="zh-TW" dirty="0"/>
              </a:p>
              <a:p>
                <a:r>
                  <a:rPr lang="zh-TW" altLang="zh-TW" dirty="0"/>
                  <a:t>兩個效果都是「對所有層一樣地」壓縮 → 各層之間的相對大小關係，大致維持不變 → Eq.(5) 的比值，大致不受影響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dirty="0"/>
                  <a:t>探測階段的目的是</a:t>
                </a:r>
                <a:r>
                  <a:rPr lang="zh-TW" altLang="zh-TW" b="1" dirty="0"/>
                  <a:t>算 G_i</a:t>
                </a:r>
                <a:r>
                  <a:rPr lang="zh-TW" altLang="zh-TW" dirty="0"/>
                  <a:t>（每層梯度大小）。它不需要精確的梯度值，只需要知道</a:t>
                </a:r>
                <a:r>
                  <a:rPr lang="zh-TW" altLang="zh-TW" b="1" dirty="0"/>
                  <a:t>哪層的梯度比較大、哪層比較小</a:t>
                </a:r>
                <a:r>
                  <a:rPr lang="zh-TW" altLang="zh-TW" dirty="0"/>
                  <a:t>（相對排序）。</a:t>
                </a:r>
                <a:endParaRPr lang="en-US" altLang="zh-TW" dirty="0"/>
              </a:p>
              <a:p>
                <a:r>
                  <a:rPr lang="zh-TW" altLang="zh-TW" dirty="0"/>
                  <a:t>因為我們不需要精確的梯度值，只需要知道</a:t>
                </a:r>
                <a:r>
                  <a:rPr lang="zh-TW" altLang="zh-TW" b="1" dirty="0"/>
                  <a:t>哪層梯度比較大、哪層比較小</a:t>
                </a:r>
                <a:r>
                  <a:rPr lang="zh-TW" altLang="zh-TW" dirty="0"/>
                  <a:t>（相對排序）。10 張圖算出來的排序跟 200 張的通常差不多。</a:t>
                </a:r>
                <a:endParaRPr lang="en-US" altLang="zh-TW" dirty="0"/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dirty="0"/>
                  <a:t>你的質疑是對的——探測階段用小樣本和固定 90% 剪枝率，算出來的 G_i 確實不精確。但不是「完全不準」：(1) 探測還是做了真正的 forward-backward，得到的是真實梯度的近似值；(2) Eq.(5) 用「I_i 除以 max(I)」的設計，消除了「所有層同時整體縮放」的誤差；(3) 每個 batch 都重新算，偶爾一次的偏差不會造成長期影響。論文用小樣本和固定剪枝率，不是因為「這樣更準」，而是因為「如果用完整 batch 做探測，探測過程本身就會記憶體溢出」——這是一個「為了讓探測本身不爆記憶體」的妥協設計</a:t>
                </a:r>
                <a:endParaRPr lang="en-US" altLang="zh-TW" dirty="0"/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首先是預處理階段 (Pre-processing)。</a:t>
                </a:r>
                <a:endParaRPr lang="zh-TW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在正式適應前，系統必須先算出 $G_i$ 和 $M_i$ 來評估每一層的重要性。為了避免計算這些指標時就發生記憶體溢出 (Memory overflow)，系統採用了資料抽樣，並強制套用 90% 的靜態修剪率，用極低的記憶體成本完成重要性的評估。</a:t>
                </a:r>
              </a:p>
              <a:p>
                <a:r>
                  <a:rPr lang="zh-TW" altLang="zh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接著是前向傳播階段 (Forward Pass)。</a:t>
                </a:r>
                <a:endParaRPr lang="zh-TW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系統根據剛剛算出的指標進行動態修剪，產生稀疏矩陣 $\dot{A}_i$。為了極致節省 VRAM，系統將其拆解，只儲存兩個小零件：一個是僅含非零數值的一維向量 $\hat{A}_i$，另一個是僅佔用 1-bit 的座標索引 $idx_i$。</a:t>
                </a:r>
              </a:p>
              <a:p>
                <a:r>
                  <a:rPr lang="zh-TW" altLang="zh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最後是反向傳播階段 (Backward Pass)。</a:t>
                </a:r>
                <a:endParaRPr lang="zh-TW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當需要計算梯度時，系統從 Cache 中取出剛剛存下的 $\hat{A}_i$ 與 $idx_i$，透過 Reshape 操作，將它們精準還原回原本稀疏矩陣 $\dot{A}_i$ 的結構。這樣就能在不佔用大量記憶體的前提下，正確計算出權重梯度並更新模型。</a:t>
                </a:r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dirty="0"/>
                  <a:t>Algorithm 1 描述了 SURGEON 對每個 batch 的完整適應流程:Line 2 額外跑一次輕量探測 forward-backward 算出該 batch 每層的剪枝率;Line 3-8 正式 forward,每層算完輸出後,把輸入 A_i 剪枝並拆成「非零值+1-bit索引」壓縮存進 cache;Line 9 算 Loss;Line 10-13 backward 從後往前,每層從 cache 還原稀疏 Ȧ_i,用它算 ΔW_i(近似)和 ΔA_i(精確);Line 14 用所有 ΔW_i 更新權重,完成一步適應;Line 15 進入下一個 batch,Line 2 重新算剪枝率(因為資料和模型都變了),實現真正的動態適應。</a:t>
                </a:r>
                <a:endParaRPr lang="zh-TW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備忘稿版面配置區 2">
                <a:extLst>
                  <a:ext uri="{FF2B5EF4-FFF2-40B4-BE49-F238E27FC236}">
                    <a16:creationId xmlns:a16="http://schemas.microsoft.com/office/drawing/2014/main" id="{E490F54B-0D8E-609C-B22E-50A30E7B317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TW" altLang="zh-TW" dirty="0"/>
                  <a:t>每個 batch 進來，SURGEON 先做一次輕量探測（抽小 subset + 高剪枝率）算出每層剪枝率 p_i^t。正式 forward 時，每層算完就把 A_i 剪枝，拆成「非零值 </a:t>
                </a:r>
                <a:r>
                  <a:rPr lang="en-US" altLang="zh-TW" i="0">
                    <a:latin typeface="Cambria Math" panose="02040503050406030204" pitchFamily="18" charset="0"/>
                  </a:rPr>
                  <a:t>𝐴 ̂_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𝑖  </a:t>
                </a:r>
                <a:r>
                  <a:rPr lang="zh-TW" altLang="zh-TW" dirty="0"/>
                  <a:t> + 1-bit 索引 idx_i」壓縮存進 cache。算完 Loss 後 backward 從後往前，每層從 cache 拿出 (</a:t>
                </a:r>
                <a:r>
                  <a:rPr lang="en-US" altLang="zh-TW" i="0">
                    <a:latin typeface="Cambria Math" panose="02040503050406030204" pitchFamily="18" charset="0"/>
                  </a:rPr>
                  <a:t>𝐴 ̂_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𝑖  </a:t>
                </a:r>
                <a:r>
                  <a:rPr lang="zh-TW" altLang="zh-TW" dirty="0"/>
                  <a:t>,</a:t>
                </a:r>
                <a:r>
                  <a:rPr lang="zh-TW" altLang="zh-TW" i="0" dirty="0">
                    <a:effectLst/>
                    <a:latin typeface="Cambria Math" panose="02040503050406030204" pitchFamily="18" charset="0"/>
                  </a:rPr>
                  <a:t>𝑖𝑑𝑥_𝑖</a:t>
                </a:r>
                <a:r>
                  <a:rPr lang="zh-TW" altLang="zh-TW" dirty="0"/>
                  <a:t>) 臨時 Reshape 成 </a:t>
                </a:r>
                <a:r>
                  <a:rPr lang="en-US" altLang="zh-TW" i="0">
                    <a:latin typeface="Cambria Math" panose="02040503050406030204" pitchFamily="18" charset="0"/>
                  </a:rPr>
                  <a:t>𝐴 ̂_</a:t>
                </a:r>
                <a:r>
                  <a:rPr lang="en-US" altLang="zh-TW" b="0" i="0">
                    <a:latin typeface="Cambria Math" panose="02040503050406030204" pitchFamily="18" charset="0"/>
                  </a:rPr>
                  <a:t>𝑖  </a:t>
                </a:r>
                <a:r>
                  <a:rPr lang="zh-TW" altLang="zh-TW" dirty="0"/>
                  <a:t>，用它算 ΔW_i（權重更新量），算完馬上釋放。最後用所有 ΔW_i 更新權重。下一個 batch 重複，剪枝率重新算。</a:t>
                </a:r>
                <a:endParaRPr lang="en-US" altLang="zh-TW" dirty="0"/>
              </a:p>
              <a:p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dirty="0"/>
                  <a:t>探測階段的目的是「算出每層該剪多少」。它需要梯度，所以要做一次 forward-backward。為了讓這個額外計算不爆記憶體，用兩招壓低成本：只抽小部分圖片 + 全部用 90% 高剪枝率。算出的梯度雖然不精確，但「哪層大哪層小」的排序夠準，足以決定剪枝率。探測完不更新 W，只帶走剪枝率 p_i^t，給正式適應用。每個 batch 都重新探測，因為資料和模型都在變。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zh-TW" dirty="0"/>
                  <a:t>Cache = 把資料存到記憶體(VRAM)裡，等之後要用時再拿出來。</a:t>
                </a:r>
                <a:endParaRPr lang="en-US" altLang="zh-TW" dirty="0"/>
              </a:p>
              <a:p>
                <a:r>
                  <a:rPr lang="zh-TW" altLang="zh-TW" dirty="0"/>
                  <a:t>探測階段的目的是</a:t>
                </a:r>
                <a:r>
                  <a:rPr lang="zh-TW" altLang="zh-TW" b="1" dirty="0"/>
                  <a:t>算 G_i</a:t>
                </a:r>
                <a:r>
                  <a:rPr lang="zh-TW" altLang="zh-TW" dirty="0"/>
                  <a:t>（每層梯度大小）。它不需要精確的梯度值，只需要知道</a:t>
                </a:r>
                <a:r>
                  <a:rPr lang="zh-TW" altLang="zh-TW" b="1" dirty="0"/>
                  <a:t>哪層的梯度比較大、哪層比較小</a:t>
                </a:r>
                <a:r>
                  <a:rPr lang="zh-TW" altLang="zh-TW" dirty="0"/>
                  <a:t>（相對排序）。</a:t>
                </a:r>
                <a:endParaRPr lang="en-US" altLang="zh-TW" dirty="0"/>
              </a:p>
              <a:p>
                <a:r>
                  <a:rPr lang="zh-TW" altLang="zh-TW" dirty="0"/>
                  <a:t>因為我們不需要精確的梯度值，只需要知道</a:t>
                </a:r>
                <a:r>
                  <a:rPr lang="zh-TW" altLang="zh-TW" b="1" dirty="0"/>
                  <a:t>哪層梯度比較大、哪層比較小</a:t>
                </a:r>
                <a:r>
                  <a:rPr lang="zh-TW" altLang="zh-TW" dirty="0"/>
                  <a:t>（相對排序）。10 張圖算出來的排序跟 200 張的通常差不多。</a:t>
                </a:r>
                <a:endParaRPr lang="en-US" altLang="zh-TW" dirty="0"/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首先是預處理階段 (Pre-processing)。</a:t>
                </a:r>
                <a:endParaRPr lang="zh-TW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在正式適應前，系統必須先算出 $G_i$ 和 $M_i$ 來評估每一層的重要性。為了避免計算這些指標時就發生記憶體溢出 (Memory overflow)，系統採用了資料抽樣，並強制套用 90% 的靜態修剪率，用極低的記憶體成本完成重要性的評估。</a:t>
                </a:r>
              </a:p>
              <a:p>
                <a:r>
                  <a:rPr lang="zh-TW" altLang="zh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接著是前向傳播階段 (Forward Pass)。</a:t>
                </a:r>
                <a:endParaRPr lang="zh-TW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系統根據剛剛算出的指標進行動態修剪，產生稀疏矩陣 $\dot{A}_i$。為了極致節省 VRAM，系統將其拆解，只儲存兩個小零件：一個是僅含非零數值的一維向量 $\hat{A}_i$，另一個是僅佔用 1-bit 的座標索引 $idx_i$。</a:t>
                </a:r>
              </a:p>
              <a:p>
                <a:r>
                  <a:rPr lang="zh-TW" altLang="zh-TW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最後是反向傳播階段 (Backward Pass)。</a:t>
                </a:r>
                <a:endParaRPr lang="zh-TW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當需要計算梯度時，系統從 Cache 中取出剛剛存下的 $\hat{A}_i$ 與 $idx_i$，透過 Reshape 操作，將它們精準還原回原本稀疏矩陣 $\dot{A}_i$ 的結構。這樣就能在不佔用大量記憶體的前提下，正確計算出權重梯度並更新模型。</a:t>
                </a:r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TW" altLang="zh-TW" dirty="0"/>
                  <a:t>Algorithm 1 描述了 SURGEON 對每個 batch 的完整適應流程:Line 2 額外跑一次輕量探測 forward-backward 算出該 batch 每層的剪枝率;Line 3-8 正式 forward,每層算完輸出後,把輸入 A_i 剪枝並拆成「非零值+1-bit索引」壓縮存進 cache;Line 9 算 Loss;Line 10-13 backward 從後往前,每層從 cache 還原稀疏 Ȧ_i,用它算 ΔW_i(近似)和 ΔA_i(精確);Line 14 用所有 ΔW_i 更新權重,完成一步適應;Line 15 進入下一個 batch,Line 2 重新算剪枝率(因為資料和模型都變了),實現真正的動態適應。</a:t>
                </a:r>
                <a:endParaRPr lang="zh-TW" altLang="zh-TW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altLang="zh-TW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43358B-6A73-8961-FE23-AE004E781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3533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16758-E98F-6061-7398-48940CCC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A17418E-65B6-E5B2-9EFF-F5EC97B42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5CE42A-797F-AB7B-032F-03F89859C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b="1" dirty="0"/>
              <a:t>✗ (符合嚴格 FTTA 設定)：</a:t>
            </a:r>
            <a:r>
              <a:rPr lang="en-TW" dirty="0"/>
              <a:t> 它能在不修改上游預訓練流程、不更動預訓練模型架構、且不依賴源領域數據 (Source-free) 的前提下，直接對部署後的模型進行線上更新。</a:t>
            </a:r>
          </a:p>
          <a:p>
            <a:endParaRPr lang="en-TW" dirty="0"/>
          </a:p>
          <a:p>
            <a:r>
              <a:rPr lang="en-TW" dirty="0"/>
              <a:t>✓ 這類方法強依賴於修改模型的預訓練流程</a:t>
            </a:r>
          </a:p>
          <a:p>
            <a:endParaRPr lang="en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TW" dirty="0"/>
              <a:t>Source 當原始模型遭遇未知的惡劣環境（目標領域，Target Domain，例如起大霧、雜訊影像）時，系統「不做任何權重更新、不進行任何自適應（TTA）」，直接硬著頭皮進行預測。</a:t>
            </a:r>
          </a:p>
          <a:p>
            <a:endParaRPr lang="en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TW" dirty="0"/>
              <a:t>CoTTA 為代表的傳統 TTA SOTA 方法，雖然能將錯誤率壓低，但反向傳播的記憶體開銷高</a:t>
            </a:r>
            <a:endParaRPr lang="en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TW" dirty="0"/>
              <a:t>EcoTTA 雖具備不錯的效能，但其在『Original』欄位標註為勾選，意味著該方法具備侵入性，強依賴於修改上游預訓練階段的架構或流程，不符合嚴格的 FTTA 落地條件。</a:t>
            </a:r>
            <a:endParaRPr lang="en-TW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TW" dirty="0"/>
              <a:t>MECTA 的輕量化方法，雖將記憶體縮減至 348 MB，卻伴隨著錯誤率的顯著退化（達 19.5%）。</a:t>
            </a:r>
            <a:endParaRPr lang="en-US" dirty="0"/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dirty="0"/>
              <a:t>Certainty-based Sample Selection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zh-TW" altLang="zh-TW" dirty="0"/>
              <a:t>只要預測的熵值</a:t>
            </a:r>
            <a:r>
              <a:rPr lang="en-US" altLang="zh-TW" dirty="0"/>
              <a:t>entropy</a:t>
            </a:r>
            <a:r>
              <a:rPr lang="zh-TW" altLang="zh-TW" dirty="0"/>
              <a:t>過高（信心不足），就直接拒絕學習（Skip backpropagation）</a:t>
            </a:r>
            <a:endParaRPr lang="en-US" altLang="zh-TW" dirty="0"/>
          </a:p>
          <a:p>
            <a:r>
              <a:rPr lang="zh-TW" altLang="zh-TW" dirty="0"/>
              <a:t>Consistency Regularization</a:t>
            </a:r>
            <a:r>
              <a:rPr lang="en-US" altLang="zh-TW" dirty="0"/>
              <a:t>:</a:t>
            </a:r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一個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forward+backward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時，所有層快取的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平均記憶體用量。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不是累積的（不是跑完整個測試集的總和）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 batch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的快照，再對所有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取平均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因為每個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TW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clip_ratio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會隨梯度重新計算，所以每個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 </a:t>
            </a:r>
            <a:r>
              <a:rPr lang="en-US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 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大小可能略有不同，取平均才公平比較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A8493C9-5468-F4E1-2FE9-01FEB4852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5609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E861-20F0-F7FE-46A9-ED21E8BE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CC13F9-E71A-03FF-0E5B-20974A231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3DADF4-09CE-7888-A3BE-F8E099145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分</a:t>
            </a:r>
            <a:r>
              <a:rPr lang="zh-TW" altLang="zh-TW" dirty="0"/>
              <a:t>割任務(segmentation)跟分類任務(classification)不一樣——分類任務一張圖只要輸出「一個」答案(貓或狗),分割任務要對「每一個像素」都輸出一個答案(這個像素是路、車、人、天空...</a:t>
            </a:r>
            <a:endParaRPr lang="en-US" altLang="zh-TW" dirty="0"/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dirty="0"/>
              <a:t>從 1 延伸到了 10，並且讓模型在『霧、夜、雨、雪』四種惡劣天氣中</a:t>
            </a:r>
            <a:r>
              <a:rPr lang="zh-TW" altLang="zh-TW" b="1" dirty="0"/>
              <a:t>不斷輪迴切換</a:t>
            </a:r>
            <a:r>
              <a:rPr lang="zh-TW" altLang="zh-TW" dirty="0"/>
              <a:t>。這個設計是為了殘酷地考驗模型：在長時間、跨域循環的極端環境下，是否能有效抵抗『災難性遺忘』。</a:t>
            </a:r>
            <a:endParaRPr lang="en-US" altLang="zh-TW" dirty="0"/>
          </a:p>
          <a:p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zh-TW" dirty="0"/>
              <a:t>其方法並不侷限於傳統 CNN。在表格下半部，作者將 SURGEON 套用在基於注意力機制的 Segformer 模型上。 結果顯示，SURGEON 僅需耗費 </a:t>
            </a:r>
            <a:r>
              <a:rPr lang="zh-TW" altLang="zh-TW" b="1" dirty="0"/>
              <a:t>380 MB</a:t>
            </a:r>
            <a:r>
              <a:rPr lang="zh-TW" altLang="zh-TW" dirty="0"/>
              <a:t> 的記憶體（與完全不更新的 Source 模型一模一樣），就能將錯誤率從 43.3% 降低至 42.2%。反觀 MECTA 在此架構下甚至發生了嚴重的效能退化（錯誤率升至 47.2%）。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248873-9DA3-11BB-573F-0265E7D24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6444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D6888-7576-EA37-F153-21F9FC344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AC3491-945E-9670-76EC-CB7A65654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DDF16E-F70B-EC30-5074-DEC1CF681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  <a:p>
            <a:r>
              <a:rPr lang="en-TW" dirty="0"/>
              <a:t>圖上「SURGEON的剪枝率」這個標籤，指的是「一個全域固定的剪枝率，這個固定比例所產生的cache size，恰好跟SURGEON實際產生的cache size一樣」——換句話說，它是一個事後算出來的「等效換算值」，用來讓SURGEON（dynamic）能跟Static Activation Sparsity（用固定比例）畫在同一張圖上比較，而不是說SURGEON內部真的對每一層都用了這個固定的剪枝率。</a:t>
            </a:r>
          </a:p>
          <a:p>
            <a:endParaRPr lang="en-US" altLang="zh-TW" dirty="0"/>
          </a:p>
          <a:p>
            <a:pPr marL="228600" indent="-228600">
              <a:buAutoNum type="alphaLcParenBoth"/>
            </a:pPr>
            <a:r>
              <a:rPr lang="zh-TW" altLang="zh-TW" dirty="0"/>
              <a:t>WideResNet-28：分類任務，紅星比藍線最低點還低 </a:t>
            </a:r>
            <a:endParaRPr lang="en-US" altLang="zh-TW" dirty="0"/>
          </a:p>
          <a:p>
            <a:pPr marL="228600" indent="-228600">
              <a:buAutoNum type="alphaLcParenBoth"/>
            </a:pPr>
            <a:r>
              <a:rPr lang="zh-TW" altLang="zh-TW" dirty="0"/>
              <a:t>(b) ResNeXt-29：分類任務，紅星比藍線最低點還低 </a:t>
            </a:r>
            <a:endParaRPr lang="en-US" altLang="zh-TW" dirty="0"/>
          </a:p>
          <a:p>
            <a:pPr marL="228600" indent="-228600">
              <a:buAutoNum type="alphaLcParenBoth"/>
            </a:pPr>
            <a:r>
              <a:rPr lang="zh-TW" altLang="zh-TW" dirty="0"/>
              <a:t>(c) DeeplabV3+：分割任務，紅星比藍線最低點低很多（差距最大）</a:t>
            </a:r>
            <a:endParaRPr lang="en-US" altLang="zh-TW" dirty="0"/>
          </a:p>
          <a:p>
            <a:pPr marL="228600" indent="-228600">
              <a:buAutoNum type="alphaLcParenBoth"/>
            </a:pP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紅星的橫軸位置不是SURGEON真正用的剪枝率，而是「事後換算」出來的——找出哪個固定剪枝率會產生跟SURGEON一樣的記憶體用量</a:t>
            </a:r>
            <a:endParaRPr lang="en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1AC962-AD69-459B-EBF6-02CBEC1C5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6280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FCE85-CCCF-55E0-B99E-91CAC0B9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C0FD012-86C2-7565-2006-73E9D4A26C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5AE96C-776F-8B5B-A4BD-77A7B92CF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CoTTA 準確率最好但所有資源消耗都最差；BN-stat 資源消耗最低但準確率最差；SURGEON 準確率接近 CoTTA（差距僅0.3%）、記憶體接近 MECTA，代價是計算量和延遲偏高（因為探測階段和 Reshape 還原的額外開銷）；SURGEON(BN) 記憶體全表最低，準確率幾乎不變，速度也大幅改善，是整體最平衡的方案。這張表驗證了 TTA 領域準確率、記憶體、速度三者難以同時兼顧的核心困境，SURGEON 把這個 trade-off 推進到了更實用的位置。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GFLOPs : </a:t>
            </a:r>
            <a:r>
              <a:rPr lang="zh-TW" altLang="zh-TW" dirty="0"/>
              <a:t>完成一次 TTA 適應（一個 batch）需要做多少次數學運算</a:t>
            </a:r>
            <a:r>
              <a:rPr lang="zh-TW" altLang="en-US" dirty="0"/>
              <a:t>，</a:t>
            </a:r>
            <a:r>
              <a:rPr lang="zh-TW" altLang="zh-TW" dirty="0"/>
              <a:t>十億次浮點運算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5C2A9B-A463-6A18-C335-C24A278EB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293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C9C8E-8CA7-443A-832F-F0F3F7A96022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6325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5799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74038-1076-4A1E-8E31-2BBAC68E9E1B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5DC7B609-95E6-97E1-41B8-B9A7D1CC4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9" y="90768"/>
            <a:ext cx="1135390" cy="9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2E541D3-00C6-2003-B805-933A89193576}"/>
              </a:ext>
            </a:extLst>
          </p:cNvPr>
          <p:cNvSpPr/>
          <p:nvPr/>
        </p:nvSpPr>
        <p:spPr>
          <a:xfrm>
            <a:off x="2250753" y="3020728"/>
            <a:ext cx="1513263" cy="1474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FC8222-60FE-101C-4DA7-1FC8D6BB9A2A}"/>
              </a:ext>
            </a:extLst>
          </p:cNvPr>
          <p:cNvSpPr/>
          <p:nvPr/>
        </p:nvSpPr>
        <p:spPr>
          <a:xfrm>
            <a:off x="2267377" y="3125334"/>
            <a:ext cx="7483650" cy="886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B081DB5B-CF4B-0736-46C1-B843CE2F54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3429000"/>
            <a:ext cx="9144000" cy="333375"/>
          </a:xfrm>
        </p:spPr>
        <p:txBody>
          <a:bodyPr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Resource</a:t>
            </a:r>
          </a:p>
        </p:txBody>
      </p:sp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2DE982FB-EE64-4B78-EAD9-724C3D4222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4105275"/>
            <a:ext cx="9144000" cy="4762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>
              <a:buNone/>
              <a:defRPr/>
            </a:lvl2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Authors</a:t>
            </a:r>
          </a:p>
        </p:txBody>
      </p:sp>
    </p:spTree>
    <p:extLst>
      <p:ext uri="{BB962C8B-B14F-4D97-AF65-F5344CB8AC3E}">
        <p14:creationId xmlns:p14="http://schemas.microsoft.com/office/powerpoint/2010/main" val="92273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88624"/>
            <a:ext cx="9601200" cy="856211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6164E-F4D1-4EFD-868B-3A45C0CA8A0C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62755" y="6492875"/>
            <a:ext cx="539213" cy="365125"/>
          </a:xfrm>
        </p:spPr>
        <p:txBody>
          <a:bodyPr/>
          <a:lstStyle>
            <a:lvl1pPr>
              <a:defRPr sz="2000" b="1" i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91C7D7B7-44F8-4991-81DE-88616561D6D2}"/>
              </a:ext>
            </a:extLst>
          </p:cNvPr>
          <p:cNvSpPr txBox="1">
            <a:spLocks/>
          </p:cNvSpPr>
          <p:nvPr/>
        </p:nvSpPr>
        <p:spPr>
          <a:xfrm>
            <a:off x="2488352" y="184298"/>
            <a:ext cx="6582550" cy="581966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4000" dirty="0">
              <a:solidFill>
                <a:schemeClr val="tx1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9D7B77-591D-495A-ACB2-A95A59C2AEA1}"/>
              </a:ext>
            </a:extLst>
          </p:cNvPr>
          <p:cNvSpPr/>
          <p:nvPr/>
        </p:nvSpPr>
        <p:spPr>
          <a:xfrm>
            <a:off x="2411297" y="1180538"/>
            <a:ext cx="7047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zh-TW" altLang="en-US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7350BA-98A2-D52C-ECB3-83C1B118B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9" y="90768"/>
            <a:ext cx="1135390" cy="9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C5FEF00-0B61-6D7A-A9B1-0B92AD28E1C7}"/>
              </a:ext>
            </a:extLst>
          </p:cNvPr>
          <p:cNvSpPr/>
          <p:nvPr/>
        </p:nvSpPr>
        <p:spPr>
          <a:xfrm>
            <a:off x="838200" y="959251"/>
            <a:ext cx="96012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D0FEA35-461C-A55C-8BDD-6E88714DBF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defRPr sz="2000">
                <a:latin typeface="+mn-lt"/>
              </a:defRPr>
            </a:lvl1pPr>
            <a:lvl2pPr marL="571500" indent="-228600">
              <a:defRPr sz="2000">
                <a:latin typeface="+mn-lt"/>
              </a:defRPr>
            </a:lvl2pPr>
            <a:lvl3pPr marL="914400" indent="-228600">
              <a:defRPr sz="2000">
                <a:latin typeface="+mn-lt"/>
              </a:defRPr>
            </a:lvl3pPr>
            <a:lvl4pPr marL="1257300" indent="-228600">
              <a:defRPr sz="2000">
                <a:latin typeface="+mn-lt"/>
              </a:defRPr>
            </a:lvl4pPr>
            <a:lvl5pPr marL="1600200" indent="-228600">
              <a:defRPr sz="2000">
                <a:latin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F5279E3-3B94-4F32-99E9-1F3FD8046D7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6356353"/>
            <a:ext cx="11533517" cy="501648"/>
          </a:xfrm>
        </p:spPr>
        <p:txBody>
          <a:bodyPr anchor="b">
            <a:noAutofit/>
          </a:bodyPr>
          <a:lstStyle>
            <a:lvl1pPr marL="0" indent="0">
              <a:spcBef>
                <a:spcPts val="200"/>
              </a:spcBef>
              <a:buNone/>
              <a:defRPr sz="1000"/>
            </a:lvl1pPr>
          </a:lstStyle>
          <a:p>
            <a:pPr lvl="0"/>
            <a:r>
              <a:rPr lang="en-US" altLang="zh-TW" dirty="0"/>
              <a:t>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40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>
            <a:extLst>
              <a:ext uri="{FF2B5EF4-FFF2-40B4-BE49-F238E27FC236}">
                <a16:creationId xmlns:a16="http://schemas.microsoft.com/office/drawing/2014/main" id="{BB7350BA-98A2-D52C-ECB3-83C1B118B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9" y="90768"/>
            <a:ext cx="1135390" cy="9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3160296" y="2823785"/>
            <a:ext cx="63515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4800" b="1" dirty="0">
                <a:latin typeface="Times New Roman" charset="0"/>
                <a:ea typeface="Times New Roman" charset="0"/>
                <a:cs typeface="Times New Roman" charset="0"/>
              </a:rPr>
              <a:t>Thank you for listening</a:t>
            </a:r>
            <a:endParaRPr kumimoji="1" lang="zh-TW" altLang="en-US" sz="4800" b="1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09032" y="3654782"/>
            <a:ext cx="748365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2387558" y="3715249"/>
            <a:ext cx="1513263" cy="9063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9755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547AD-64FF-47B8-A96D-63D79DCED579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694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D9E29-26ED-4589-8ED1-8CA0CA665BC5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906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F30B6-1E80-477A-BAF0-4AC3039100C8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25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A627F-07AA-4B63-A518-0E765A54DFE8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768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BBC4D-75F3-4AA0-A5B7-0E89C5073DFB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21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56B89-50A7-4791-8B31-A3CA86FB73B6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188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CAF2D-0C01-4352-81FC-2EA94307F2AF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299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FF2C5-AF5F-4179-8261-9B74E1A757DD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739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8E80-40FA-4E56-B1EB-B362DAB82C24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851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88624"/>
            <a:ext cx="9601200" cy="856211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AA63B-833C-4A35-8393-67EFD8FA6E3E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1662755" y="6492875"/>
            <a:ext cx="539213" cy="365125"/>
          </a:xfrm>
        </p:spPr>
        <p:txBody>
          <a:bodyPr/>
          <a:lstStyle>
            <a:lvl1pPr>
              <a:defRPr sz="2000" b="1" i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91C7D7B7-44F8-4991-81DE-88616561D6D2}"/>
              </a:ext>
            </a:extLst>
          </p:cNvPr>
          <p:cNvSpPr txBox="1">
            <a:spLocks/>
          </p:cNvSpPr>
          <p:nvPr/>
        </p:nvSpPr>
        <p:spPr>
          <a:xfrm>
            <a:off x="2488352" y="184298"/>
            <a:ext cx="6582550" cy="581966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endParaRPr kumimoji="1" lang="zh-TW" altLang="en-US" sz="4000" dirty="0">
              <a:solidFill>
                <a:schemeClr val="tx1"/>
              </a:solidFill>
              <a:latin typeface="Times" charset="0"/>
              <a:ea typeface="Times" charset="0"/>
              <a:cs typeface="Times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9D7B77-591D-495A-ACB2-A95A59C2AEA1}"/>
              </a:ext>
            </a:extLst>
          </p:cNvPr>
          <p:cNvSpPr/>
          <p:nvPr/>
        </p:nvSpPr>
        <p:spPr>
          <a:xfrm>
            <a:off x="2411297" y="1180538"/>
            <a:ext cx="70474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zh-TW" altLang="en-US" sz="20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B7350BA-98A2-D52C-ECB3-83C1B118B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9649" y="90768"/>
            <a:ext cx="1135390" cy="935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C5FEF00-0B61-6D7A-A9B1-0B92AD28E1C7}"/>
              </a:ext>
            </a:extLst>
          </p:cNvPr>
          <p:cNvSpPr/>
          <p:nvPr/>
        </p:nvSpPr>
        <p:spPr>
          <a:xfrm>
            <a:off x="838200" y="959251"/>
            <a:ext cx="96012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FD0FEA35-461C-A55C-8BDD-6E88714DBF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defRPr sz="2000">
                <a:latin typeface="+mn-lt"/>
              </a:defRPr>
            </a:lvl1pPr>
            <a:lvl2pPr marL="571500" indent="-228600">
              <a:defRPr sz="2000">
                <a:latin typeface="+mn-lt"/>
              </a:defRPr>
            </a:lvl2pPr>
            <a:lvl3pPr marL="914400" indent="-228600">
              <a:defRPr sz="2000">
                <a:latin typeface="+mn-lt"/>
              </a:defRPr>
            </a:lvl3pPr>
            <a:lvl4pPr marL="1257300" indent="-228600">
              <a:defRPr sz="2000">
                <a:latin typeface="+mn-lt"/>
              </a:defRPr>
            </a:lvl4pPr>
            <a:lvl5pPr marL="1600200" indent="-228600">
              <a:defRPr sz="2000">
                <a:latin typeface="+mn-lt"/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F5279E3-3B94-4F32-99E9-1F3FD8046D7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0" y="6356353"/>
            <a:ext cx="11533517" cy="501648"/>
          </a:xfrm>
        </p:spPr>
        <p:txBody>
          <a:bodyPr anchor="b">
            <a:noAutofit/>
          </a:bodyPr>
          <a:lstStyle>
            <a:lvl1pPr marL="0" indent="0">
              <a:spcBef>
                <a:spcPts val="200"/>
              </a:spcBef>
              <a:buNone/>
              <a:defRPr sz="1000"/>
            </a:lvl1pPr>
          </a:lstStyle>
          <a:p>
            <a:pPr lvl="0"/>
            <a:r>
              <a:rPr lang="en-US" altLang="zh-TW" dirty="0"/>
              <a:t>Reference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640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8A2F8-4F65-43A2-B6F9-53DC0863478F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23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Ø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B5854-4637-4174-A8C3-E4DAAE0BD63C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7B41F-AD73-4999-8C34-7D0FF5EF3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232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just" defTabSz="685800" rtl="0" eaLnBrk="1" latinLnBrk="0" hangingPunct="1">
        <a:lnSpc>
          <a:spcPct val="90000"/>
        </a:lnSpc>
        <a:spcBef>
          <a:spcPts val="1200"/>
        </a:spcBef>
        <a:buFont typeface="Wingdings" panose="05000000000000000000" pitchFamily="2" charset="2"/>
        <a:buChar char="Ø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just" defTabSz="6858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just" defTabSz="685800" rtl="0" eaLnBrk="1" latinLnBrk="0" hangingPunct="1">
        <a:lnSpc>
          <a:spcPct val="90000"/>
        </a:lnSpc>
        <a:spcBef>
          <a:spcPts val="1200"/>
        </a:spcBef>
        <a:buFont typeface="Times New Roman" panose="02020603050405020304" pitchFamily="18" charset="0"/>
        <a:buChar char="‣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544932-6CD0-0CC1-C039-F3B92CA62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197363"/>
            <a:ext cx="12192001" cy="1757997"/>
          </a:xfrm>
        </p:spPr>
        <p:txBody>
          <a:bodyPr>
            <a:normAutofit/>
          </a:bodyPr>
          <a:lstStyle/>
          <a:p>
            <a:r>
              <a:rPr lang="en-TW" sz="3600" dirty="0"/>
              <a:t>SURGEON: Memory-Adaptive Fully Test-Time Adaptation via Dynamic Activation Sparsity</a:t>
            </a:r>
            <a:endParaRPr lang="zh-TW" altLang="en-US" sz="36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557B6C-599C-2E3B-959F-75B8B0174D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Conference on Computer Vision and Pattern Recognition (CVPR) 2025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6FB65E7-55E3-6436-9C6E-5824ACD6EDF9}"/>
              </a:ext>
            </a:extLst>
          </p:cNvPr>
          <p:cNvSpPr txBox="1"/>
          <p:nvPr/>
        </p:nvSpPr>
        <p:spPr>
          <a:xfrm>
            <a:off x="3929847" y="5294877"/>
            <a:ext cx="4332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Date : 2026/6/24</a:t>
            </a:r>
            <a:br>
              <a:rPr lang="en-US" altLang="zh-TW" dirty="0"/>
            </a:br>
            <a:r>
              <a:rPr lang="en-US" altLang="zh-TW" dirty="0"/>
              <a:t>Presenter : Yi-Cheng Wang (</a:t>
            </a:r>
            <a:r>
              <a:rPr lang="zh-TW" altLang="en-US" dirty="0"/>
              <a:t>王翊丞</a:t>
            </a:r>
            <a:r>
              <a:rPr lang="en-US" altLang="zh-TW" dirty="0"/>
              <a:t>)</a:t>
            </a:r>
            <a:br>
              <a:rPr lang="zh-TW" altLang="en-US" dirty="0"/>
            </a:br>
            <a:r>
              <a:rPr lang="en-US" altLang="zh-TW" dirty="0"/>
              <a:t>Advisor : Prof. Jim-Wei Wu (</a:t>
            </a:r>
            <a:r>
              <a:rPr lang="zh-TW" altLang="en-US" dirty="0"/>
              <a:t>吳俊緯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537CF9-DC5F-385E-0D72-3D0ADFB8CA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8" y="3929503"/>
            <a:ext cx="9144000" cy="1198246"/>
          </a:xfrm>
        </p:spPr>
        <p:txBody>
          <a:bodyPr>
            <a:noAutofit/>
          </a:bodyPr>
          <a:lstStyle/>
          <a:p>
            <a:r>
              <a:rPr lang="en-TW" sz="1600" dirty="0"/>
              <a:t>Ke Ma¹ ², Jiaqi Tang³, Bin Guo¹*, Fan Dang⁴, Sicong Liu¹, Zhui Zhu², Lei Wu¹, Cheng Fang¹, Ying-Cong Chen³, Zhiwen Yu¹ ⁵, Yunhao Liu²*</a:t>
            </a:r>
          </a:p>
          <a:p>
            <a:r>
              <a:rPr lang="en-TW" sz="1600" dirty="0"/>
              <a:t>¹ Northwestern Polytechnical University ² Tsinghua University ³ The Hong Kong University of Science and Technology (HKUST) ⁴ Beijing Jiaotong University ⁵ Harbin Engineering University</a:t>
            </a:r>
          </a:p>
        </p:txBody>
      </p:sp>
    </p:spTree>
    <p:extLst>
      <p:ext uri="{BB962C8B-B14F-4D97-AF65-F5344CB8AC3E}">
        <p14:creationId xmlns:p14="http://schemas.microsoft.com/office/powerpoint/2010/main" val="1606719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E98E-E934-A9E9-CD36-2995B58D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12EF9A-1A5C-0E07-6645-3F93E210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CA9303F-14E1-D096-A96D-FE1634793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2417CF0-9CFB-33CD-8173-DB24AA75FD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874956" cy="4905375"/>
          </a:xfrm>
        </p:spPr>
        <p:txBody>
          <a:bodyPr>
            <a:normAutofit/>
          </a:bodyPr>
          <a:lstStyle/>
          <a:p>
            <a:r>
              <a:rPr lang="zh-TW" altLang="zh-TW" dirty="0"/>
              <a:t>Fully Test-Time Adaptation (FTTA) enables pre-trained models to adapt to online domain shifts without accessing source data or modifying original training procedures. However, deploying FTTA on resource-constrained edge devices is severely limited by a critical memory bottleneck.</a:t>
            </a:r>
            <a:endParaRPr lang="en-US" altLang="zh-TW" dirty="0"/>
          </a:p>
          <a:p>
            <a:r>
              <a:rPr lang="zh-TW" altLang="zh-TW" dirty="0"/>
              <a:t>To address this, this research introduces </a:t>
            </a:r>
            <a:r>
              <a:rPr lang="zh-TW" altLang="zh-TW" b="1" dirty="0"/>
              <a:t>SURGEON</a:t>
            </a:r>
            <a:r>
              <a:rPr lang="zh-TW" altLang="zh-TW" dirty="0"/>
              <a:t>, a memory-efficient framework that </a:t>
            </a:r>
            <a:r>
              <a:rPr lang="en-TW" altLang="zh-TW" b="1" dirty="0"/>
              <a:t>Dynamic Activation Sparsity</a:t>
            </a:r>
            <a:r>
              <a:rPr lang="zh-TW" altLang="en-US" b="1" dirty="0"/>
              <a:t> </a:t>
            </a:r>
            <a:r>
              <a:rPr lang="en-US" altLang="zh-TW" b="1" dirty="0"/>
              <a:t>(DAS)</a:t>
            </a:r>
            <a:r>
              <a:rPr lang="zh-TW" altLang="zh-TW" dirty="0"/>
              <a:t> during the forward pass before they are cached. </a:t>
            </a:r>
            <a:endParaRPr lang="en-US" altLang="zh-TW" dirty="0"/>
          </a:p>
          <a:p>
            <a:r>
              <a:rPr lang="zh-TW" altLang="zh-TW" dirty="0"/>
              <a:t>Specifically, it prunes activations in shallow, memory-heavy layers to </a:t>
            </a:r>
            <a:r>
              <a:rPr lang="zh-TW" altLang="zh-TW" b="1" dirty="0"/>
              <a:t>prevent out-of-memory errors</a:t>
            </a:r>
            <a:r>
              <a:rPr lang="zh-TW" altLang="zh-TW" dirty="0"/>
              <a:t>, SURGEON </a:t>
            </a:r>
            <a:r>
              <a:rPr lang="zh-TW" altLang="zh-TW" b="1" dirty="0"/>
              <a:t>reduces the overall memory </a:t>
            </a:r>
            <a:r>
              <a:rPr lang="zh-TW" altLang="zh-TW" dirty="0"/>
              <a:t>and achieves an optimal trade-off between hardware efficiency and continuous adaptation accuracy.</a:t>
            </a:r>
            <a:endParaRPr lang="en-US" altLang="zh-TW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D0A3C2FF-0048-FCCA-829D-FA6938B031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110344"/>
            <a:ext cx="11908715" cy="747657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018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217E78-1B4D-B13F-0CDA-F0605896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C4D2C8-66B4-35AC-377C-9163FA00092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D4B8AD-DEF5-D910-E576-AE5441EC9B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Methodology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Experiments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Conclusion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C4540614-6391-EE10-8D00-1536E869F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320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5CD1B-54E2-1A00-7AC0-6B83ED818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8BCA72-E0AB-8D4E-27C4-B461EE28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I. Introduction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6DA342F-453A-835C-5B62-E71D349C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351EBB-1893-98AB-2CD2-9741BCD047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298575"/>
            <a:ext cx="10033001" cy="4905375"/>
          </a:xfrm>
        </p:spPr>
        <p:txBody>
          <a:bodyPr>
            <a:normAutofit/>
          </a:bodyPr>
          <a:lstStyle/>
          <a:p>
            <a:r>
              <a:rPr lang="en-TW" sz="1800" dirty="0"/>
              <a:t>In recent years, with the progression of </a:t>
            </a:r>
            <a:r>
              <a:rPr lang="en-US" altLang="zh-TW" sz="1800" dirty="0"/>
              <a:t>A</a:t>
            </a:r>
            <a:r>
              <a:rPr lang="en-TW" sz="1800" dirty="0"/>
              <a:t>rtificial </a:t>
            </a:r>
            <a:r>
              <a:rPr lang="en-US" altLang="zh-TW" sz="1800" dirty="0"/>
              <a:t>I</a:t>
            </a:r>
            <a:r>
              <a:rPr lang="en-TW" sz="1800" dirty="0"/>
              <a:t>ntelligence</a:t>
            </a:r>
            <a:r>
              <a:rPr lang="en-US" sz="1800" dirty="0"/>
              <a:t> (AI)</a:t>
            </a:r>
            <a:r>
              <a:rPr lang="en-TW" sz="1800" dirty="0"/>
              <a:t> and Internet of Things (IoT) technologies, the integration of deep models into edge devices has become increasingly prevalent [26, 45].</a:t>
            </a:r>
          </a:p>
          <a:p>
            <a:r>
              <a:rPr lang="en-US" sz="1800" dirty="0"/>
              <a:t>D</a:t>
            </a:r>
            <a:r>
              <a:rPr lang="en-TW" sz="1800" dirty="0"/>
              <a:t>ue to various types of interference and </a:t>
            </a:r>
            <a:r>
              <a:rPr lang="en-TW" sz="1800" b="1" dirty="0"/>
              <a:t>distribution shifts </a:t>
            </a:r>
            <a:r>
              <a:rPr lang="en-TW" sz="1800" dirty="0"/>
              <a:t>[33] in deployment environments, such as changing weather conditions [34] and varying sensor parameters [18], </a:t>
            </a:r>
            <a:r>
              <a:rPr lang="en-TW" sz="1800" b="1" dirty="0"/>
              <a:t>the accuracy of deep models can significantly decline</a:t>
            </a:r>
            <a:r>
              <a:rPr lang="en-TW" sz="1800" dirty="0"/>
              <a:t> during inference.</a:t>
            </a:r>
          </a:p>
          <a:p>
            <a:r>
              <a:rPr lang="en-TW" sz="1800" dirty="0"/>
              <a:t>To address the aforementioned issue, </a:t>
            </a:r>
            <a:r>
              <a:rPr lang="en-US" altLang="zh-TW" sz="1800" b="1" dirty="0"/>
              <a:t>T</a:t>
            </a:r>
            <a:r>
              <a:rPr lang="en-TW" sz="1800" b="1" dirty="0"/>
              <a:t>est-</a:t>
            </a:r>
            <a:r>
              <a:rPr lang="en-US" altLang="zh-TW" sz="1800" b="1" dirty="0"/>
              <a:t>T</a:t>
            </a:r>
            <a:r>
              <a:rPr lang="en-TW" sz="1800" b="1" dirty="0"/>
              <a:t>ime </a:t>
            </a:r>
            <a:r>
              <a:rPr lang="en-US" altLang="zh-TW" sz="1800" b="1" dirty="0"/>
              <a:t>A</a:t>
            </a:r>
            <a:r>
              <a:rPr lang="en-TW" sz="1800" b="1" dirty="0"/>
              <a:t>daptation </a:t>
            </a:r>
            <a:r>
              <a:rPr lang="en-TW" sz="1800" dirty="0"/>
              <a:t>(TTA) [23, 39, 40] has emerged as an effective strategy to improve the performance of deep models by </a:t>
            </a:r>
            <a:r>
              <a:rPr lang="en-TW" sz="1800" b="1" dirty="0"/>
              <a:t>adapting them to unlabeled target data online</a:t>
            </a:r>
            <a:r>
              <a:rPr lang="en-TW" sz="1800" dirty="0"/>
              <a:t>. </a:t>
            </a:r>
            <a:endParaRPr lang="en-US" altLang="zh-TW" sz="1800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83F40D82-FC63-77B4-01B5-E62D40C6480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110344"/>
            <a:ext cx="11908715" cy="747657"/>
          </a:xfrm>
        </p:spPr>
        <p:txBody>
          <a:bodyPr/>
          <a:lstStyle/>
          <a:p>
            <a:r>
              <a:rPr lang="en-US" altLang="zh-TW" dirty="0"/>
              <a:t>[18] </a:t>
            </a:r>
            <a:r>
              <a:rPr lang="zh-TW" altLang="zh-TW" dirty="0"/>
              <a:t>Muhammed Kocabas, Chun-Hao P Huang, Joachim Tesch, Lea Muller, Otmar Hilliges, and Michael J Black. Spec: ¨ Seeing people in the wild with an estimated camera. In Proceedings of the IEEE/CVF International Conference on Computer Vision, pages 11035–11045, 2021.</a:t>
            </a:r>
            <a:endParaRPr lang="en-US" altLang="zh-TW" dirty="0"/>
          </a:p>
          <a:p>
            <a:r>
              <a:rPr lang="en-US" altLang="zh-TW" dirty="0"/>
              <a:t>[23] </a:t>
            </a:r>
            <a:r>
              <a:rPr lang="zh-TW" altLang="zh-TW" dirty="0"/>
              <a:t>Jian Liang, Ran He, and Tieniu Tan. A comprehensive survey on test-time adaptation under distribution shifts. International Journal of Computer Vision, pages 1–34, 2024.</a:t>
            </a:r>
            <a:endParaRPr lang="en-US" altLang="zh-TW" dirty="0"/>
          </a:p>
          <a:p>
            <a:r>
              <a:rPr lang="en-US" altLang="zh-TW" dirty="0"/>
              <a:t>[26] </a:t>
            </a:r>
            <a:r>
              <a:rPr lang="zh-TW" altLang="zh-TW" dirty="0"/>
              <a:t>Sicong Liu, Bin Guo, Ke Ma, Zhiwen Yu, and Junzhao Du. Adaspring: Context-adaptive and runtime-evolutionary deep model compression for mobile applications. Proceedings of the ACM on Interactive, Mobile, Wearable and Ubiquitous Technologies, 5(1):1–22, 2021.</a:t>
            </a:r>
            <a:endParaRPr lang="en-US" altLang="zh-TW" dirty="0"/>
          </a:p>
          <a:p>
            <a:r>
              <a:rPr lang="zh-TW" altLang="zh-TW" dirty="0"/>
              <a:t>[33] Sinno Jialin Pan and Qiang Yang. A survey on transfer learning. IEEE Transactions on knowledge and data engineering, 22(10):1345–1359, 2009.</a:t>
            </a:r>
            <a:endParaRPr lang="en-US" altLang="zh-TW" dirty="0"/>
          </a:p>
          <a:p>
            <a:r>
              <a:rPr lang="zh-TW" altLang="zh-TW" dirty="0"/>
              <a:t>[34] Christos Sakaridis, Dengxin Dai, and Luc Van Gool. Acdc: The adverse conditions dataset with correspondences for semantic driving scene understanding. In Proceedings of the IEEE/CVF International Conference on Computer Vision, pages 10765–10775, 2021.</a:t>
            </a:r>
            <a:endParaRPr lang="en-US" altLang="zh-TW" dirty="0"/>
          </a:p>
          <a:p>
            <a:r>
              <a:rPr lang="zh-TW" altLang="zh-TW" dirty="0"/>
              <a:t>[39] Dequan Wang, Evan Shelhamer, Shaoteng Liu, Bruno Olshausen, and Trevor Darrell. Tent: Fully test-time adaptation by entropy minimization. In 2021 International Conference on Learning Representations, 2021.</a:t>
            </a:r>
            <a:endParaRPr lang="en-US" altLang="zh-TW" dirty="0"/>
          </a:p>
          <a:p>
            <a:r>
              <a:rPr lang="zh-TW" altLang="zh-TW" dirty="0"/>
              <a:t>[45] Zheng Yang, Xu Wang, Jiahang Wu, Yi Zhao, Qiang Ma, Xin Miao, Li Zhang, and Zimu Zhou. Edgeduet: Tiling small object detection for edge assisted autonomous mobile vision. IEEE/ACM Transactions on Networking, 2022.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4638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163A3-7A5E-2D8A-B787-1C2BD014A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885B7B-C458-4484-6D07-243C7F21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I. Introduction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908BD34-179C-930D-494E-7C4D7950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DB56CC-C5AD-45FC-8451-5320139569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298575"/>
            <a:ext cx="9930205" cy="4905375"/>
          </a:xfrm>
        </p:spPr>
        <p:txBody>
          <a:bodyPr>
            <a:normAutofit/>
          </a:bodyPr>
          <a:lstStyle/>
          <a:p>
            <a:r>
              <a:rPr lang="zh-TW" altLang="zh-TW" sz="1800" dirty="0"/>
              <a:t>In many practical deployment scenarios, accessing or modifying the original training procedure is strictly prohibited due to </a:t>
            </a:r>
            <a:r>
              <a:rPr lang="zh-TW" altLang="zh-TW" sz="1800" b="1" dirty="0"/>
              <a:t>privacy regulations </a:t>
            </a:r>
            <a:r>
              <a:rPr lang="zh-TW" altLang="zh-TW" sz="1800" dirty="0"/>
              <a:t>and </a:t>
            </a:r>
            <a:r>
              <a:rPr lang="zh-TW" altLang="zh-TW" sz="1800" b="1" dirty="0"/>
              <a:t>storage limitations</a:t>
            </a:r>
            <a:r>
              <a:rPr lang="zh-TW" altLang="zh-TW" sz="1800" dirty="0"/>
              <a:t>. </a:t>
            </a:r>
            <a:endParaRPr lang="en-US" altLang="zh-TW" sz="1800" dirty="0"/>
          </a:p>
          <a:p>
            <a:r>
              <a:rPr lang="zh-TW" altLang="zh-TW" sz="1800" dirty="0"/>
              <a:t>To overcome this, </a:t>
            </a:r>
            <a:r>
              <a:rPr lang="en-US" altLang="zh-TW" sz="1800" b="1" dirty="0"/>
              <a:t>F</a:t>
            </a:r>
            <a:r>
              <a:rPr lang="zh-TW" altLang="zh-TW" sz="1800" b="1" dirty="0"/>
              <a:t>ully </a:t>
            </a:r>
            <a:r>
              <a:rPr lang="en-US" altLang="zh-TW" sz="1800" b="1" dirty="0"/>
              <a:t>T</a:t>
            </a:r>
            <a:r>
              <a:rPr lang="zh-TW" altLang="zh-TW" sz="1800" b="1" dirty="0"/>
              <a:t>est-</a:t>
            </a:r>
            <a:r>
              <a:rPr lang="en-US" altLang="zh-TW" sz="1800" b="1" dirty="0"/>
              <a:t>T</a:t>
            </a:r>
            <a:r>
              <a:rPr lang="zh-TW" altLang="zh-TW" sz="1800" b="1" dirty="0"/>
              <a:t>ime </a:t>
            </a:r>
            <a:r>
              <a:rPr lang="en-US" altLang="zh-TW" sz="1800" b="1" dirty="0"/>
              <a:t>A</a:t>
            </a:r>
            <a:r>
              <a:rPr lang="zh-TW" altLang="zh-TW" sz="1800" b="1" dirty="0"/>
              <a:t>daptation </a:t>
            </a:r>
            <a:r>
              <a:rPr lang="zh-TW" altLang="zh-TW" sz="1800" dirty="0"/>
              <a:t>(FTTA) [31, 49] has been proposed, enabling deep models to adapt online without relying on the source training pipeline. </a:t>
            </a:r>
            <a:endParaRPr lang="en-US" altLang="zh-TW" sz="1800" dirty="0"/>
          </a:p>
          <a:p>
            <a:r>
              <a:rPr lang="zh-TW" altLang="zh-TW" sz="1800" b="1" dirty="0"/>
              <a:t>Nevertheless, deploying FTTA on resource-constrained devices is severely hindered by high memory consumption.</a:t>
            </a:r>
            <a:r>
              <a:rPr lang="zh-TW" altLang="zh-TW" sz="1800" dirty="0"/>
              <a:t> This overhead primarily arises from the need to cache intermediate activations for gradient computation and weight updates during backpropagation.</a:t>
            </a:r>
            <a:endParaRPr lang="en-TW" dirty="0"/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AFDAE9BE-F9F9-BDAF-5EFC-68007D76C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110344"/>
            <a:ext cx="11908715" cy="747657"/>
          </a:xfrm>
        </p:spPr>
        <p:txBody>
          <a:bodyPr/>
          <a:lstStyle/>
          <a:p>
            <a:r>
              <a:rPr lang="zh-TW" altLang="zh-TW" dirty="0"/>
              <a:t>[31] Shuaicheng Niu, Jiaxiang Wu, Yifan Zhang, Zhiquan Wen, Yaofo Chen, Peilin Zhao, and Mingkui Tan. Towards stable test-time adaptation in dynamic wild world. In 2023 International Conference on Learning Representations, 2023.</a:t>
            </a:r>
            <a:endParaRPr lang="en-US" altLang="zh-TW" dirty="0"/>
          </a:p>
          <a:p>
            <a:r>
              <a:rPr lang="zh-TW" altLang="zh-TW" dirty="0"/>
              <a:t>[49] Bowen Zhao, Chen Chen, and Shu-Tao Xia. Delta: degradation-free fully test-time adaptation. In 2023 International Conference on Learning Representations, 2023.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517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F4722-7F87-038C-F120-83DFCF2F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008450-3A46-5A5F-02F1-2776373C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I. Introduction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05BACC4-6691-D4E6-1D5D-03163A64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D2C62D5-4770-CD9D-8CA8-D7EF26A0662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969500" cy="4905375"/>
          </a:xfrm>
        </p:spPr>
        <p:txBody>
          <a:bodyPr>
            <a:normAutofit/>
          </a:bodyPr>
          <a:lstStyle/>
          <a:p>
            <a:r>
              <a:rPr lang="en-US" altLang="zh-TW" b="1" dirty="0"/>
              <a:t>The contributions of this work are as follows:</a:t>
            </a:r>
          </a:p>
          <a:p>
            <a:pPr lvl="1"/>
            <a:r>
              <a:rPr lang="en-TW" sz="1800" dirty="0"/>
              <a:t>This paper propose </a:t>
            </a:r>
            <a:r>
              <a:rPr lang="en-TW" sz="1800" b="1" dirty="0"/>
              <a:t>SURGEON</a:t>
            </a:r>
            <a:r>
              <a:rPr lang="en-TW" sz="1800" dirty="0"/>
              <a:t> for </a:t>
            </a:r>
            <a:r>
              <a:rPr lang="en-TW" sz="1800" b="1" dirty="0"/>
              <a:t>memory-adaptive fully test</a:t>
            </a:r>
            <a:r>
              <a:rPr lang="en-US" sz="1800" b="1" dirty="0"/>
              <a:t> </a:t>
            </a:r>
            <a:r>
              <a:rPr lang="en-TW" sz="1800" b="1" dirty="0"/>
              <a:t>time adaptation</a:t>
            </a:r>
            <a:r>
              <a:rPr lang="en-TW" sz="1800" dirty="0"/>
              <a:t>, which optimizes memory cost at each layer while maintaining comparable accuracy.</a:t>
            </a:r>
          </a:p>
          <a:p>
            <a:pPr lvl="1"/>
            <a:r>
              <a:rPr lang="en-TW" sz="1800" dirty="0"/>
              <a:t>Also the Authors propose a novel memory-efficient strategy, </a:t>
            </a:r>
            <a:r>
              <a:rPr lang="en-US" altLang="zh-TW" sz="1800" b="1" dirty="0"/>
              <a:t>D</a:t>
            </a:r>
            <a:r>
              <a:rPr lang="en-TW" sz="1800" b="1" dirty="0"/>
              <a:t>ynamic </a:t>
            </a:r>
            <a:r>
              <a:rPr lang="en-US" altLang="zh-TW" sz="1800" b="1" dirty="0"/>
              <a:t>A</a:t>
            </a:r>
            <a:r>
              <a:rPr lang="en-TW" sz="1800" b="1" dirty="0"/>
              <a:t>ctivation </a:t>
            </a:r>
            <a:r>
              <a:rPr lang="en-US" altLang="zh-TW" sz="1800" b="1" dirty="0"/>
              <a:t>S</a:t>
            </a:r>
            <a:r>
              <a:rPr lang="en-TW" sz="1800" b="1" dirty="0"/>
              <a:t>parsity</a:t>
            </a:r>
            <a:r>
              <a:rPr lang="en-US" altLang="zh-TW" sz="1800" b="1" dirty="0"/>
              <a:t>(DAS)</a:t>
            </a:r>
            <a:r>
              <a:rPr lang="en-TW" sz="1800" dirty="0"/>
              <a:t>, which utilizes layer importance metrics that consider </a:t>
            </a:r>
            <a:r>
              <a:rPr lang="en-TW" sz="1800" b="1" dirty="0"/>
              <a:t>accuracy contribution </a:t>
            </a:r>
            <a:r>
              <a:rPr lang="en-TW" sz="1800" dirty="0"/>
              <a:t>and </a:t>
            </a:r>
            <a:r>
              <a:rPr lang="en-TW" sz="1800" b="1" dirty="0"/>
              <a:t>memory consumption</a:t>
            </a:r>
            <a:r>
              <a:rPr lang="en-TW" sz="1800" dirty="0"/>
              <a:t>. </a:t>
            </a:r>
          </a:p>
          <a:p>
            <a:pPr lvl="1"/>
            <a:r>
              <a:rPr lang="en-US" sz="1800" dirty="0"/>
              <a:t>This paper’s</a:t>
            </a:r>
            <a:r>
              <a:rPr lang="en-TW" sz="1800" dirty="0"/>
              <a:t> method achieves SOTA performance in both accuracy and memory cost across a combination of different datasets, network architectures, and tasks.</a:t>
            </a:r>
            <a:endParaRPr lang="en-US" altLang="zh-TW" sz="1800" b="1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C4058F9C-0BD9-D59F-9D61-62598FF1CAC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110344"/>
            <a:ext cx="11908715" cy="747657"/>
          </a:xfr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338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C5FF-18FC-0A91-484E-2BA8BA7C2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1559B-A32C-7E68-43F5-E7743511D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D8E30D-1B24-2189-5382-8B65964C763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C331DB8-8770-23B4-9677-E39D4C0AD6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b="1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Methodology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Experiments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Conclusion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1D41C8E4-0186-8C26-F965-8BB3BCA9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659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C9AC-844D-D88D-04BB-E35683E4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B31CE-1FF7-E790-2A49-C75B3358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II. Related Work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7383CD7-0A19-D33F-7CF0-9F0ECE31B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8F3AAB9-C7FF-ED3B-AA70-79A9C03CEE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298575"/>
            <a:ext cx="9915145" cy="4905375"/>
          </a:xfrm>
        </p:spPr>
        <p:txBody>
          <a:bodyPr>
            <a:normAutofit/>
          </a:bodyPr>
          <a:lstStyle/>
          <a:p>
            <a:r>
              <a:rPr lang="en-TW" b="1" dirty="0"/>
              <a:t>Memory-Efficient Fully Test-Time Adaptation</a:t>
            </a:r>
            <a:r>
              <a:rPr lang="en-TW" sz="2200" b="1" dirty="0"/>
              <a:t>	</a:t>
            </a:r>
            <a:endParaRPr lang="en-US" sz="2200" b="1" dirty="0"/>
          </a:p>
          <a:p>
            <a:pPr marL="0" indent="0">
              <a:buNone/>
            </a:pPr>
            <a:r>
              <a:rPr lang="en-TW" altLang="zh-TW" sz="1800" dirty="0"/>
              <a:t>Memory-Efficient Fully Test-Time Adaptation (FTTA) aims to adapt pre-trained models to unlabeled target data online to </a:t>
            </a:r>
            <a:r>
              <a:rPr lang="en-TW" altLang="zh-TW" sz="1800" b="1" dirty="0"/>
              <a:t>mitigate d</a:t>
            </a:r>
            <a:r>
              <a:rPr lang="en-US" altLang="zh-TW" sz="1800" b="1" dirty="0" err="1"/>
              <a:t>istribution</a:t>
            </a:r>
            <a:r>
              <a:rPr lang="en-TW" altLang="zh-TW" sz="1800" b="1" dirty="0"/>
              <a:t> shifts without modifying original training procedures</a:t>
            </a:r>
            <a:r>
              <a:rPr lang="en-TW" altLang="zh-TW" sz="1800" dirty="0"/>
              <a:t>, but faces a </a:t>
            </a:r>
            <a:r>
              <a:rPr lang="en-TW" altLang="zh-TW" sz="1800" b="1" dirty="0"/>
              <a:t>critical memory bottleneck</a:t>
            </a:r>
            <a:r>
              <a:rPr lang="en-TW" altLang="zh-TW" sz="1800" dirty="0"/>
              <a:t> on resource-constrained devices due to the massive caching of activations required for backward propagation.</a:t>
            </a:r>
            <a:endParaRPr lang="en-US" sz="2200" b="1" dirty="0"/>
          </a:p>
          <a:p>
            <a:r>
              <a:rPr lang="en-TW" altLang="zh-TW" b="1" dirty="0"/>
              <a:t>Memory-Efficient Strategies for Backpropagation </a:t>
            </a:r>
            <a:r>
              <a:rPr lang="en-TW" sz="2200" b="1" dirty="0"/>
              <a:t>			       </a:t>
            </a:r>
            <a:endParaRPr lang="en-US" sz="2200" b="1" dirty="0"/>
          </a:p>
          <a:p>
            <a:pPr marL="0" indent="0">
              <a:buNone/>
            </a:pPr>
            <a:r>
              <a:rPr lang="zh-TW" altLang="zh-TW" sz="1800" dirty="0"/>
              <a:t>During on-device Test-Time Adaptation (TTA), strict memory constraints remain a primary bottleneck. Existing works [2, 17, 41] identify that the substantial </a:t>
            </a:r>
            <a:r>
              <a:rPr lang="zh-TW" altLang="zh-TW" sz="1800" b="1" dirty="0"/>
              <a:t>memory cost </a:t>
            </a:r>
            <a:r>
              <a:rPr lang="zh-TW" altLang="zh-TW" sz="1800" dirty="0"/>
              <a:t>during adaptation predominantly stems </a:t>
            </a:r>
            <a:r>
              <a:rPr lang="zh-TW" altLang="zh-TW" sz="1800" b="1" dirty="0"/>
              <a:t>not from model parameters</a:t>
            </a:r>
            <a:r>
              <a:rPr lang="zh-TW" altLang="zh-TW" sz="1800" dirty="0"/>
              <a:t>, but from caching intermediate </a:t>
            </a:r>
            <a:r>
              <a:rPr lang="zh-TW" altLang="zh-TW" sz="1800" b="1" dirty="0"/>
              <a:t>activations required for gradient computation and weight updates during backpropagation</a:t>
            </a:r>
            <a:r>
              <a:rPr lang="zh-TW" altLang="zh-TW" sz="1800" dirty="0"/>
              <a:t>. Therefore, the fundamental key to achieving memory efficiency lies in reducing the footprint of these cached activations.</a:t>
            </a:r>
            <a:endParaRPr lang="en-US" altLang="zh-TW" sz="1800" dirty="0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A261F56B-2A75-1D38-DA9C-31341557186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3"/>
            <a:ext cx="11908715" cy="501648"/>
          </a:xfrm>
        </p:spPr>
        <p:txBody>
          <a:bodyPr/>
          <a:lstStyle/>
          <a:p>
            <a:r>
              <a:rPr lang="zh-TW" altLang="zh-TW" dirty="0"/>
              <a:t>[2] Han Cai, Chuang Gan, Ligeng Zhu, and Song Han. Tinytl: Reduce memory, not parameters for efficient on-device learning. Advances in Neural Information Processing Systems, 33:11285–11297, 2020.</a:t>
            </a:r>
            <a:endParaRPr lang="en-US" altLang="zh-TW" dirty="0"/>
          </a:p>
          <a:p>
            <a:r>
              <a:rPr lang="zh-TW" altLang="zh-TW" dirty="0"/>
              <a:t>[17] Ziyu Jiang, Xuxi Chen, Xueqin Huang, Xianzhi Du, Denny Zhou, and Zhangyang Wang. Back razor: Memoryefficient transfer learning by self-sparsified backpropagation. Advances in Neural Information Processing Systems, 35: 29248–29261, 2022.</a:t>
            </a:r>
            <a:endParaRPr lang="en-US" altLang="zh-TW" dirty="0"/>
          </a:p>
          <a:p>
            <a:r>
              <a:rPr lang="zh-TW" altLang="zh-TW" dirty="0"/>
              <a:t>[41] Qipeng Wang, Mengwei Xu, Chao Jin, Xinran Dong, Jinliang Yuan, Xin Jin, Gang Huang, Yunxin Liu, and Xuanzhe Liu. Melon: Breaking the memory wall for resource-efficient on-device machine learning. In Proceedings of the 20th Annual International Conference on Mobile Systems, Applications and Services, pages 450–463, 2022.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1164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19CA-404C-01D8-F9FF-7469E51C9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E8B7D4-359D-A5DE-7778-8CC78273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56843B-875A-CBBB-2337-BC78FF27EEA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843231A-4CF1-6736-F758-4A1AE13C5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b="1" dirty="0"/>
              <a:t>Methodology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Experiments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Conclusion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FE06FACC-C916-0166-E030-11A1A508F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029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0B7FA-E185-7258-7B36-C4A21926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95C07F-7DC4-A863-CD8F-8A839437F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III. Methodology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C0342E4-6129-1E4B-970F-9C912F02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18B5F45B-5279-A0CF-9296-7DF5C9805CD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38200" y="1208264"/>
                <a:ext cx="9779598" cy="5057778"/>
              </a:xfrm>
            </p:spPr>
            <p:txBody>
              <a:bodyPr>
                <a:normAutofit/>
              </a:bodyPr>
              <a:lstStyle/>
              <a:p>
                <a:r>
                  <a:rPr lang="zh-TW" altLang="zh-TW" sz="2200" b="1" dirty="0"/>
                  <a:t>Preliminary</a:t>
                </a:r>
                <a:endParaRPr lang="en-US" altLang="zh-TW" sz="2200" b="1" dirty="0"/>
              </a:p>
              <a:p>
                <a:pPr marL="0" indent="0">
                  <a:buNone/>
                </a:pPr>
                <a:r>
                  <a:rPr lang="zh-TW" altLang="zh-TW" sz="1800" dirty="0"/>
                  <a:t>Generally, the adaptation procedure is implemented based on backward propagation after forward propagation on a test batch, as shown below,</a:t>
                </a:r>
                <a:endParaRPr lang="en-US" altLang="zh-TW" sz="1800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pPr marL="0" indent="0">
                  <a:buNone/>
                </a:pPr>
                <a:r>
                  <a:rPr lang="zh-TW" altLang="zh-TW" sz="1800" dirty="0"/>
                  <a:t>Eq.(</a:t>
                </a:r>
                <a:r>
                  <a:rPr lang="en-US" altLang="zh-TW" sz="1800" dirty="0"/>
                  <a:t>1</a:t>
                </a:r>
                <a:r>
                  <a:rPr lang="zh-TW" altLang="zh-TW" sz="1800" dirty="0"/>
                  <a:t>) illustrates the backward propagation of linear laye. </a:t>
                </a:r>
                <a:r>
                  <a:rPr lang="zh-TW" altLang="zh-TW" sz="1800" i="1" dirty="0"/>
                  <a:t>L</a:t>
                </a:r>
                <a:r>
                  <a:rPr lang="zh-TW" altLang="zh-TW" sz="1800" dirty="0"/>
                  <a:t> denotes the loss</a:t>
                </a:r>
                <a:r>
                  <a:rPr lang="en-US" altLang="zh-TW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sz="1800" dirty="0"/>
                  <a:t>represents the weights of the </a:t>
                </a:r>
                <a:r>
                  <a:rPr lang="zh-TW" altLang="zh-TW" sz="1800" i="1" dirty="0"/>
                  <a:t>i</a:t>
                </a:r>
                <a:r>
                  <a:rPr lang="zh-TW" altLang="zh-TW" sz="1800" dirty="0"/>
                  <a:t>-th layer,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zh-TW" altLang="en-US" sz="1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TW" altLang="en-US" sz="1800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TW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TW" alt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sz="1800" dirty="0"/>
                  <a:t>.</a:t>
                </a:r>
                <a:endParaRPr lang="zh-TW" altLang="en-US" sz="1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18B5F45B-5279-A0CF-9296-7DF5C9805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38200" y="1208264"/>
                <a:ext cx="9779598" cy="5057778"/>
              </a:xfrm>
              <a:blipFill>
                <a:blip r:embed="rId3"/>
                <a:stretch>
                  <a:fillRect l="-686" t="-843" r="-4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C9392CCC-90B4-4F0C-7940-B52AF0A3FF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3"/>
            <a:ext cx="11908715" cy="501648"/>
          </a:xfrm>
        </p:spPr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DEE161C6-1D15-07F1-8488-56676A4A9DA0}"/>
                  </a:ext>
                </a:extLst>
              </p:cNvPr>
              <p:cNvSpPr txBox="1"/>
              <p:nvPr/>
            </p:nvSpPr>
            <p:spPr>
              <a:xfrm>
                <a:off x="2739466" y="4558189"/>
                <a:ext cx="6146800" cy="665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DEE161C6-1D15-07F1-8488-56676A4A9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466" y="4558189"/>
                <a:ext cx="6146800" cy="665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BE791588-F79F-6B24-E11A-43DD62B8B014}"/>
                  </a:ext>
                </a:extLst>
              </p:cNvPr>
              <p:cNvSpPr txBox="1"/>
              <p:nvPr/>
            </p:nvSpPr>
            <p:spPr>
              <a:xfrm>
                <a:off x="2804758" y="3871505"/>
                <a:ext cx="6146800" cy="665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i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zh-TW" alt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BE791588-F79F-6B24-E11A-43DD62B8B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758" y="3871505"/>
                <a:ext cx="6146800" cy="6658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群組 71">
            <a:extLst>
              <a:ext uri="{FF2B5EF4-FFF2-40B4-BE49-F238E27FC236}">
                <a16:creationId xmlns:a16="http://schemas.microsoft.com/office/drawing/2014/main" id="{3E96B5BE-AE92-7A3D-F4E3-FD864D0CBF20}"/>
              </a:ext>
            </a:extLst>
          </p:cNvPr>
          <p:cNvGrpSpPr/>
          <p:nvPr/>
        </p:nvGrpSpPr>
        <p:grpSpPr>
          <a:xfrm>
            <a:off x="2919058" y="2564148"/>
            <a:ext cx="6485215" cy="1055150"/>
            <a:chOff x="3011349" y="3029057"/>
            <a:chExt cx="6485215" cy="1055150"/>
          </a:xfrm>
        </p:grpSpPr>
        <p:sp>
          <p:nvSpPr>
            <p:cNvPr id="5" name="流程圖: 接點 4">
              <a:extLst>
                <a:ext uri="{FF2B5EF4-FFF2-40B4-BE49-F238E27FC236}">
                  <a16:creationId xmlns:a16="http://schemas.microsoft.com/office/drawing/2014/main" id="{C360DE45-877E-19B6-7974-6E1F67CCB5D3}"/>
                </a:ext>
              </a:extLst>
            </p:cNvPr>
            <p:cNvSpPr/>
            <p:nvPr/>
          </p:nvSpPr>
          <p:spPr>
            <a:xfrm>
              <a:off x="7040734" y="3442666"/>
              <a:ext cx="564445" cy="553156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流程圖: 接點 8">
              <a:extLst>
                <a:ext uri="{FF2B5EF4-FFF2-40B4-BE49-F238E27FC236}">
                  <a16:creationId xmlns:a16="http://schemas.microsoft.com/office/drawing/2014/main" id="{5C6B7817-A15F-A88A-E33E-90753BF8DC76}"/>
                </a:ext>
              </a:extLst>
            </p:cNvPr>
            <p:cNvSpPr/>
            <p:nvPr/>
          </p:nvSpPr>
          <p:spPr>
            <a:xfrm>
              <a:off x="4981923" y="3442666"/>
              <a:ext cx="564445" cy="553156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6ABF5EFC-2F91-E7A6-274F-1A3F290CE546}"/>
                    </a:ext>
                  </a:extLst>
                </p:cNvPr>
                <p:cNvSpPr txBox="1"/>
                <p:nvPr/>
              </p:nvSpPr>
              <p:spPr>
                <a:xfrm>
                  <a:off x="5350929" y="3029057"/>
                  <a:ext cx="390877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6ABF5EFC-2F91-E7A6-274F-1A3F290CE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0929" y="3029057"/>
                  <a:ext cx="390877" cy="276999"/>
                </a:xfrm>
                <a:prstGeom prst="rect">
                  <a:avLst/>
                </a:prstGeom>
                <a:blipFill>
                  <a:blip r:embed="rId6"/>
                  <a:stretch>
                    <a:fillRect b="-177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67E0C109-E6A7-3DCD-EDE7-92F4E416A2D7}"/>
                    </a:ext>
                  </a:extLst>
                </p:cNvPr>
                <p:cNvSpPr txBox="1"/>
                <p:nvPr/>
              </p:nvSpPr>
              <p:spPr>
                <a:xfrm>
                  <a:off x="7447133" y="3029057"/>
                  <a:ext cx="56444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altLang="zh-TW" b="0" i="1" dirty="0"/>
                </a:p>
              </p:txBody>
            </p:sp>
          </mc:Choice>
          <mc:Fallback xmlns=""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67E0C109-E6A7-3DCD-EDE7-92F4E416A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7133" y="3029057"/>
                  <a:ext cx="564445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4348" b="-177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0CD5B3B8-3F76-6500-C7FE-58CCBA6E705B}"/>
                    </a:ext>
                  </a:extLst>
                </p:cNvPr>
                <p:cNvSpPr txBox="1"/>
                <p:nvPr/>
              </p:nvSpPr>
              <p:spPr>
                <a:xfrm>
                  <a:off x="5986389" y="3795986"/>
                  <a:ext cx="69334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0CD5B3B8-3F76-6500-C7FE-58CCBA6E70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6389" y="3795986"/>
                  <a:ext cx="693348" cy="276999"/>
                </a:xfrm>
                <a:prstGeom prst="rect">
                  <a:avLst/>
                </a:prstGeom>
                <a:blipFill>
                  <a:blip r:embed="rId8"/>
                  <a:stretch>
                    <a:fillRect b="-177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線單箭頭接點 48">
              <a:extLst>
                <a:ext uri="{FF2B5EF4-FFF2-40B4-BE49-F238E27FC236}">
                  <a16:creationId xmlns:a16="http://schemas.microsoft.com/office/drawing/2014/main" id="{A3FBF545-120A-BC9D-BE62-65F0A4984467}"/>
                </a:ext>
              </a:extLst>
            </p:cNvPr>
            <p:cNvCxnSpPr>
              <a:stCxn id="9" idx="6"/>
              <a:endCxn id="5" idx="2"/>
            </p:cNvCxnSpPr>
            <p:nvPr/>
          </p:nvCxnSpPr>
          <p:spPr>
            <a:xfrm>
              <a:off x="5546368" y="3719244"/>
              <a:ext cx="149436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B276947E-D2BA-4E38-1E47-71049C4E526F}"/>
                </a:ext>
              </a:extLst>
            </p:cNvPr>
            <p:cNvCxnSpPr>
              <a:cxnSpLocks/>
              <a:stCxn id="5" idx="6"/>
            </p:cNvCxnSpPr>
            <p:nvPr/>
          </p:nvCxnSpPr>
          <p:spPr>
            <a:xfrm>
              <a:off x="7605179" y="3719244"/>
              <a:ext cx="11175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B9309EAE-3DA1-F584-F05D-E065F433F3E4}"/>
                </a:ext>
              </a:extLst>
            </p:cNvPr>
            <p:cNvSpPr txBox="1"/>
            <p:nvPr/>
          </p:nvSpPr>
          <p:spPr>
            <a:xfrm>
              <a:off x="9105687" y="3580743"/>
              <a:ext cx="39087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TW" b="0" i="1" dirty="0"/>
                <a:t>L</a:t>
              </a:r>
            </a:p>
          </p:txBody>
        </p:sp>
        <p:sp>
          <p:nvSpPr>
            <p:cNvPr id="61" name="流程圖: 接點 60">
              <a:extLst>
                <a:ext uri="{FF2B5EF4-FFF2-40B4-BE49-F238E27FC236}">
                  <a16:creationId xmlns:a16="http://schemas.microsoft.com/office/drawing/2014/main" id="{24FDD25D-688D-7DD5-041A-97465AE177F0}"/>
                </a:ext>
              </a:extLst>
            </p:cNvPr>
            <p:cNvSpPr/>
            <p:nvPr/>
          </p:nvSpPr>
          <p:spPr>
            <a:xfrm>
              <a:off x="3011349" y="3442665"/>
              <a:ext cx="564445" cy="553156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2" name="直線單箭頭接點 61">
              <a:extLst>
                <a:ext uri="{FF2B5EF4-FFF2-40B4-BE49-F238E27FC236}">
                  <a16:creationId xmlns:a16="http://schemas.microsoft.com/office/drawing/2014/main" id="{AC94CF7B-77ED-00B3-985E-FA7B3901E7DC}"/>
                </a:ext>
              </a:extLst>
            </p:cNvPr>
            <p:cNvCxnSpPr>
              <a:cxnSpLocks/>
              <a:stCxn id="61" idx="6"/>
              <a:endCxn id="9" idx="2"/>
            </p:cNvCxnSpPr>
            <p:nvPr/>
          </p:nvCxnSpPr>
          <p:spPr>
            <a:xfrm>
              <a:off x="3575794" y="3719243"/>
              <a:ext cx="140612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B128C2B6-0606-5C59-2152-C130E6B430CA}"/>
                    </a:ext>
                  </a:extLst>
                </p:cNvPr>
                <p:cNvSpPr txBox="1"/>
                <p:nvPr/>
              </p:nvSpPr>
              <p:spPr>
                <a:xfrm>
                  <a:off x="4001536" y="3807208"/>
                  <a:ext cx="69334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altLang="zh-TW" b="0" i="1" dirty="0"/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B128C2B6-0606-5C59-2152-C130E6B430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1536" y="3807208"/>
                  <a:ext cx="693348" cy="276999"/>
                </a:xfrm>
                <a:prstGeom prst="rect">
                  <a:avLst/>
                </a:prstGeom>
                <a:blipFill>
                  <a:blip r:embed="rId9"/>
                  <a:stretch>
                    <a:fillRect b="-173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555B92DB-413B-6D63-73C0-5B514ABC0187}"/>
                    </a:ext>
                  </a:extLst>
                </p:cNvPr>
                <p:cNvSpPr txBox="1"/>
                <p:nvPr/>
              </p:nvSpPr>
              <p:spPr>
                <a:xfrm>
                  <a:off x="3633820" y="3033147"/>
                  <a:ext cx="56444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altLang="zh-TW" b="0" i="1" dirty="0"/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555B92DB-413B-6D63-73C0-5B514ABC01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3820" y="3033147"/>
                  <a:ext cx="564445" cy="276999"/>
                </a:xfrm>
                <a:prstGeom prst="rect">
                  <a:avLst/>
                </a:prstGeom>
                <a:blipFill>
                  <a:blip r:embed="rId10"/>
                  <a:stretch>
                    <a:fillRect b="-1777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B9DD750D-151C-9979-4926-8E23CA9AD29F}"/>
                  </a:ext>
                </a:extLst>
              </p:cNvPr>
              <p:cNvSpPr txBox="1"/>
              <p:nvPr/>
            </p:nvSpPr>
            <p:spPr>
              <a:xfrm>
                <a:off x="3086980" y="4373523"/>
                <a:ext cx="6146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B9DD750D-151C-9979-4926-8E23CA9AD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80" y="4373523"/>
                <a:ext cx="61468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332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2316E-AF1F-6E23-0DE1-27BB046C9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822654-42AB-38AC-82D6-222242B1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III. Methodology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DDEAFE4-7845-99AE-671F-EEACC6A5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B861B7F-1379-65BA-18AE-190D8A3E4C1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38200" y="1298575"/>
                <a:ext cx="9813966" cy="4905375"/>
              </a:xfrm>
            </p:spPr>
            <p:txBody>
              <a:bodyPr>
                <a:normAutofit/>
              </a:bodyPr>
              <a:lstStyle/>
              <a:p>
                <a:r>
                  <a:rPr lang="en-TW" sz="1800" b="1" dirty="0"/>
                  <a:t>SURGEON</a:t>
                </a:r>
                <a:r>
                  <a:rPr lang="en-TW" sz="1800" dirty="0"/>
                  <a:t> achieves </a:t>
                </a:r>
                <a:r>
                  <a:rPr lang="en-TW" sz="1800" b="1" dirty="0"/>
                  <a:t>memory-efficient FTTA </a:t>
                </a:r>
                <a:r>
                  <a:rPr lang="en-TW" sz="1800" dirty="0"/>
                  <a:t>by </a:t>
                </a:r>
                <a:r>
                  <a:rPr lang="en-TW" sz="1800" b="1" dirty="0"/>
                  <a:t>dynamically pruning activations</a:t>
                </a:r>
                <a:r>
                  <a:rPr lang="en-TW" sz="1800" dirty="0"/>
                  <a:t> at layer-specific ratios during forward propagation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800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TW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TW" sz="1800" i="1" dirty="0">
                        <a:latin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̇"/>
                        <m:ctrlPr>
                          <a:rPr lang="en-TW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TW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TW" sz="18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TW" sz="18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TW" sz="1800" dirty="0"/>
                  <a:t>) before caching. These cached sparse activations are then utilized in backward propagation to compute weight gradients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TW" sz="1800" i="0" dirty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80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TW" sz="1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sz="1800" dirty="0"/>
                  <a:t>), substantially reduces the memory cost while preserving model accuracy in dynamic FTTA scenarios.</a:t>
                </a:r>
              </a:p>
              <a:p>
                <a:endParaRPr lang="en-TW" sz="1800" b="1" dirty="0"/>
              </a:p>
              <a:p>
                <a:endParaRPr lang="en-TW" sz="1800" b="1" dirty="0"/>
              </a:p>
              <a:p>
                <a:endParaRPr lang="en-TW" sz="1800" b="1" dirty="0"/>
              </a:p>
              <a:p>
                <a:endParaRPr lang="en-TW" sz="1800" b="1" dirty="0"/>
              </a:p>
              <a:p>
                <a:endParaRPr lang="en-TW" sz="1800" b="1" dirty="0"/>
              </a:p>
              <a:p>
                <a:endParaRPr lang="en-TW" sz="1800" b="1" dirty="0"/>
              </a:p>
              <a:p>
                <a:pPr marL="228600" lvl="1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5B861B7F-1379-65BA-18AE-190D8A3E4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38200" y="1298575"/>
                <a:ext cx="9813966" cy="4905375"/>
              </a:xfrm>
              <a:blipFill>
                <a:blip r:embed="rId3"/>
                <a:stretch>
                  <a:fillRect l="-517" t="-517" r="-517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11">
            <a:extLst>
              <a:ext uri="{FF2B5EF4-FFF2-40B4-BE49-F238E27FC236}">
                <a16:creationId xmlns:a16="http://schemas.microsoft.com/office/drawing/2014/main" id="{698A4661-DC4C-A8CA-9663-A20DFD39F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26"/>
          <a:stretch>
            <a:fillRect/>
          </a:stretch>
        </p:blipFill>
        <p:spPr>
          <a:xfrm>
            <a:off x="2409107" y="2613025"/>
            <a:ext cx="7373786" cy="2946400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F33D1D0-8A38-A32E-E2D2-CB00A8FAA8B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2089D2-35E1-09A8-F26F-2D29567DE7D3}"/>
              </a:ext>
            </a:extLst>
          </p:cNvPr>
          <p:cNvSpPr txBox="1"/>
          <p:nvPr/>
        </p:nvSpPr>
        <p:spPr>
          <a:xfrm>
            <a:off x="2078225" y="5557939"/>
            <a:ext cx="85739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/>
              <a:t>Figure </a:t>
            </a:r>
            <a:r>
              <a:rPr lang="en-US" altLang="zh-TW" sz="1400" dirty="0"/>
              <a:t>1</a:t>
            </a:r>
            <a:r>
              <a:rPr lang="zh-TW" altLang="zh-TW" sz="1400" dirty="0"/>
              <a:t>. SURGEON prunes activations at layer-specifc dynamic ratios in a data-sensitive manner during adaptation.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35724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CC9BF-834A-25A5-DA46-56901AA66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D65B0C-0DCE-FB12-8A48-3C6E5A21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III. Methodology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46E950B-702F-297B-E50A-00CCDFDAA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12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F395730-6588-344B-5302-727BDD44665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TW" sz="2200" b="1" dirty="0"/>
                  <a:t>Gradient Importance</a:t>
                </a:r>
                <a:r>
                  <a:rPr lang="en-US" sz="2200" b="1" dirty="0"/>
                  <a:t>								</a:t>
                </a:r>
                <a:r>
                  <a:rPr lang="zh-TW" altLang="en-US" sz="2200" b="1" dirty="0"/>
                  <a:t>     </a:t>
                </a:r>
                <a:endParaRPr lang="en-US" altLang="zh-TW" sz="2200" b="1" dirty="0"/>
              </a:p>
              <a:p>
                <a:pPr marL="0" indent="0">
                  <a:buNone/>
                </a:pPr>
                <a:r>
                  <a:rPr lang="zh-TW" altLang="zh-TW" sz="1800" dirty="0"/>
                  <a:t>Dynamic layer-specific pruning outperforms global static methods because </a:t>
                </a:r>
                <a:r>
                  <a:rPr lang="zh-TW" altLang="zh-TW" sz="1800" b="1" dirty="0"/>
                  <a:t>layers adapt unequally to varying data distributions</a:t>
                </a:r>
                <a:r>
                  <a:rPr lang="zh-TW" altLang="zh-TW" sz="1800" dirty="0"/>
                  <a:t> [20]; this contribution is quantified using </a:t>
                </a:r>
                <a:r>
                  <a:rPr lang="zh-TW" altLang="zh-TW" sz="1800" b="1" dirty="0"/>
                  <a:t>weight gradients</a:t>
                </a:r>
                <a:r>
                  <a:rPr lang="zh-TW" altLang="zh-TW" sz="1800" dirty="0"/>
                  <a:t>, as </a:t>
                </a:r>
                <a:r>
                  <a:rPr lang="zh-TW" altLang="zh-TW" sz="1800" b="1" dirty="0"/>
                  <a:t>larger gradients indicate a stronger influence on model predictions</a:t>
                </a:r>
                <a:r>
                  <a:rPr lang="zh-TW" altLang="en-US" sz="1800" b="1" dirty="0"/>
                  <a:t> </a:t>
                </a:r>
                <a:r>
                  <a:rPr lang="en-US" altLang="zh-TW" sz="1800" b="1" dirty="0"/>
                  <a:t>and</a:t>
                </a:r>
                <a:r>
                  <a:rPr lang="zh-TW" altLang="zh-TW" sz="1800" dirty="0"/>
                  <a:t> </a:t>
                </a:r>
                <a:r>
                  <a:rPr lang="zh-TW" altLang="zh-TW" sz="1800" b="1" dirty="0"/>
                  <a:t>loss reduction</a:t>
                </a:r>
                <a:r>
                  <a:rPr lang="zh-TW" altLang="zh-TW" sz="1800" dirty="0"/>
                  <a:t>. </a:t>
                </a:r>
                <a:endParaRPr lang="en-US" altLang="zh-TW" sz="1800" dirty="0"/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pPr marL="0" indent="0">
                  <a:buNone/>
                </a:pPr>
                <a:endParaRPr lang="en-US" altLang="zh-TW" sz="1800" dirty="0"/>
              </a:p>
              <a:p>
                <a:pPr marL="0" indent="0">
                  <a:buNone/>
                </a:pPr>
                <a:r>
                  <a:rPr lang="zh-TW" altLang="zh-TW" sz="1800" dirty="0"/>
                  <a:t>The layer gradient importance,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sz="1800" dirty="0"/>
                  <a:t>, is quantified as the average weight gradient of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i="1" dirty="0">
                    <a:latin typeface="Cambria Math" panose="02040503050406030204" pitchFamily="18" charset="0"/>
                  </a:rPr>
                  <a:t> </a:t>
                </a:r>
                <a:r>
                  <a:rPr lang="zh-TW" altLang="zh-TW" sz="1800" dirty="0"/>
                  <a:t>neurons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zh-TW" i="0" dirty="0" smtClean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zh-TW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zh-TW" altLang="zh-TW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TW" altLang="zh-TW" sz="1800" dirty="0"/>
                  <a:t>), effectively reflecting the layer's overall impact on loss reduction and accuracy contribution during adaptation.</a:t>
                </a:r>
                <a:endParaRPr lang="en-TW" sz="1800" b="1" dirty="0"/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F395730-6588-344B-5302-727BDD446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698" t="-870" r="-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BA203F6-8AA3-8462-B49A-A349BE406E8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zh-TW" altLang="zh-TW" dirty="0"/>
              <a:t>[20] Yoonho Lee, Annie S Chen, Fahim Tajwar, Ananya Kumar, Huaxiu Yao, Percy Liang, and Chelsea Finn. Surgical finetuning improves adaptation to distribution shifts. In 2023 International Conference on Learning Representations, 2023.</a:t>
            </a:r>
            <a:endParaRPr lang="en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3311B7C-A81E-8C38-D353-7019C0448A7E}"/>
                  </a:ext>
                </a:extLst>
              </p:cNvPr>
              <p:cNvSpPr txBox="1"/>
              <p:nvPr/>
            </p:nvSpPr>
            <p:spPr>
              <a:xfrm>
                <a:off x="838200" y="3097464"/>
                <a:ext cx="9601200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eqArr>
                            <m:eqArrPr>
                              <m:ctrlP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</m:rPr>
                                <a:rPr lang="zh-TW" altLang="en-US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num>
                                <m:den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, 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nary>
                                        <m:naryPr>
                                          <m:chr m:val="∑"/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sSub>
                                            <m:sSubPr>
                                              <m:ctrlPr>
                                                <a:rPr lang="zh-TW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sup>
                                        <m:e>
                                          <m:sSup>
                                            <m:sSupPr>
                                              <m:ctrlPr>
                                                <a:rPr lang="zh-TW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lang="zh-TW" alt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zh-TW" altLang="en-US" i="0">
                                                      <a:latin typeface="Cambria Math" panose="02040503050406030204" pitchFamily="18" charset="0"/>
                                                    </a:rPr>
                                                    <m:t>Δ</m:t>
                                                  </m:r>
                                                  <m:sSub>
                                                    <m:sSubPr>
                                                      <m:ctrlPr>
                                                        <a:rPr lang="zh-TW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zh-TW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𝑤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zh-TW" altLang="en-US" i="1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𝑗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lang="zh-TW" altLang="en-US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nary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rad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e>
                          </m:eqArr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3311B7C-A81E-8C38-D353-7019C0448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97464"/>
                <a:ext cx="9601200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A9F3246-FAA8-4E44-8CFC-02DD09DE7235}"/>
                  </a:ext>
                </a:extLst>
              </p:cNvPr>
              <p:cNvSpPr txBox="1"/>
              <p:nvPr/>
            </p:nvSpPr>
            <p:spPr>
              <a:xfrm>
                <a:off x="9102119" y="3429000"/>
                <a:ext cx="5390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A9F3246-FAA8-4E44-8CFC-02DD09DE72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2119" y="3429000"/>
                <a:ext cx="5390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61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C5A2-7CBD-31A1-8281-7F3F0F48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EAAEF7-E77B-1DFF-A5B4-1DB417CA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III. Methodology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E59AA94-9C1D-8A3A-9907-9A04E6B3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13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9B0C1FB-35A4-5BC2-2B85-66CD2BA9147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/>
              </a:bodyPr>
              <a:lstStyle/>
              <a:p>
                <a:pPr lvl="1" indent="-342900">
                  <a:buFont typeface="Wingdings" panose="05000000000000000000" pitchFamily="2" charset="2"/>
                  <a:buChar char="Ø"/>
                </a:pPr>
                <a:r>
                  <a:rPr lang="zh-TW" altLang="zh-TW" b="1" dirty="0"/>
                  <a:t>Layer</a:t>
                </a:r>
                <a:r>
                  <a:rPr lang="zh-TW" altLang="en-US" b="1" dirty="0"/>
                  <a:t> </a:t>
                </a:r>
                <a:r>
                  <a:rPr lang="zh-TW" altLang="zh-TW" b="1" dirty="0"/>
                  <a:t>Activation</a:t>
                </a:r>
                <a:r>
                  <a:rPr lang="zh-TW" altLang="en-US" b="1" dirty="0"/>
                  <a:t> </a:t>
                </a:r>
                <a:r>
                  <a:rPr lang="zh-TW" altLang="zh-TW" b="1" dirty="0"/>
                  <a:t>Memory</a:t>
                </a:r>
                <a:r>
                  <a:rPr lang="zh-TW" altLang="en-US" b="1" dirty="0"/>
                  <a:t> </a:t>
                </a:r>
                <a:r>
                  <a:rPr lang="zh-TW" altLang="zh-TW" b="1" dirty="0"/>
                  <a:t>Importance</a:t>
                </a:r>
                <a:r>
                  <a:rPr lang="en-US" b="1" dirty="0"/>
                  <a:t>	</a:t>
                </a:r>
                <a:r>
                  <a:rPr lang="en-US" sz="2200" b="1" dirty="0"/>
                  <a:t>				                  </a:t>
                </a:r>
              </a:p>
              <a:p>
                <a:pPr marL="228600" lvl="1" indent="0">
                  <a:buNone/>
                </a:pPr>
                <a:r>
                  <a:rPr lang="en-TW" sz="1800" dirty="0"/>
                  <a:t>B</a:t>
                </a:r>
                <a:r>
                  <a:rPr lang="en-US" sz="1800" dirty="0"/>
                  <a:t>e</a:t>
                </a:r>
                <a:r>
                  <a:rPr lang="en-TW" sz="1800" dirty="0"/>
                  <a:t>sides gradient importance, SURGEON evaluates </a:t>
                </a:r>
                <a:r>
                  <a:rPr lang="en-TW" sz="1800" b="1" dirty="0"/>
                  <a:t>layer memory efficiency</a:t>
                </a:r>
                <a:r>
                  <a:rPr lang="en-TW" sz="1800" dirty="0"/>
                  <a:t> by quantifying the activation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err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sz="1800" dirty="0"/>
                  <a:t>, which dictates the exact memory required to update layer weights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18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sz="1800" dirty="0"/>
                  <a:t>. Incorporating this physical metric into the layer-wise pruning strategy, as defined by Eq. (</a:t>
                </a:r>
                <a:r>
                  <a:rPr lang="en-US" sz="1800" dirty="0"/>
                  <a:t>3</a:t>
                </a:r>
                <a:r>
                  <a:rPr lang="en-TW" sz="1800" dirty="0"/>
                  <a:t>), </a:t>
                </a:r>
                <a:r>
                  <a:rPr lang="en-US" sz="1800" dirty="0"/>
                  <a:t>shows the activation memory importance of the </a:t>
                </a:r>
                <a:r>
                  <a:rPr lang="en-US" sz="1800" i="1" dirty="0" err="1"/>
                  <a:t>i</a:t>
                </a:r>
                <a:r>
                  <a:rPr lang="en-US" sz="1800" dirty="0" err="1"/>
                  <a:t>-th</a:t>
                </a:r>
                <a:r>
                  <a:rPr lang="en-US" sz="1800" dirty="0"/>
                  <a:t> layer,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228600" lvl="1" indent="0">
                  <a:buNone/>
                </a:pPr>
                <a:endParaRPr lang="en-TW" dirty="0"/>
              </a:p>
              <a:p>
                <a:pPr marL="228600" lvl="1" indent="0">
                  <a:buNone/>
                </a:pPr>
                <a:r>
                  <a:rPr lang="en-TW" sz="1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sz="1800" dirty="0"/>
                  <a:t> denotes the size of the activations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sz="1800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sz="1800" dirty="0"/>
                  <a:t> is calculated using the logarithm of the ratio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TW" sz="1800" dirty="0"/>
                  <a:t> and the total activation size across all layers.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39B0C1FB-35A4-5BC2-2B85-66CD2BA91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t="-745" r="-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EBEDD00-F787-0DA5-5B2B-0D7F2EE2CFF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A12E745-CF53-F0A0-279F-D24464EB5DDB}"/>
                  </a:ext>
                </a:extLst>
              </p:cNvPr>
              <p:cNvSpPr txBox="1"/>
              <p:nvPr/>
            </p:nvSpPr>
            <p:spPr>
              <a:xfrm>
                <a:off x="1151467" y="3152904"/>
                <a:ext cx="9287933" cy="7234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zh-TW" altLang="en-US" i="0">
                              <a:latin typeface="Cambria Math" panose="02040503050406030204" pitchFamily="18" charset="0"/>
                            </a:rPr>
                            <m:t>size</m:t>
                          </m:r>
                          <m:d>
                            <m:d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, </m:t>
                          </m:r>
                          <m:sSub>
                            <m:sSub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=−</m:t>
                          </m:r>
                          <m:func>
                            <m:funcPr>
                              <m:ctrlPr>
                                <a:rPr lang="zh-TW" alt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nary>
                                        <m:naryPr>
                                          <m:chr m:val="∑"/>
                                          <m:ctrlP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zh-TW" alt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zh-TW" alt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TW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zh-TW" alt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A12E745-CF53-F0A0-279F-D24464EB5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467" y="3152904"/>
                <a:ext cx="9287933" cy="7234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5AF5B5C-CD80-6F44-CF55-2D47F6CFD107}"/>
                  </a:ext>
                </a:extLst>
              </p:cNvPr>
              <p:cNvSpPr txBox="1"/>
              <p:nvPr/>
            </p:nvSpPr>
            <p:spPr>
              <a:xfrm>
                <a:off x="3022600" y="3398576"/>
                <a:ext cx="6146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5AF5B5C-CD80-6F44-CF55-2D47F6CFD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600" y="3398576"/>
                <a:ext cx="614680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14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A3804-013F-3E6D-65B8-4E550613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876FF2-894C-AEB6-27F0-6BDCD797E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III. Methodology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AABDBD9-2EEE-EECB-2ACB-A2ED2480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A14B1D3-5C21-9FF6-0499-833EE549450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838199" y="1298575"/>
                <a:ext cx="9695213" cy="4905375"/>
              </a:xfrm>
            </p:spPr>
            <p:txBody>
              <a:bodyPr>
                <a:normAutofit/>
              </a:bodyPr>
              <a:lstStyle/>
              <a:p>
                <a:r>
                  <a:rPr lang="en-TW" b="1" dirty="0"/>
                  <a:t>Workflow of Dynamic Activation Sparsity</a:t>
                </a:r>
              </a:p>
              <a:p>
                <a:pPr marL="0" indent="0">
                  <a:buNone/>
                </a:pPr>
                <a:r>
                  <a:rPr lang="en-TW" altLang="zh-TW" sz="1800" dirty="0"/>
                  <a:t>Finally,  combine these two layer importance metrics as shown in Eq. (</a:t>
                </a:r>
                <a:r>
                  <a:rPr lang="en-US" altLang="zh-TW" sz="1800" dirty="0"/>
                  <a:t>4</a:t>
                </a:r>
                <a:r>
                  <a:rPr lang="en-TW" altLang="zh-TW" sz="1800" dirty="0"/>
                  <a:t>)</a:t>
                </a:r>
                <a:r>
                  <a:rPr lang="en-US" sz="1800" dirty="0"/>
                  <a:t>, the next step is to determine the activation pruning ratios across different layers. Eq. (5) illustrates the process of converting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TW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into layer-wise pruning ratios at the current data batch</a:t>
                </a:r>
                <a:r>
                  <a:rPr lang="en-US" sz="1800" i="1" dirty="0"/>
                  <a:t> t</a:t>
                </a:r>
                <a:r>
                  <a:rPr lang="en-US" sz="1800" dirty="0"/>
                  <a:t>,</a:t>
                </a:r>
                <a:r>
                  <a:rPr lang="en-TW" sz="1800" dirty="0"/>
                  <a:t> </a:t>
                </a:r>
              </a:p>
              <a:p>
                <a:endParaRPr lang="en-TW" dirty="0"/>
              </a:p>
              <a:p>
                <a:endParaRPr lang="en-TW" dirty="0"/>
              </a:p>
              <a:p>
                <a:endParaRPr lang="en-TW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TW" sz="1800" dirty="0"/>
                  <a:t>where the ratio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TW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TW" sz="1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TW" sz="18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TW" sz="18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zh-TW" altLang="en-US" sz="1800" i="1" dirty="0">
                    <a:latin typeface="Cambria Math" panose="02040503050406030204" pitchFamily="18" charset="0"/>
                  </a:rPr>
                  <a:t> </a:t>
                </a:r>
                <a:r>
                  <a:rPr lang="en-TW" sz="1800" dirty="0"/>
                  <a:t>is calculated as 1 minus the layer's importance normalized by the network maximum. This strategically applies low pruning to critical, high-gradient layers to preserve accuracy, while </a:t>
                </a:r>
                <a:r>
                  <a:rPr lang="en-US" sz="1800" dirty="0"/>
                  <a:t>reducing </a:t>
                </a:r>
                <a:r>
                  <a:rPr lang="en-TW" sz="1800" dirty="0"/>
                  <a:t>memory </a:t>
                </a:r>
                <a:r>
                  <a:rPr lang="en-US" sz="1800" dirty="0"/>
                  <a:t>consumption</a:t>
                </a:r>
                <a:r>
                  <a:rPr lang="en-TW" sz="1800" dirty="0"/>
                  <a:t>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1A14B1D3-5C21-9FF6-0499-833EE54945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838199" y="1298575"/>
                <a:ext cx="9695213" cy="4905375"/>
              </a:xfrm>
              <a:blipFill>
                <a:blip r:embed="rId3"/>
                <a:stretch>
                  <a:fillRect l="-503" t="-621" r="-5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10A6D1-67E6-F437-1386-E1DE5EE550E5}"/>
                  </a:ext>
                </a:extLst>
              </p:cNvPr>
              <p:cNvSpPr txBox="1"/>
              <p:nvPr/>
            </p:nvSpPr>
            <p:spPr>
              <a:xfrm>
                <a:off x="838198" y="3509058"/>
                <a:ext cx="9695213" cy="853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eqArr>
                            <m:eqArrPr>
                              <m:ctrlPr>
                                <a:rPr lang="en-TW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Sup>
                                <m:sSubSupPr>
                                  <m:ctrlPr>
                                    <a:rPr lang="en-TW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TW" altLang="zh-TW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TW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TW" altLang="zh-TW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TW" altLang="zh-TW" i="1">
                                  <a:latin typeface="Cambria Math" panose="02040503050406030204" pitchFamily="18" charset="0"/>
                                </a:rPr>
                                <m:t>=1−</m:t>
                              </m:r>
                              <m:f>
                                <m:fPr>
                                  <m:ctrlPr>
                                    <a:rPr lang="en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TW" altLang="zh-TW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TW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TW" altLang="zh-TW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</m:num>
                                <m:den>
                                  <m:func>
                                    <m:funcPr>
                                      <m:ctrlPr>
                                        <a:rPr lang="en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limLow>
                                        <m:limLowPr>
                                          <m:ctrlPr>
                                            <a:rPr lang="en-TW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limLow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TW" altLang="zh-TW" i="0">
                                              <a:latin typeface="Cambria Math" panose="02040503050406030204" pitchFamily="18" charset="0"/>
                                            </a:rPr>
                                            <m:t>max</m:t>
                                          </m:r>
                                        </m:e>
                                        <m:lim>
                                          <m:r>
                                            <a:rPr lang="en-TW" altLang="zh-TW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TW" altLang="zh-TW" i="1">
                                              <a:latin typeface="Cambria Math" panose="02040503050406030204" pitchFamily="18" charset="0"/>
                                            </a:rPr>
                                            <m:t>∈</m:t>
                                          </m:r>
                                          <m:r>
                                            <m:rPr>
                                              <m:lit/>
                                            </m:rPr>
                                            <a:rPr lang="en-TW" altLang="zh-TW" i="1">
                                              <a:latin typeface="Cambria Math" panose="02040503050406030204" pitchFamily="18" charset="0"/>
                                            </a:rPr>
                                            <m:t>{</m:t>
                                          </m:r>
                                          <m:r>
                                            <a:rPr lang="en-TW" altLang="zh-TW" i="1">
                                              <a:latin typeface="Cambria Math" panose="02040503050406030204" pitchFamily="18" charset="0"/>
                                            </a:rPr>
                                            <m:t>1,2,…,</m:t>
                                          </m:r>
                                          <m:r>
                                            <a:rPr lang="en-TW" altLang="zh-TW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m:rPr>
                                              <m:lit/>
                                            </m:rPr>
                                            <a:rPr lang="en-TW" altLang="zh-TW" i="1">
                                              <a:latin typeface="Cambria Math" panose="02040503050406030204" pitchFamily="18" charset="0"/>
                                            </a:rPr>
                                            <m:t>}</m:t>
                                          </m:r>
                                        </m:lim>
                                      </m:limLow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TW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TW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TW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TW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TW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p>
                                          </m:sSubSup>
                                        </m:e>
                                      </m:d>
                                    </m:e>
                                  </m:func>
                                </m:den>
                              </m:f>
                              <m:r>
                                <a:rPr lang="en-TW" altLang="zh-TW" i="1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e>
                          </m:eqArr>
                          <m:r>
                            <a:rPr lang="en-TW" altLang="zh-TW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110A6D1-67E6-F437-1386-E1DE5EE55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3509058"/>
                <a:ext cx="9695213" cy="8539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8F93A18-7166-F8CF-DA15-3108127B2A7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2314997-A70D-B679-B37A-77F16D11382F}"/>
                  </a:ext>
                </a:extLst>
              </p:cNvPr>
              <p:cNvSpPr txBox="1"/>
              <p:nvPr/>
            </p:nvSpPr>
            <p:spPr>
              <a:xfrm>
                <a:off x="9229119" y="2854286"/>
                <a:ext cx="5390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92314997-A70D-B679-B37A-77F16D113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119" y="2854286"/>
                <a:ext cx="5390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D4B68F3-F306-74CA-910D-7187098AC594}"/>
                  </a:ext>
                </a:extLst>
              </p:cNvPr>
              <p:cNvSpPr txBox="1"/>
              <p:nvPr/>
            </p:nvSpPr>
            <p:spPr>
              <a:xfrm>
                <a:off x="2693358" y="2854286"/>
                <a:ext cx="6146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TW" altLang="zh-TW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TW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TW" altLang="zh-TW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TW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TW" altLang="zh-TW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TW" altLang="zh-TW" i="0">
                              <a:latin typeface="Cambria Math" panose="02040503050406030204" pitchFamily="18" charset="0"/>
                            </a:rPr>
                            <m:t>Norm</m:t>
                          </m:r>
                          <m:d>
                            <m:dPr>
                              <m:ctrlPr>
                                <a:rPr lang="en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TW" altLang="zh-TW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TW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en-TW" altLang="zh-TW" b="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m:rPr>
                              <m:nor/>
                            </m:rPr>
                            <a:rPr lang="en-TW" altLang="zh-TW" b="0" i="0">
                              <a:latin typeface="Cambria Math" panose="02040503050406030204" pitchFamily="18" charset="0"/>
                            </a:rPr>
                            <m:t>Norm</m:t>
                          </m:r>
                          <m:d>
                            <m:dPr>
                              <m:ctrlPr>
                                <a:rPr lang="en-TW" altLang="zh-TW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TW" altLang="zh-TW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TW" altLang="zh-TW" b="0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TW" altLang="zh-TW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TW" altLang="zh-TW" b="0" i="1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D4B68F3-F306-74CA-910D-7187098AC5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358" y="2854286"/>
                <a:ext cx="61468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2050CC1-D2BC-389E-9C27-F996005AE23F}"/>
                  </a:ext>
                </a:extLst>
              </p:cNvPr>
              <p:cNvSpPr txBox="1"/>
              <p:nvPr/>
            </p:nvSpPr>
            <p:spPr>
              <a:xfrm>
                <a:off x="9229119" y="3751262"/>
                <a:ext cx="5390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2050CC1-D2BC-389E-9C27-F996005AE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9119" y="3751262"/>
                <a:ext cx="53904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20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7C61-6CED-6EB3-93B3-23E1DEAE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D46F5B-D7E1-A3B7-527B-A68A9CC4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IV. </a:t>
            </a:r>
            <a:r>
              <a:rPr lang="en-TW" dirty="0"/>
              <a:t>Methodology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500E612-1235-538A-3931-9F27870A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30F165CE-5ACC-B5D7-DC2D-B39477190F7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3"/>
            <a:ext cx="11908715" cy="50164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A87F507B-6E03-C35B-4902-D57F84D25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3" t="2374" r="3247" b="2315"/>
          <a:stretch>
            <a:fillRect/>
          </a:stretch>
        </p:blipFill>
        <p:spPr>
          <a:xfrm>
            <a:off x="838200" y="1130551"/>
            <a:ext cx="4245429" cy="50400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8BD8460-E257-8658-15C3-DB01524DD20C}"/>
                  </a:ext>
                </a:extLst>
              </p:cNvPr>
              <p:cNvSpPr txBox="1"/>
              <p:nvPr/>
            </p:nvSpPr>
            <p:spPr>
              <a:xfrm>
                <a:off x="5372100" y="1993126"/>
                <a:ext cx="6146800" cy="2871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zh-TW" altLang="zh-TW" dirty="0"/>
                  <a:t>An </a:t>
                </a:r>
                <a:r>
                  <a:rPr lang="zh-TW" altLang="zh-TW" b="1" dirty="0"/>
                  <a:t>additional forward-backward pass</a:t>
                </a:r>
                <a:r>
                  <a:rPr lang="zh-TW" altLang="zh-TW" dirty="0"/>
                  <a:t> is required before adaptation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TW" altLang="zh-TW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TW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TW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.</a:t>
                </a:r>
              </a:p>
              <a:p>
                <a:pPr algn="just"/>
                <a:endParaRPr lang="en-US" altLang="zh-TW" b="1" dirty="0">
                  <a:effectLst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zh-TW" altLang="zh-TW" dirty="0">
                    <a:effectLst/>
                  </a:rPr>
                  <a:t>Prunes activations and decomposes them into a 1D vector of non-zero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zh-TW" dirty="0">
                    <a:effectLst/>
                  </a:rPr>
                  <a:t>and a 1-bit index map </a:t>
                </a:r>
                <a14:m>
                  <m:oMath xmlns:m="http://schemas.openxmlformats.org/officeDocument/2006/math">
                    <m:r>
                      <a:rPr lang="zh-TW" altLang="zh-TW" i="1" dirty="0" smtClean="0">
                        <a:effectLst/>
                        <a:latin typeface="Cambria Math" panose="02040503050406030204" pitchFamily="18" charset="0"/>
                      </a:rPr>
                      <m:t>𝑖𝑑</m:t>
                    </m:r>
                    <m:sSub>
                      <m:sSubPr>
                        <m:ctrlPr>
                          <a:rPr lang="zh-TW" altLang="zh-TW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 dirty="0" smtClean="0"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TW" altLang="zh-TW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</a:rPr>
                  <a:t>, drastically reducing</a:t>
                </a:r>
                <a:r>
                  <a:rPr lang="en-US" altLang="zh-TW" dirty="0">
                    <a:effectLst/>
                  </a:rPr>
                  <a:t> </a:t>
                </a:r>
                <a:r>
                  <a:rPr lang="zh-TW" altLang="zh-TW" dirty="0"/>
                  <a:t>memory usage </a:t>
                </a:r>
                <a:r>
                  <a:rPr lang="zh-TW" altLang="zh-TW" dirty="0">
                    <a:effectLst/>
                  </a:rPr>
                  <a:t>.</a:t>
                </a: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endParaRPr lang="en-US" altLang="zh-TW" dirty="0">
                  <a:effectLst/>
                </a:endParaRPr>
              </a:p>
              <a:p>
                <a:pPr marL="285750" indent="-285750" algn="just">
                  <a:buFont typeface="Wingdings" panose="05000000000000000000" pitchFamily="2" charset="2"/>
                  <a:buChar char="Ø"/>
                </a:pPr>
                <a:r>
                  <a:rPr lang="zh-TW" altLang="zh-TW" dirty="0">
                    <a:effectLst/>
                  </a:rPr>
                  <a:t>Reshapes the cached 1D vector and indices back into a sparse matrix format to accurately compute weight gradients and update the model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8BD8460-E257-8658-15C3-DB01524DD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1993126"/>
                <a:ext cx="6146800" cy="2871748"/>
              </a:xfrm>
              <a:prstGeom prst="rect">
                <a:avLst/>
              </a:prstGeom>
              <a:blipFill>
                <a:blip r:embed="rId4"/>
                <a:stretch>
                  <a:fillRect l="-595" t="-1274" r="-793" b="-25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088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36150-24DA-E749-46DF-B21C5B539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99914-29A1-006E-B4AE-3604FBD72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24C38C3-F895-2CF7-26AF-1BFBEB28B4E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CE15EA4-ADA5-8E98-FAB0-8DC0022B8A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Related Work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TW" sz="2800" dirty="0"/>
              <a:t>Preliminary</a:t>
            </a:r>
            <a:endParaRPr lang="en-US" altLang="zh-TW" sz="2800" dirty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Methodology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b="1" dirty="0"/>
              <a:t>Experiments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Conclusion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9B689B00-CB39-0CE6-8AF1-CF8F87B7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2161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00468-539B-9B11-4F01-A31A2FAD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9D1625-47CD-ADA2-4B6D-A9B5189B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IV. Experiment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D5737FC-4157-4924-2760-99D4A250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37A6F8-1CFA-8A21-9840-EEBA5A9906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779598" cy="4905375"/>
          </a:xfrm>
        </p:spPr>
        <p:txBody>
          <a:bodyPr>
            <a:normAutofit/>
          </a:bodyPr>
          <a:lstStyle/>
          <a:p>
            <a:r>
              <a:rPr lang="en-TW" sz="2200" b="1" dirty="0"/>
              <a:t>Image Classification</a:t>
            </a:r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FC02F57C-32B2-B534-8150-72CF3C18363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3"/>
            <a:ext cx="11908715" cy="50164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8BCC13A-5DA9-D6B5-5260-A3F40C3D2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2" y="1698020"/>
            <a:ext cx="7560564" cy="4252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2F77CB-7365-E494-C205-3B27BB96822B}"/>
              </a:ext>
            </a:extLst>
          </p:cNvPr>
          <p:cNvSpPr txBox="1"/>
          <p:nvPr/>
        </p:nvSpPr>
        <p:spPr>
          <a:xfrm>
            <a:off x="0" y="5963678"/>
            <a:ext cx="7741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TW" sz="1400" dirty="0"/>
              <a:t>Table 1. Online error (%) and cache size (MB) for TTA on CIFAR-to-CIFAR-C with a batch size of 200.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633A2C4-07EE-F0B6-24B1-A6BAA6C02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142" y="1698020"/>
            <a:ext cx="3321504" cy="23706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5E1218-EC47-A119-07E0-D0B4792B47DA}"/>
              </a:ext>
            </a:extLst>
          </p:cNvPr>
          <p:cNvSpPr/>
          <p:nvPr/>
        </p:nvSpPr>
        <p:spPr>
          <a:xfrm>
            <a:off x="777302" y="5056576"/>
            <a:ext cx="6797407" cy="8554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09F89C-27CA-30B1-0DB0-9B004959EDE9}"/>
              </a:ext>
            </a:extLst>
          </p:cNvPr>
          <p:cNvSpPr/>
          <p:nvPr/>
        </p:nvSpPr>
        <p:spPr>
          <a:xfrm>
            <a:off x="777301" y="3150657"/>
            <a:ext cx="6797407" cy="7711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40D5F2E0-3687-4B81-55C8-37679ECF72FE}"/>
              </a:ext>
            </a:extLst>
          </p:cNvPr>
          <p:cNvGrpSpPr/>
          <p:nvPr/>
        </p:nvGrpSpPr>
        <p:grpSpPr>
          <a:xfrm>
            <a:off x="7741920" y="4317817"/>
            <a:ext cx="3990893" cy="1569660"/>
            <a:chOff x="7741920" y="4381523"/>
            <a:chExt cx="3990893" cy="1569660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E4260723-DED6-5016-1ACA-AE0FC09178AA}"/>
                </a:ext>
              </a:extLst>
            </p:cNvPr>
            <p:cNvSpPr txBox="1"/>
            <p:nvPr/>
          </p:nvSpPr>
          <p:spPr>
            <a:xfrm>
              <a:off x="7741920" y="4381523"/>
              <a:ext cx="3990893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lang="en-US" altLang="zh-TW" sz="1200" b="1" dirty="0"/>
                <a:t>Certainty-based Sample Selection(CSS):</a:t>
              </a:r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endParaRPr lang="zh-TW" altLang="en-US" sz="1200" dirty="0"/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endParaRPr lang="en-US" altLang="zh-TW" sz="1200" b="1" dirty="0"/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endParaRPr lang="en-US" altLang="zh-TW" sz="1200" b="1" dirty="0"/>
            </a:p>
            <a:p>
              <a:pPr marL="171450" indent="-171450" algn="just">
                <a:buFont typeface="Wingdings" panose="05000000000000000000" pitchFamily="2" charset="2"/>
                <a:buChar char="Ø"/>
              </a:pPr>
              <a:r>
                <a:rPr lang="zh-TW" altLang="zh-TW" sz="1200" b="1" dirty="0"/>
                <a:t>Consistency Regularization (CR):</a:t>
              </a:r>
              <a:r>
                <a:rPr lang="zh-TW" altLang="zh-TW" sz="1200" dirty="0"/>
                <a:t> </a:t>
              </a:r>
              <a:r>
                <a:rPr lang="en-US" altLang="zh-TW" sz="1200" dirty="0"/>
                <a:t>	              </a:t>
              </a:r>
              <a:r>
                <a:rPr lang="zh-TW" altLang="zh-TW" sz="1200" dirty="0"/>
                <a:t>Enforces consistent predictions between original and augmented images, penalizing their prediction discrepancy as an additional loss.</a:t>
              </a:r>
              <a:endParaRPr lang="en-US" altLang="zh-TW" sz="1200" dirty="0"/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C62402EC-FA2F-3A73-5E7F-0551032DE158}"/>
                </a:ext>
              </a:extLst>
            </p:cNvPr>
            <p:cNvSpPr txBox="1"/>
            <p:nvPr/>
          </p:nvSpPr>
          <p:spPr>
            <a:xfrm>
              <a:off x="7917822" y="4609587"/>
              <a:ext cx="374493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TW" sz="1200" dirty="0"/>
                <a:t>Skips backpropagation for samples with high prediction entropy (low confidence) to prevent error accumulation. </a:t>
              </a:r>
              <a:endParaRPr lang="zh-TW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384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DBC2-12AC-6A71-CB8F-BFC939FD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31307-1F1B-FB6A-DDF4-FDFF233DB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IV. Experiment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03C89A0-5810-62E2-BB2D-5506A2CF6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0C0505-5096-583B-BA91-9A2F4F10E3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779598" cy="4905375"/>
          </a:xfrm>
        </p:spPr>
        <p:txBody>
          <a:bodyPr>
            <a:normAutofit/>
          </a:bodyPr>
          <a:lstStyle/>
          <a:p>
            <a:r>
              <a:rPr lang="en-TW" sz="2200" b="1" dirty="0"/>
              <a:t>Image Segmentation</a:t>
            </a:r>
          </a:p>
        </p:txBody>
      </p:sp>
      <p:sp>
        <p:nvSpPr>
          <p:cNvPr id="11" name="內容版面配置區 10">
            <a:extLst>
              <a:ext uri="{FF2B5EF4-FFF2-40B4-BE49-F238E27FC236}">
                <a16:creationId xmlns:a16="http://schemas.microsoft.com/office/drawing/2014/main" id="{848AD485-1227-7B6D-ED70-19DD1E00AB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3"/>
            <a:ext cx="11908715" cy="50164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Content Placeholder 10">
            <a:extLst>
              <a:ext uri="{FF2B5EF4-FFF2-40B4-BE49-F238E27FC236}">
                <a16:creationId xmlns:a16="http://schemas.microsoft.com/office/drawing/2014/main" id="{D9F5287E-2703-B30D-25BB-521AD74D9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50" y="2120996"/>
            <a:ext cx="9663413" cy="316560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06545EA1-DFB9-6DB1-9252-116A015B24E2}"/>
              </a:ext>
            </a:extLst>
          </p:cNvPr>
          <p:cNvSpPr txBox="1"/>
          <p:nvPr/>
        </p:nvSpPr>
        <p:spPr>
          <a:xfrm>
            <a:off x="2932366" y="5286598"/>
            <a:ext cx="6327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/>
              <a:t>Table 2. Online error (%) and cache size (MB) for TTA on Cityscapes-to-ACDC. </a:t>
            </a:r>
            <a:endParaRPr lang="zh-TW" alt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1A6B79-6139-EA13-3CDC-E00DF2796EC8}"/>
              </a:ext>
            </a:extLst>
          </p:cNvPr>
          <p:cNvSpPr/>
          <p:nvPr/>
        </p:nvSpPr>
        <p:spPr>
          <a:xfrm>
            <a:off x="2146300" y="4876800"/>
            <a:ext cx="8551078" cy="1799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BC77106B-E478-9E5B-F5D9-02DA4053684C}"/>
              </a:ext>
            </a:extLst>
          </p:cNvPr>
          <p:cNvSpPr/>
          <p:nvPr/>
        </p:nvSpPr>
        <p:spPr>
          <a:xfrm>
            <a:off x="2146300" y="3873943"/>
            <a:ext cx="8551078" cy="3932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41821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5AE71-ACAB-C50F-A303-95174606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546AF4-3CE0-31C5-FE99-7B063675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Experiment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6FDF71A-DAD6-B55F-D9C6-F381DA03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DDE92F06-97D8-3904-D72E-B4C8EE654A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2"/>
            <a:ext cx="11533517" cy="50164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C3F98A5-3D48-8212-8008-85722948A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19" y="2166761"/>
            <a:ext cx="10593278" cy="2524477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1E1352C-C9B9-E546-3DD3-C51CABCEC3E3}"/>
              </a:ext>
            </a:extLst>
          </p:cNvPr>
          <p:cNvSpPr txBox="1"/>
          <p:nvPr/>
        </p:nvSpPr>
        <p:spPr>
          <a:xfrm>
            <a:off x="2531269" y="4881473"/>
            <a:ext cx="71294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zh-TW" sz="1400" dirty="0"/>
              <a:t>Figure </a:t>
            </a:r>
            <a:r>
              <a:rPr lang="en-US" altLang="zh-TW" sz="1400" dirty="0"/>
              <a:t>2</a:t>
            </a:r>
            <a:r>
              <a:rPr lang="zh-TW" altLang="zh-TW" sz="1400" dirty="0"/>
              <a:t>. Mean online error (%) under different global static pruning ratios for TTA on three convolutional networks. The pruning ratio of SURGEON refers to a global static pruning ratio that yields an equivalent cache size. 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28889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4"/>
    </mc:Choice>
    <mc:Fallback xmlns="">
      <p:transition spd="slow" advTm="3294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2AA54-9803-88B2-17F2-92F7DA639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22497F-2FAC-803E-6433-F8EF1B828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24"/>
            <a:ext cx="9753600" cy="856211"/>
          </a:xfrm>
        </p:spPr>
        <p:txBody>
          <a:bodyPr>
            <a:normAutofit/>
          </a:bodyPr>
          <a:lstStyle/>
          <a:p>
            <a:r>
              <a:rPr lang="en-US" altLang="zh-TW" dirty="0"/>
              <a:t>IV. Experiment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6112CF5-02C5-65B7-E62D-D8CF56CE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ECD6DA3F-E1FE-444D-C258-5D9DC1933DE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6356352"/>
            <a:ext cx="11533517" cy="501648"/>
          </a:xfrm>
        </p:spPr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757D16B-0411-F6FC-BCB3-096E1405F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949" y="2157731"/>
            <a:ext cx="5882051" cy="246250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12B52F5-FA84-1BE7-2B1B-BB56DD2FD4C0}"/>
              </a:ext>
            </a:extLst>
          </p:cNvPr>
          <p:cNvSpPr txBox="1"/>
          <p:nvPr/>
        </p:nvSpPr>
        <p:spPr>
          <a:xfrm>
            <a:off x="3129574" y="4620235"/>
            <a:ext cx="614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zh-TW" sz="1400" dirty="0"/>
              <a:t>Table </a:t>
            </a:r>
            <a:r>
              <a:rPr lang="en-US" altLang="zh-TW" sz="1400" dirty="0"/>
              <a:t>3</a:t>
            </a:r>
            <a:r>
              <a:rPr lang="zh-TW" altLang="zh-TW" sz="1400" dirty="0"/>
              <a:t>. Performance on Jetson Xavier NX. The experiments are conducted using ResNeXt-29 on CIFAR-100-C.</a:t>
            </a:r>
            <a:endParaRPr lang="zh-TW" alt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4A2F8-A77D-B227-A25A-7B711E4BCAD1}"/>
              </a:ext>
            </a:extLst>
          </p:cNvPr>
          <p:cNvSpPr/>
          <p:nvPr/>
        </p:nvSpPr>
        <p:spPr>
          <a:xfrm>
            <a:off x="3261949" y="3999971"/>
            <a:ext cx="5793151" cy="4577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6200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94"/>
    </mc:Choice>
    <mc:Fallback xmlns="">
      <p:transition spd="slow" advTm="3294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9F64C-E5B6-4DF1-4B81-8E4BD80D6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6406CF-D3C5-F88D-84A8-2B93F0D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73E2296-AF0C-DE4A-01E4-9FF54FAC6CE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5E3D5FF-BA93-F1C3-5FAF-03CF891DE9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298575"/>
            <a:ext cx="9601200" cy="4905375"/>
          </a:xfrm>
        </p:spPr>
        <p:txBody>
          <a:bodyPr>
            <a:normAutofit/>
          </a:bodyPr>
          <a:lstStyle/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Introduction</a:t>
            </a:r>
          </a:p>
          <a:p>
            <a:pPr marL="571500" indent="-571500">
              <a:lnSpc>
                <a:spcPct val="150000"/>
              </a:lnSpc>
              <a:buAutoNum type="romanUcPeriod"/>
            </a:pPr>
            <a:r>
              <a:rPr lang="en-US" altLang="zh-TW" sz="2800" dirty="0"/>
              <a:t>Related Work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Methodology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dirty="0"/>
              <a:t>Experiments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AutoNum type="romanUcPeriod"/>
            </a:pPr>
            <a:r>
              <a:rPr lang="en-US" altLang="zh-TW" sz="2800" b="1" dirty="0"/>
              <a:t>Conclusion</a:t>
            </a:r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B0195F44-6D96-E112-A689-0ECCEAD9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020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5CDA4-24DB-27D9-D872-D15E2120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V. Conclusion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BB83462-DE88-93EE-2206-7D8324FD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7B41F-AD73-4999-8C34-7D0FF5EF3CF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535ED43-91A3-C700-E38A-8F5854B1B93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1298575"/>
            <a:ext cx="9804401" cy="4905375"/>
          </a:xfrm>
        </p:spPr>
        <p:txBody>
          <a:bodyPr>
            <a:normAutofit/>
          </a:bodyPr>
          <a:lstStyle/>
          <a:p>
            <a:r>
              <a:rPr lang="en-TW" sz="1800" dirty="0"/>
              <a:t>This paper presents </a:t>
            </a:r>
            <a:r>
              <a:rPr lang="en-TW" sz="1800" b="1" dirty="0"/>
              <a:t>SURGEON</a:t>
            </a:r>
            <a:r>
              <a:rPr lang="en-TW" sz="1800" dirty="0"/>
              <a:t>, a method aimed at </a:t>
            </a:r>
            <a:r>
              <a:rPr lang="en-TW" sz="1800" b="1" dirty="0"/>
              <a:t>reducing memory cost in FTTA while maintaining comparable accuracy</a:t>
            </a:r>
            <a:r>
              <a:rPr lang="en-TW" sz="1800" dirty="0"/>
              <a:t>, independent of specific architectures or alterations to the original training process. </a:t>
            </a:r>
          </a:p>
          <a:p>
            <a:r>
              <a:rPr lang="en-TW" sz="1800" dirty="0"/>
              <a:t>Considering interlayer differences, SURGEON leverages a novel </a:t>
            </a:r>
            <a:r>
              <a:rPr lang="en-US" sz="1800" b="1" dirty="0"/>
              <a:t>D</a:t>
            </a:r>
            <a:r>
              <a:rPr lang="en-TW" sz="1800" b="1" dirty="0"/>
              <a:t>ynamic </a:t>
            </a:r>
            <a:r>
              <a:rPr lang="en-US" sz="1800" b="1" dirty="0"/>
              <a:t>A</a:t>
            </a:r>
            <a:r>
              <a:rPr lang="en-TW" sz="1800" b="1" dirty="0"/>
              <a:t>ctivation </a:t>
            </a:r>
            <a:r>
              <a:rPr lang="en-US" sz="1800" b="1" dirty="0"/>
              <a:t>S</a:t>
            </a:r>
            <a:r>
              <a:rPr lang="en-TW" sz="1800" b="1" dirty="0"/>
              <a:t>parsity</a:t>
            </a:r>
            <a:r>
              <a:rPr lang="en-US" sz="1800" b="1" dirty="0"/>
              <a:t> (DAS)</a:t>
            </a:r>
            <a:r>
              <a:rPr lang="en-TW" sz="1800" b="1" dirty="0"/>
              <a:t> strategy </a:t>
            </a:r>
            <a:r>
              <a:rPr lang="en-TW" sz="1800" dirty="0"/>
              <a:t>that prunes activations at layerspecific and adaptive ratios in a data-sensitive manner, precisely regulating both activation memory consumption and weight gradients across different layers during adaptation. </a:t>
            </a:r>
          </a:p>
          <a:p>
            <a:r>
              <a:rPr lang="en-TW" sz="1800" dirty="0"/>
              <a:t>Experimental results show that SURGEON achieves </a:t>
            </a:r>
            <a:r>
              <a:rPr lang="en-TW" sz="1800" b="1" dirty="0"/>
              <a:t>SOTA balance between accuracy and memory across various datasets, architectures and tasks</a:t>
            </a:r>
            <a:r>
              <a:rPr lang="en-TW" sz="1800" dirty="0"/>
              <a:t>. This research is expected to promote the robust deployment of deep models on resource-constrained devices in changing environments.</a:t>
            </a:r>
            <a:endParaRPr lang="en-US" sz="1800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ACFF75-2A84-2570-0EE4-36D15B19E26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2157551"/>
      </p:ext>
    </p:extLst>
  </p:cSld>
  <p:clrMapOvr>
    <a:masterClrMapping/>
  </p:clrMapOvr>
</p:sld>
</file>

<file path=ppt/theme/theme1.xml><?xml version="1.0" encoding="utf-8"?>
<a:theme xmlns:a="http://schemas.openxmlformats.org/drawingml/2006/main" name="NCUE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CUEE" id="{4D309C3F-E183-4FB4-AEDB-7CCE43E5FED5}" vid="{04B2A469-F8F0-40CC-A4FD-E8EC6971CFD5}"/>
    </a:ext>
  </a:extLst>
</a:theme>
</file>

<file path=ppt/theme/theme2.xml><?xml version="1.0" encoding="utf-8"?>
<a:theme xmlns:a="http://schemas.openxmlformats.org/drawingml/2006/main" name="NCUE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CUEE" id="{4D309C3F-E183-4FB4-AEDB-7CCE43E5FED5}" vid="{04B2A469-F8F0-40CC-A4FD-E8EC6971CFD5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01D057C34BA4346AFC101E54BFF0B4A" ma:contentTypeVersion="5" ma:contentTypeDescription="建立新的文件。" ma:contentTypeScope="" ma:versionID="a0a6beb63d380da9c56ed11622043d5d">
  <xsd:schema xmlns:xsd="http://www.w3.org/2001/XMLSchema" xmlns:xs="http://www.w3.org/2001/XMLSchema" xmlns:p="http://schemas.microsoft.com/office/2006/metadata/properties" xmlns:ns3="9f277c6e-4667-4e89-a9a0-04ef23c7621b" targetNamespace="http://schemas.microsoft.com/office/2006/metadata/properties" ma:root="true" ma:fieldsID="5166e0dbef0bc47bdad1eb1077a5c76a" ns3:_="">
    <xsd:import namespace="9f277c6e-4667-4e89-a9a0-04ef23c7621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277c6e-4667-4e89-a9a0-04ef23c7621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277c6e-4667-4e89-a9a0-04ef23c7621b" xsi:nil="true"/>
  </documentManagement>
</p:properties>
</file>

<file path=customXml/itemProps1.xml><?xml version="1.0" encoding="utf-8"?>
<ds:datastoreItem xmlns:ds="http://schemas.openxmlformats.org/officeDocument/2006/customXml" ds:itemID="{7D72FB4E-D123-4D18-8152-3D27E1C891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54207D-B331-4976-97D0-BEF0A147B0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277c6e-4667-4e89-a9a0-04ef23c762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9A375C-DF77-4DDE-899A-09A1D9F7B3DF}">
  <ds:schemaRefs>
    <ds:schemaRef ds:uri="http://purl.org/dc/dcmitype/"/>
    <ds:schemaRef ds:uri="http://www.w3.org/XML/1998/namespace"/>
    <ds:schemaRef ds:uri="http://schemas.microsoft.com/office/infopath/2007/PartnerControls"/>
    <ds:schemaRef ds:uri="9f277c6e-4667-4e89-a9a0-04ef23c7621b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NCUEE</Template>
  <TotalTime>146226</TotalTime>
  <Words>6853</Words>
  <Application>Microsoft Office PowerPoint</Application>
  <PresentationFormat>寬螢幕</PresentationFormat>
  <Paragraphs>338</Paragraphs>
  <Slides>22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22</vt:i4>
      </vt:variant>
    </vt:vector>
  </HeadingPairs>
  <TitlesOfParts>
    <vt:vector size="31" baseType="lpstr">
      <vt:lpstr>Aptos</vt:lpstr>
      <vt:lpstr>Arial</vt:lpstr>
      <vt:lpstr>Calibri</vt:lpstr>
      <vt:lpstr>Cambria Math</vt:lpstr>
      <vt:lpstr>Times</vt:lpstr>
      <vt:lpstr>Times New Roman</vt:lpstr>
      <vt:lpstr>Wingdings</vt:lpstr>
      <vt:lpstr>NCUEE</vt:lpstr>
      <vt:lpstr>NCUEE</vt:lpstr>
      <vt:lpstr>SURGEON: Memory-Adaptive Fully Test-Time Adaptation via Dynamic Activation Sparsity</vt:lpstr>
      <vt:lpstr>Summary</vt:lpstr>
      <vt:lpstr>Outline</vt:lpstr>
      <vt:lpstr>I. Introduction </vt:lpstr>
      <vt:lpstr>I. Introduction </vt:lpstr>
      <vt:lpstr>I. Introduction </vt:lpstr>
      <vt:lpstr>Outline</vt:lpstr>
      <vt:lpstr>II. Related Work</vt:lpstr>
      <vt:lpstr>Outline</vt:lpstr>
      <vt:lpstr>III. Methodology </vt:lpstr>
      <vt:lpstr>III. Methodology</vt:lpstr>
      <vt:lpstr>III. Methodology</vt:lpstr>
      <vt:lpstr>III. Methodology</vt:lpstr>
      <vt:lpstr>III. Methodology</vt:lpstr>
      <vt:lpstr>IV. Methodology</vt:lpstr>
      <vt:lpstr>Outline</vt:lpstr>
      <vt:lpstr>IV. Experiment</vt:lpstr>
      <vt:lpstr>IV. Experiment</vt:lpstr>
      <vt:lpstr>IV. Experiment </vt:lpstr>
      <vt:lpstr>IV. Experiment </vt:lpstr>
      <vt:lpstr>Outline</vt:lpstr>
      <vt:lpstr>V.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賴應賢 (113521105)</dc:creator>
  <cp:lastModifiedBy>王翊丞 (114527014)</cp:lastModifiedBy>
  <cp:revision>221</cp:revision>
  <dcterms:created xsi:type="dcterms:W3CDTF">2024-09-18T08:55:23Z</dcterms:created>
  <dcterms:modified xsi:type="dcterms:W3CDTF">2026-07-05T11:40:37Z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0x010100D01D057C34BA4346AFC101E54BFF0B4A</vt:lpwstr>
  </property>
</Properties>
</file>