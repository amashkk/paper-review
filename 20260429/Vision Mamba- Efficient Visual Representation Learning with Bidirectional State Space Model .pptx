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28"/>
  </p:notesMasterIdLst>
  <p:sldIdLst>
    <p:sldId id="256" r:id="rId6"/>
    <p:sldId id="394" r:id="rId7"/>
    <p:sldId id="258" r:id="rId8"/>
    <p:sldId id="372" r:id="rId9"/>
    <p:sldId id="386" r:id="rId10"/>
    <p:sldId id="318" r:id="rId11"/>
    <p:sldId id="395" r:id="rId12"/>
    <p:sldId id="261" r:id="rId13"/>
    <p:sldId id="396" r:id="rId14"/>
    <p:sldId id="412" r:id="rId15"/>
    <p:sldId id="409" r:id="rId16"/>
    <p:sldId id="303" r:id="rId17"/>
    <p:sldId id="400" r:id="rId18"/>
    <p:sldId id="401" r:id="rId19"/>
    <p:sldId id="397" r:id="rId20"/>
    <p:sldId id="329" r:id="rId21"/>
    <p:sldId id="410" r:id="rId22"/>
    <p:sldId id="407" r:id="rId23"/>
    <p:sldId id="405" r:id="rId24"/>
    <p:sldId id="406" r:id="rId25"/>
    <p:sldId id="398" r:id="rId26"/>
    <p:sldId id="292"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35" autoAdjust="0"/>
    <p:restoredTop sz="80606" autoAdjust="0"/>
  </p:normalViewPr>
  <p:slideViewPr>
    <p:cSldViewPr snapToGrid="0">
      <p:cViewPr>
        <p:scale>
          <a:sx n="93" d="100"/>
          <a:sy n="93" d="100"/>
        </p:scale>
        <p:origin x="1240" y="520"/>
      </p:cViewPr>
      <p:guideLst/>
    </p:cSldViewPr>
  </p:slideViewPr>
  <p:outlineViewPr>
    <p:cViewPr>
      <p:scale>
        <a:sx n="33" d="100"/>
        <a:sy n="33" d="100"/>
      </p:scale>
      <p:origin x="0" y="-35964"/>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09118-D757-465C-AB1A-5DF74F985BCA}" type="datetimeFigureOut">
              <a:rPr lang="zh-TW" altLang="en-US" smtClean="0"/>
              <a:t>2026/4/29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C9C8E-8CA7-443A-832F-F0F3F7A96022}" type="slidenum">
              <a:rPr lang="zh-TW" altLang="en-US" smtClean="0"/>
              <a:t>‹#›</a:t>
            </a:fld>
            <a:endParaRPr lang="zh-TW" altLang="en-US"/>
          </a:p>
        </p:txBody>
      </p:sp>
    </p:spTree>
    <p:extLst>
      <p:ext uri="{BB962C8B-B14F-4D97-AF65-F5344CB8AC3E}">
        <p14:creationId xmlns:p14="http://schemas.microsoft.com/office/powerpoint/2010/main" val="397113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FFC9C8E-8CA7-443A-832F-F0F3F7A96022}" type="slidenum">
              <a:rPr lang="zh-TW" altLang="en-US" smtClean="0"/>
              <a:t>1</a:t>
            </a:fld>
            <a:endParaRPr lang="zh-TW" altLang="en-US"/>
          </a:p>
        </p:txBody>
      </p:sp>
    </p:spTree>
    <p:extLst>
      <p:ext uri="{BB962C8B-B14F-4D97-AF65-F5344CB8AC3E}">
        <p14:creationId xmlns:p14="http://schemas.microsoft.com/office/powerpoint/2010/main" val="1914570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566B-A5B5-41FE-1412-D117CA434B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35A0D36-D587-2DF3-FBF9-2D59C6B8C23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A1E2C90-4CBE-4BCA-2566-A472D1464521}"/>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F26FA543-8DE4-88B8-18C0-58CD5690DA39}"/>
              </a:ext>
            </a:extLst>
          </p:cNvPr>
          <p:cNvSpPr>
            <a:spLocks noGrp="1"/>
          </p:cNvSpPr>
          <p:nvPr>
            <p:ph type="sldNum" sz="quarter" idx="5"/>
          </p:nvPr>
        </p:nvSpPr>
        <p:spPr/>
        <p:txBody>
          <a:bodyPr/>
          <a:lstStyle/>
          <a:p>
            <a:fld id="{4FFC9C8E-8CA7-443A-832F-F0F3F7A96022}" type="slidenum">
              <a:rPr lang="zh-TW" altLang="en-US" smtClean="0"/>
              <a:t>2</a:t>
            </a:fld>
            <a:endParaRPr lang="zh-TW" altLang="en-US"/>
          </a:p>
        </p:txBody>
      </p:sp>
    </p:spTree>
    <p:extLst>
      <p:ext uri="{BB962C8B-B14F-4D97-AF65-F5344CB8AC3E}">
        <p14:creationId xmlns:p14="http://schemas.microsoft.com/office/powerpoint/2010/main" val="2907492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15571-2E96-BACF-B54C-95F68138878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D358540-550C-E43E-6D65-F8878EE649C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C73FD05-9674-F238-D601-7A0A871A7258}"/>
              </a:ext>
            </a:extLst>
          </p:cNvPr>
          <p:cNvSpPr>
            <a:spLocks noGrp="1"/>
          </p:cNvSpPr>
          <p:nvPr>
            <p:ph type="body" idx="1"/>
          </p:nvPr>
        </p:nvSpPr>
        <p:spPr/>
        <p:txBody>
          <a:bodyPr/>
          <a:lstStyle/>
          <a:p>
            <a:r>
              <a:rPr lang="en-US" altLang="zh-TW" b="1" dirty="0" err="1"/>
              <a:t>ViT</a:t>
            </a:r>
            <a:r>
              <a:rPr lang="en-US" altLang="zh-TW" b="1" dirty="0"/>
              <a:t> </a:t>
            </a:r>
            <a:r>
              <a:rPr lang="zh-TW" altLang="en-US" b="1" dirty="0"/>
              <a:t>的核心優勢在於全域感受野。</a:t>
            </a:r>
            <a:r>
              <a:rPr lang="zh-TW" altLang="en-US" dirty="0"/>
              <a:t> 透過 </a:t>
            </a:r>
            <a:r>
              <a:rPr lang="en-US" altLang="zh-TW" dirty="0"/>
              <a:t>Self-Attention </a:t>
            </a:r>
            <a:r>
              <a:rPr lang="zh-TW" altLang="en-US" dirty="0"/>
              <a:t>機制，每一個影像區塊都能在單一層內，直接獲取全圖其他區塊的特徵。這種</a:t>
            </a:r>
            <a:r>
              <a:rPr lang="en-US" altLang="zh-TW" dirty="0"/>
              <a:t>『</a:t>
            </a:r>
            <a:r>
              <a:rPr lang="zh-TW" altLang="en-US" dirty="0"/>
              <a:t>全對全</a:t>
            </a:r>
            <a:r>
              <a:rPr lang="en-US" altLang="zh-TW" dirty="0"/>
              <a:t>』</a:t>
            </a:r>
            <a:r>
              <a:rPr lang="zh-TW" altLang="en-US" dirty="0"/>
              <a:t>的聯接方式，讓模型能更精準地捕捉長距離的語意關聯。</a:t>
            </a:r>
            <a:endParaRPr lang="en-US" altLang="zh-TW" dirty="0"/>
          </a:p>
          <a:p>
            <a:endParaRPr lang="zh-TW" altLang="en-US" dirty="0"/>
          </a:p>
          <a:p>
            <a:r>
              <a:rPr lang="zh-TW" altLang="en-US" b="1" dirty="0"/>
              <a:t>相較之下，</a:t>
            </a:r>
            <a:r>
              <a:rPr lang="en-US" altLang="zh-TW" b="1" dirty="0"/>
              <a:t>CNN </a:t>
            </a:r>
            <a:r>
              <a:rPr lang="zh-TW" altLang="en-US" b="1" dirty="0"/>
              <a:t>則是依賴固定的卷積核。</a:t>
            </a:r>
            <a:r>
              <a:rPr lang="zh-TW" altLang="en-US" dirty="0"/>
              <a:t> </a:t>
            </a:r>
            <a:r>
              <a:rPr lang="en-US" altLang="zh-TW" dirty="0"/>
              <a:t>CNN </a:t>
            </a:r>
            <a:r>
              <a:rPr lang="zh-TW" altLang="en-US" dirty="0"/>
              <a:t>在所有空間位置共享同一套參數（即卷積濾鏡），這雖然保證了運算效率，但也限制了模型只能獲取局部資訊。如果想獲取全局視野，</a:t>
            </a:r>
            <a:r>
              <a:rPr lang="en-US" altLang="zh-TW" dirty="0"/>
              <a:t>CNN </a:t>
            </a:r>
            <a:r>
              <a:rPr lang="zh-TW" altLang="en-US" dirty="0"/>
              <a:t>必須透過加深網路層數來換取，這在處理複雜影像時效率較低。</a:t>
            </a:r>
            <a:endParaRPr lang="en-US" altLang="zh-TW" dirty="0"/>
          </a:p>
          <a:p>
            <a:endParaRPr lang="zh-TW" altLang="en-US" dirty="0"/>
          </a:p>
          <a:p>
            <a:r>
              <a:rPr lang="en-US" altLang="zh-TW" dirty="0" err="1"/>
              <a:t>ViT</a:t>
            </a:r>
            <a:r>
              <a:rPr lang="en-US" altLang="zh-TW" dirty="0"/>
              <a:t> </a:t>
            </a:r>
            <a:r>
              <a:rPr lang="zh-TW" altLang="en-US" dirty="0"/>
              <a:t>的成功證明了：</a:t>
            </a:r>
            <a:r>
              <a:rPr lang="en-US" altLang="zh-TW" b="1" dirty="0"/>
              <a:t>『</a:t>
            </a:r>
            <a:r>
              <a:rPr lang="zh-TW" altLang="en-US" b="1" dirty="0"/>
              <a:t>全域上下文</a:t>
            </a:r>
            <a:r>
              <a:rPr lang="en-US" altLang="zh-TW" b="1" dirty="0"/>
              <a:t>』</a:t>
            </a:r>
            <a:r>
              <a:rPr lang="zh-TW" altLang="en-US" b="1" dirty="0"/>
              <a:t>與</a:t>
            </a:r>
            <a:r>
              <a:rPr lang="en-US" altLang="zh-TW" b="1" dirty="0"/>
              <a:t>『</a:t>
            </a:r>
            <a:r>
              <a:rPr lang="zh-TW" altLang="en-US" b="1" dirty="0"/>
              <a:t>依賴輸入內容的動態權重</a:t>
            </a:r>
            <a:r>
              <a:rPr lang="en-US" altLang="zh-TW" b="1" dirty="0"/>
              <a:t>』</a:t>
            </a:r>
            <a:r>
              <a:rPr lang="zh-TW" altLang="en-US" b="1" dirty="0"/>
              <a:t>，是提升視覺表示學習性能的關鍵。</a:t>
            </a:r>
            <a:r>
              <a:rPr lang="zh-TW" altLang="en-US" dirty="0"/>
              <a:t> 而我們今天要討論的 </a:t>
            </a:r>
            <a:r>
              <a:rPr lang="en-US" altLang="zh-TW" dirty="0"/>
              <a:t>Vision Mamba</a:t>
            </a:r>
            <a:r>
              <a:rPr lang="zh-TW" altLang="en-US" dirty="0"/>
              <a:t>，就是試圖在保留這種全域優勢的同時，克服 </a:t>
            </a:r>
            <a:r>
              <a:rPr lang="en-US" altLang="zh-TW" dirty="0" err="1"/>
              <a:t>ViT</a:t>
            </a:r>
            <a:r>
              <a:rPr lang="en-US" altLang="zh-TW" dirty="0"/>
              <a:t> </a:t>
            </a:r>
            <a:r>
              <a:rPr lang="zh-TW" altLang="en-US" dirty="0"/>
              <a:t>運算量過大的問題。</a:t>
            </a:r>
          </a:p>
          <a:p>
            <a:endParaRPr lang="en-US" altLang="zh-TW"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D1891B92-471F-E0EE-A015-1FFDFD232DD6}"/>
              </a:ext>
            </a:extLst>
          </p:cNvPr>
          <p:cNvSpPr>
            <a:spLocks noGrp="1"/>
          </p:cNvSpPr>
          <p:nvPr>
            <p:ph type="sldNum" sz="quarter" idx="5"/>
          </p:nvPr>
        </p:nvSpPr>
        <p:spPr/>
        <p:txBody>
          <a:bodyPr/>
          <a:lstStyle/>
          <a:p>
            <a:fld id="{4FFC9C8E-8CA7-443A-832F-F0F3F7A96022}" type="slidenum">
              <a:rPr lang="zh-TW" altLang="en-US" smtClean="0"/>
              <a:t>4</a:t>
            </a:fld>
            <a:endParaRPr lang="zh-TW" altLang="en-US"/>
          </a:p>
        </p:txBody>
      </p:sp>
    </p:spTree>
    <p:extLst>
      <p:ext uri="{BB962C8B-B14F-4D97-AF65-F5344CB8AC3E}">
        <p14:creationId xmlns:p14="http://schemas.microsoft.com/office/powerpoint/2010/main" val="2665058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5FDD-BAAA-9ECA-7C40-0896F9F1FB4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337AE12-09C6-7983-06AB-FB3CAF3C903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D90D58A-7B53-1DD9-E66F-0D316854706D}"/>
              </a:ext>
            </a:extLst>
          </p:cNvPr>
          <p:cNvSpPr>
            <a:spLocks noGrp="1"/>
          </p:cNvSpPr>
          <p:nvPr>
            <p:ph type="body" idx="1"/>
          </p:nvPr>
        </p:nvSpPr>
        <p:spPr/>
        <p:txBody>
          <a:bodyPr/>
          <a:lstStyle/>
          <a:p>
            <a:r>
              <a:rPr lang="en-US" altLang="zh-TW" dirty="0"/>
              <a:t>Mamba </a:t>
            </a:r>
            <a:r>
              <a:rPr lang="zh-TW" altLang="en-US" dirty="0"/>
              <a:t>在自然語言處理（</a:t>
            </a:r>
            <a:r>
              <a:rPr lang="en-US" altLang="zh-TW" dirty="0"/>
              <a:t>NLP</a:t>
            </a:r>
            <a:r>
              <a:rPr lang="zh-TW" altLang="en-US" dirty="0"/>
              <a:t>）領域取得了巨大的成功。於是作者就在想</a:t>
            </a:r>
            <a:r>
              <a:rPr lang="zh-TW" altLang="en-US" b="1" dirty="0"/>
              <a:t>能不能把 </a:t>
            </a:r>
            <a:r>
              <a:rPr lang="en-US" altLang="zh-TW" b="1" dirty="0"/>
              <a:t>Mamba </a:t>
            </a:r>
            <a:r>
              <a:rPr lang="zh-TW" altLang="en-US" b="1" dirty="0"/>
              <a:t>的線性高效能，完美移植到電腦視覺（</a:t>
            </a:r>
            <a:r>
              <a:rPr lang="en-US" altLang="zh-TW" b="1" dirty="0"/>
              <a:t>CV</a:t>
            </a:r>
            <a:r>
              <a:rPr lang="zh-TW" altLang="en-US" b="1" dirty="0"/>
              <a:t>）領域？</a:t>
            </a:r>
            <a:r>
              <a:rPr lang="zh-TW" altLang="en-US" dirty="0"/>
              <a:t>語言文字是</a:t>
            </a:r>
            <a:r>
              <a:rPr lang="en-US" altLang="zh-TW" dirty="0"/>
              <a:t>『</a:t>
            </a:r>
            <a:r>
              <a:rPr lang="zh-TW" altLang="en-US" dirty="0"/>
              <a:t>一維單向</a:t>
            </a:r>
            <a:r>
              <a:rPr lang="en-US" altLang="zh-TW" dirty="0"/>
              <a:t>』</a:t>
            </a:r>
            <a:r>
              <a:rPr lang="zh-TW" altLang="en-US" dirty="0"/>
              <a:t>的（由左到右），但圖片是</a:t>
            </a:r>
            <a:r>
              <a:rPr lang="en-US" altLang="zh-TW" dirty="0"/>
              <a:t>『</a:t>
            </a:r>
            <a:r>
              <a:rPr lang="zh-TW" altLang="en-US" dirty="0"/>
              <a:t>二維空間</a:t>
            </a:r>
            <a:r>
              <a:rPr lang="en-US" altLang="zh-TW" dirty="0"/>
              <a:t>』</a:t>
            </a:r>
            <a:r>
              <a:rPr lang="zh-TW" altLang="en-US" dirty="0"/>
              <a:t>的。如果只用單向掃描，模型根本看不懂圖片的上下空間關係。</a:t>
            </a:r>
            <a:endParaRPr lang="en-US" altLang="zh-TW" dirty="0"/>
          </a:p>
          <a:p>
            <a:r>
              <a:rPr lang="en-US" altLang="zh-TW" dirty="0"/>
              <a:t>Mamba </a:t>
            </a:r>
            <a:r>
              <a:rPr lang="zh-TW" altLang="en-US" dirty="0"/>
              <a:t>缺乏對空間位置的感知能力</a:t>
            </a:r>
            <a:endParaRPr lang="en-US" altLang="zh-TW" dirty="0"/>
          </a:p>
          <a:p>
            <a:endParaRPr lang="en-US" altLang="zh-TW" dirty="0"/>
          </a:p>
          <a:p>
            <a:r>
              <a:rPr lang="zh-TW" altLang="en-US" dirty="0"/>
              <a:t>為了解決這些痛點，本篇論文的主角</a:t>
            </a:r>
            <a:r>
              <a:rPr lang="en-US" altLang="zh-TW" dirty="0"/>
              <a:t>——</a:t>
            </a:r>
            <a:r>
              <a:rPr lang="en-US" altLang="zh-TW" b="1" dirty="0"/>
              <a:t>Vim (Vision Mamba)</a:t>
            </a:r>
            <a:r>
              <a:rPr lang="zh-TW" altLang="en-US" dirty="0"/>
              <a:t> 誕生了！ 它是視覺領域第一個專門為密集預測任務（</a:t>
            </a:r>
            <a:r>
              <a:rPr lang="en-US" altLang="zh-TW" dirty="0"/>
              <a:t>Dense Prediction</a:t>
            </a:r>
            <a:r>
              <a:rPr lang="zh-TW" altLang="en-US" dirty="0"/>
              <a:t>）打造的**</a:t>
            </a:r>
            <a:r>
              <a:rPr lang="en-US" altLang="zh-TW" dirty="0"/>
              <a:t>『</a:t>
            </a:r>
            <a:r>
              <a:rPr lang="zh-TW" altLang="en-US" dirty="0"/>
              <a:t>純 </a:t>
            </a:r>
            <a:r>
              <a:rPr lang="en-US" altLang="zh-TW" dirty="0"/>
              <a:t>SSM </a:t>
            </a:r>
            <a:r>
              <a:rPr lang="zh-TW" altLang="en-US" dirty="0"/>
              <a:t>通用骨幹網路</a:t>
            </a:r>
            <a:r>
              <a:rPr lang="en-US" altLang="zh-TW" dirty="0"/>
              <a:t>』</a:t>
            </a:r>
          </a:p>
          <a:p>
            <a:endParaRPr lang="en-US" altLang="zh-TW" sz="1200" b="0" i="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為了解決這些痛點，本篇論文的主角</a:t>
            </a:r>
            <a:r>
              <a:rPr lang="en-US" altLang="zh-TW" sz="1200" kern="1200" dirty="0">
                <a:solidFill>
                  <a:schemeClr val="tx1"/>
                </a:solidFill>
                <a:effectLst/>
                <a:latin typeface="+mn-lt"/>
                <a:ea typeface="+mn-ea"/>
                <a:cs typeface="+mn-cs"/>
              </a:rPr>
              <a:t>——</a:t>
            </a:r>
            <a:r>
              <a:rPr lang="en-US" altLang="zh-TW" sz="1200" b="1" kern="1200" dirty="0">
                <a:solidFill>
                  <a:schemeClr val="tx1"/>
                </a:solidFill>
                <a:effectLst/>
                <a:latin typeface="+mn-lt"/>
                <a:ea typeface="+mn-ea"/>
                <a:cs typeface="+mn-cs"/>
              </a:rPr>
              <a:t>Vim (Vision Mamba)</a:t>
            </a:r>
            <a:r>
              <a:rPr lang="zh-TW" altLang="en-US" sz="1200" kern="1200" dirty="0">
                <a:solidFill>
                  <a:schemeClr val="tx1"/>
                </a:solidFill>
                <a:effectLst/>
                <a:latin typeface="+mn-lt"/>
                <a:ea typeface="+mn-ea"/>
                <a:cs typeface="+mn-cs"/>
              </a:rPr>
              <a:t> ！</a:t>
            </a:r>
          </a:p>
          <a:p>
            <a:r>
              <a:rPr lang="zh-TW" altLang="en-US" sz="1200" kern="1200" dirty="0">
                <a:solidFill>
                  <a:schemeClr val="tx1"/>
                </a:solidFill>
                <a:effectLst/>
                <a:latin typeface="+mn-lt"/>
                <a:ea typeface="+mn-ea"/>
                <a:cs typeface="+mn-cs"/>
              </a:rPr>
              <a:t>它是視覺領域第一個專門為密集預測任務（</a:t>
            </a:r>
            <a:r>
              <a:rPr lang="en-US" altLang="zh-TW" sz="1200" kern="1200" dirty="0">
                <a:solidFill>
                  <a:schemeClr val="tx1"/>
                </a:solidFill>
                <a:effectLst/>
                <a:latin typeface="+mn-lt"/>
                <a:ea typeface="+mn-ea"/>
                <a:cs typeface="+mn-cs"/>
              </a:rPr>
              <a:t>Dense Prediction</a:t>
            </a:r>
            <a:r>
              <a:rPr lang="zh-TW" altLang="en-US" sz="1200" kern="1200" dirty="0">
                <a:solidFill>
                  <a:schemeClr val="tx1"/>
                </a:solidFill>
                <a:effectLst/>
                <a:latin typeface="+mn-lt"/>
                <a:ea typeface="+mn-ea"/>
                <a:cs typeface="+mn-cs"/>
              </a:rPr>
              <a:t>）打造的**</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純 </a:t>
            </a:r>
            <a:r>
              <a:rPr lang="en-US" altLang="zh-TW" sz="1200" kern="1200" dirty="0">
                <a:solidFill>
                  <a:schemeClr val="tx1"/>
                </a:solidFill>
                <a:effectLst/>
                <a:latin typeface="+mn-lt"/>
                <a:ea typeface="+mn-ea"/>
                <a:cs typeface="+mn-cs"/>
              </a:rPr>
              <a:t>SSM </a:t>
            </a:r>
            <a:r>
              <a:rPr lang="zh-TW" altLang="en-US" sz="1200" kern="1200" dirty="0">
                <a:solidFill>
                  <a:schemeClr val="tx1"/>
                </a:solidFill>
                <a:effectLst/>
                <a:latin typeface="+mn-lt"/>
                <a:ea typeface="+mn-ea"/>
                <a:cs typeface="+mn-cs"/>
              </a:rPr>
              <a:t>通用骨幹網路</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p>
          <a:p>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不僅克服了空間建模的挑戰，在 </a:t>
            </a:r>
            <a:r>
              <a:rPr lang="en-US" altLang="zh-TW" sz="1200" kern="1200" dirty="0">
                <a:solidFill>
                  <a:schemeClr val="tx1"/>
                </a:solidFill>
                <a:effectLst/>
                <a:latin typeface="+mn-lt"/>
                <a:ea typeface="+mn-ea"/>
                <a:cs typeface="+mn-cs"/>
              </a:rPr>
              <a:t>ImageNet </a:t>
            </a:r>
            <a:r>
              <a:rPr lang="zh-TW" altLang="en-US" sz="1200" kern="1200" dirty="0">
                <a:solidFill>
                  <a:schemeClr val="tx1"/>
                </a:solidFill>
                <a:effectLst/>
                <a:latin typeface="+mn-lt"/>
                <a:ea typeface="+mn-ea"/>
                <a:cs typeface="+mn-cs"/>
              </a:rPr>
              <a:t>的分類任務上，</a:t>
            </a:r>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正面擊敗了目前最具代表性的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模型（也就是 </a:t>
            </a:r>
            <a:r>
              <a:rPr lang="en-US" altLang="zh-TW" sz="1200" kern="1200" dirty="0" err="1">
                <a:solidFill>
                  <a:schemeClr val="tx1"/>
                </a:solidFill>
                <a:effectLst/>
                <a:latin typeface="+mn-lt"/>
                <a:ea typeface="+mn-ea"/>
                <a:cs typeface="+mn-cs"/>
              </a:rPr>
              <a:t>DeiT</a:t>
            </a:r>
            <a:r>
              <a:rPr lang="zh-TW" altLang="en-US" sz="1200" kern="1200" dirty="0">
                <a:solidFill>
                  <a:schemeClr val="tx1"/>
                </a:solidFill>
                <a:effectLst/>
                <a:latin typeface="+mn-lt"/>
                <a:ea typeface="+mn-ea"/>
                <a:cs typeface="+mn-cs"/>
              </a:rPr>
              <a:t>）。當 </a:t>
            </a:r>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在處理**</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高解析度圖片</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時，無論是記憶體消耗還是推論速度，都展現出了碾壓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的效率！」</a:t>
            </a:r>
          </a:p>
          <a:p>
            <a:endParaRPr lang="en-US" altLang="zh-TW"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A76B1B05-E4F7-FE3C-060D-51463CC0D06F}"/>
              </a:ext>
            </a:extLst>
          </p:cNvPr>
          <p:cNvSpPr>
            <a:spLocks noGrp="1"/>
          </p:cNvSpPr>
          <p:nvPr>
            <p:ph type="sldNum" sz="quarter" idx="5"/>
          </p:nvPr>
        </p:nvSpPr>
        <p:spPr/>
        <p:txBody>
          <a:bodyPr/>
          <a:lstStyle/>
          <a:p>
            <a:fld id="{4FFC9C8E-8CA7-443A-832F-F0F3F7A96022}" type="slidenum">
              <a:rPr lang="zh-TW" altLang="en-US" smtClean="0"/>
              <a:t>5</a:t>
            </a:fld>
            <a:endParaRPr lang="zh-TW" altLang="en-US"/>
          </a:p>
        </p:txBody>
      </p:sp>
    </p:spTree>
    <p:extLst>
      <p:ext uri="{BB962C8B-B14F-4D97-AF65-F5344CB8AC3E}">
        <p14:creationId xmlns:p14="http://schemas.microsoft.com/office/powerpoint/2010/main" val="2743320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20D26-2FF2-6AFE-6AC8-2909DCD194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559A7C1-8B80-1EC1-C0B2-EA4D15D883F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F5C683-BB22-A471-985F-1A0BBBBD381E}"/>
              </a:ext>
            </a:extLst>
          </p:cNvPr>
          <p:cNvSpPr>
            <a:spLocks noGrp="1"/>
          </p:cNvSpPr>
          <p:nvPr>
            <p:ph type="body" idx="1"/>
          </p:nvPr>
        </p:nvSpPr>
        <p:spPr/>
        <p:txBody>
          <a:bodyPr/>
          <a:lstStyle/>
          <a:p>
            <a:r>
              <a:rPr lang="en-US" altLang="zh-TW" dirty="0"/>
              <a:t>Vim </a:t>
            </a:r>
            <a:r>
              <a:rPr lang="zh-TW" altLang="en-US" dirty="0"/>
              <a:t>成功將雙向 </a:t>
            </a:r>
            <a:r>
              <a:rPr lang="en-US" altLang="zh-TW" dirty="0"/>
              <a:t>SSM </a:t>
            </a:r>
            <a:r>
              <a:rPr lang="zh-TW" altLang="en-US" dirty="0"/>
              <a:t>與位置嵌入 </a:t>
            </a:r>
            <a:r>
              <a:rPr lang="en-US" altLang="zh-TW" dirty="0"/>
              <a:t>(Position Embeddings) </a:t>
            </a:r>
            <a:r>
              <a:rPr lang="zh-TW" altLang="en-US" dirty="0"/>
              <a:t>結合。這代表它完全拋棄了吃資源的 </a:t>
            </a:r>
            <a:r>
              <a:rPr lang="en-US" altLang="zh-TW" dirty="0"/>
              <a:t>Attention </a:t>
            </a:r>
            <a:r>
              <a:rPr lang="zh-TW" altLang="en-US" dirty="0"/>
              <a:t>機制，卻依然能像 </a:t>
            </a:r>
            <a:r>
              <a:rPr lang="en-US" altLang="zh-TW" dirty="0" err="1"/>
              <a:t>ViT</a:t>
            </a:r>
            <a:r>
              <a:rPr lang="en-US" altLang="zh-TW" dirty="0"/>
              <a:t> </a:t>
            </a:r>
            <a:r>
              <a:rPr lang="zh-TW" altLang="en-US" dirty="0"/>
              <a:t>一樣，做到 </a:t>
            </a:r>
            <a:r>
              <a:rPr lang="en-US" altLang="zh-TW" dirty="0"/>
              <a:t>Data-dependent </a:t>
            </a:r>
            <a:r>
              <a:rPr lang="zh-TW" altLang="en-US" dirty="0"/>
              <a:t>的全局視野與空間感知。</a:t>
            </a:r>
            <a:endParaRPr lang="en-US" altLang="zh-TW" dirty="0"/>
          </a:p>
          <a:p>
            <a:endParaRPr lang="en-US" altLang="zh-TW" dirty="0"/>
          </a:p>
          <a:p>
            <a:r>
              <a:rPr lang="zh-TW" altLang="en-US" dirty="0"/>
              <a:t>在處理 </a:t>
            </a:r>
            <a:r>
              <a:rPr lang="en-US" altLang="zh-TW" sz="1200" kern="1200" dirty="0">
                <a:solidFill>
                  <a:schemeClr val="tx1"/>
                </a:solidFill>
                <a:effectLst/>
                <a:latin typeface="+mn-lt"/>
                <a:ea typeface="+mn-ea"/>
                <a:cs typeface="+mn-cs"/>
              </a:rPr>
              <a:t>1248 x 1248</a:t>
            </a:r>
            <a:r>
              <a:rPr lang="zh-TW" altLang="en-US" dirty="0"/>
              <a:t> 這種超高解析度的圖片時，</a:t>
            </a:r>
            <a:r>
              <a:rPr lang="en-US" altLang="zh-TW" dirty="0"/>
              <a:t>Vim </a:t>
            </a:r>
            <a:r>
              <a:rPr lang="zh-TW" altLang="en-US" dirty="0"/>
              <a:t>不僅推論速度比 </a:t>
            </a:r>
            <a:r>
              <a:rPr lang="en-US" altLang="zh-TW" dirty="0" err="1"/>
              <a:t>DeiT</a:t>
            </a:r>
            <a:r>
              <a:rPr lang="en-US" altLang="zh-TW" dirty="0"/>
              <a:t> </a:t>
            </a:r>
            <a:r>
              <a:rPr lang="zh-TW" altLang="en-US" dirty="0"/>
              <a:t>更快，它甚至</a:t>
            </a:r>
            <a:r>
              <a:rPr lang="zh-TW" altLang="en-US" sz="1200" b="1" kern="1200" dirty="0">
                <a:solidFill>
                  <a:schemeClr val="tx1"/>
                </a:solidFill>
                <a:effectLst/>
                <a:latin typeface="+mn-lt"/>
                <a:ea typeface="+mn-ea"/>
                <a:cs typeface="+mn-cs"/>
              </a:rPr>
              <a:t>大幅節省了 </a:t>
            </a:r>
            <a:r>
              <a:rPr lang="en-US" altLang="zh-TW" sz="1200" b="1" kern="1200" dirty="0">
                <a:solidFill>
                  <a:schemeClr val="tx1"/>
                </a:solidFill>
                <a:effectLst/>
                <a:latin typeface="+mn-lt"/>
                <a:ea typeface="+mn-ea"/>
                <a:cs typeface="+mn-cs"/>
              </a:rPr>
              <a:t>86.8% </a:t>
            </a:r>
            <a:r>
              <a:rPr lang="zh-TW" altLang="en-US" sz="1200" b="1" kern="1200" dirty="0">
                <a:solidFill>
                  <a:schemeClr val="tx1"/>
                </a:solidFill>
                <a:effectLst/>
                <a:latin typeface="+mn-lt"/>
                <a:ea typeface="+mn-ea"/>
                <a:cs typeface="+mn-cs"/>
              </a:rPr>
              <a:t>的 </a:t>
            </a:r>
            <a:r>
              <a:rPr lang="en-US" altLang="zh-TW" sz="1200" b="1" kern="1200" dirty="0">
                <a:solidFill>
                  <a:schemeClr val="tx1"/>
                </a:solidFill>
                <a:effectLst/>
                <a:latin typeface="+mn-lt"/>
                <a:ea typeface="+mn-ea"/>
                <a:cs typeface="+mn-cs"/>
              </a:rPr>
              <a:t>GPU </a:t>
            </a:r>
            <a:r>
              <a:rPr lang="zh-TW" altLang="en-US" sz="1200" b="1" kern="1200" dirty="0">
                <a:solidFill>
                  <a:schemeClr val="tx1"/>
                </a:solidFill>
                <a:effectLst/>
                <a:latin typeface="+mn-lt"/>
                <a:ea typeface="+mn-ea"/>
                <a:cs typeface="+mn-cs"/>
              </a:rPr>
              <a:t>記憶體！</a:t>
            </a:r>
            <a:r>
              <a:rPr lang="zh-TW" altLang="en-US" dirty="0"/>
              <a:t> 這徹底解決了 </a:t>
            </a:r>
            <a:r>
              <a:rPr lang="en-US" altLang="zh-TW" dirty="0"/>
              <a:t>Transformer </a:t>
            </a:r>
            <a:r>
              <a:rPr lang="zh-TW" altLang="en-US" dirty="0"/>
              <a:t>在高解析度下的硬體瓶頸。</a:t>
            </a:r>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D216C04D-94A6-9B18-610A-747B60162067}"/>
              </a:ext>
            </a:extLst>
          </p:cNvPr>
          <p:cNvSpPr>
            <a:spLocks noGrp="1"/>
          </p:cNvSpPr>
          <p:nvPr>
            <p:ph type="sldNum" sz="quarter" idx="5"/>
          </p:nvPr>
        </p:nvSpPr>
        <p:spPr/>
        <p:txBody>
          <a:bodyPr/>
          <a:lstStyle/>
          <a:p>
            <a:fld id="{4FFC9C8E-8CA7-443A-832F-F0F3F7A96022}" type="slidenum">
              <a:rPr lang="zh-TW" altLang="en-US" smtClean="0"/>
              <a:t>6</a:t>
            </a:fld>
            <a:endParaRPr lang="zh-TW" altLang="en-US"/>
          </a:p>
        </p:txBody>
      </p:sp>
    </p:spTree>
    <p:extLst>
      <p:ext uri="{BB962C8B-B14F-4D97-AF65-F5344CB8AC3E}">
        <p14:creationId xmlns:p14="http://schemas.microsoft.com/office/powerpoint/2010/main" val="3988241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雖然 </a:t>
            </a:r>
            <a:r>
              <a:rPr lang="en-US" altLang="zh-TW" sz="1200" b="1" kern="1200" dirty="0" err="1">
                <a:solidFill>
                  <a:schemeClr val="tx1"/>
                </a:solidFill>
                <a:effectLst/>
                <a:latin typeface="+mn-lt"/>
                <a:ea typeface="+mn-ea"/>
                <a:cs typeface="+mn-cs"/>
              </a:rPr>
              <a:t>ViT</a:t>
            </a:r>
            <a:r>
              <a:rPr lang="zh-TW" altLang="en-US" sz="1200" kern="1200" dirty="0">
                <a:solidFill>
                  <a:schemeClr val="tx1"/>
                </a:solidFill>
                <a:effectLst/>
                <a:latin typeface="+mn-lt"/>
                <a:ea typeface="+mn-ea"/>
                <a:cs typeface="+mn-cs"/>
              </a:rPr>
              <a:t> 憑藉統一的表徵能力在多模態領域佔據主導地位並且都是統一表現的型態向是一個</a:t>
            </a:r>
            <a:r>
              <a:rPr lang="en-US" altLang="zh-TW" sz="1200" kern="1200" dirty="0">
                <a:solidFill>
                  <a:schemeClr val="tx1"/>
                </a:solidFill>
                <a:effectLst/>
                <a:latin typeface="+mn-lt"/>
                <a:ea typeface="+mn-ea"/>
                <a:cs typeface="+mn-cs"/>
              </a:rPr>
              <a:t>sequence</a:t>
            </a:r>
            <a:r>
              <a:rPr lang="zh-TW" altLang="en-US" sz="1200" kern="1200" dirty="0">
                <a:solidFill>
                  <a:schemeClr val="tx1"/>
                </a:solidFill>
                <a:effectLst/>
                <a:latin typeface="+mn-lt"/>
                <a:ea typeface="+mn-ea"/>
                <a:cs typeface="+mn-cs"/>
              </a:rPr>
              <a:t>序列的方式，但其 </a:t>
            </a:r>
            <a:r>
              <a:rPr lang="en-US" altLang="zh-TW" sz="1200" b="1" kern="1200" dirty="0">
                <a:solidFill>
                  <a:schemeClr val="tx1"/>
                </a:solidFill>
                <a:effectLst/>
                <a:latin typeface="+mn-lt"/>
                <a:ea typeface="+mn-ea"/>
                <a:cs typeface="+mn-cs"/>
              </a:rPr>
              <a:t>$O(N^2)$ </a:t>
            </a:r>
            <a:r>
              <a:rPr lang="zh-TW" altLang="en-US" sz="1200" b="1" kern="1200" dirty="0">
                <a:solidFill>
                  <a:schemeClr val="tx1"/>
                </a:solidFill>
                <a:effectLst/>
                <a:latin typeface="+mn-lt"/>
                <a:ea typeface="+mn-ea"/>
                <a:cs typeface="+mn-cs"/>
              </a:rPr>
              <a:t>的計算複雜度</a:t>
            </a:r>
            <a:r>
              <a:rPr lang="zh-TW" altLang="en-US" sz="1200" kern="1200" dirty="0">
                <a:solidFill>
                  <a:schemeClr val="tx1"/>
                </a:solidFill>
                <a:effectLst/>
                <a:latin typeface="+mn-lt"/>
                <a:ea typeface="+mn-ea"/>
                <a:cs typeface="+mn-cs"/>
              </a:rPr>
              <a:t> 嚴重限制了在處理高解析度影像時的效率。為了優化這一點，像是 </a:t>
            </a:r>
            <a:r>
              <a:rPr lang="en-US" altLang="zh-TW" sz="1200" b="1" kern="1200" dirty="0" err="1">
                <a:solidFill>
                  <a:schemeClr val="tx1"/>
                </a:solidFill>
                <a:effectLst/>
                <a:latin typeface="+mn-lt"/>
                <a:ea typeface="+mn-ea"/>
                <a:cs typeface="+mn-cs"/>
              </a:rPr>
              <a:t>LongViT</a:t>
            </a:r>
            <a:r>
              <a:rPr lang="zh-TW" altLang="en-US" sz="1200" kern="1200" dirty="0">
                <a:solidFill>
                  <a:schemeClr val="tx1"/>
                </a:solidFill>
                <a:effectLst/>
                <a:latin typeface="+mn-lt"/>
                <a:ea typeface="+mn-ea"/>
                <a:cs typeface="+mn-cs"/>
              </a:rPr>
              <a:t> 嘗試透過擴張注意力機制將複雜度降至線性 </a:t>
            </a:r>
            <a:r>
              <a:rPr lang="en-US" altLang="zh-TW" sz="1200" kern="1200" dirty="0">
                <a:solidFill>
                  <a:schemeClr val="tx1"/>
                </a:solidFill>
                <a:effectLst/>
                <a:latin typeface="+mn-lt"/>
                <a:ea typeface="+mn-ea"/>
                <a:cs typeface="+mn-cs"/>
              </a:rPr>
              <a:t>$O(N)$</a:t>
            </a:r>
            <a:r>
              <a:rPr lang="zh-TW" altLang="en-US" sz="1200" kern="1200" dirty="0">
                <a:solidFill>
                  <a:schemeClr val="tx1"/>
                </a:solidFill>
                <a:effectLst/>
                <a:latin typeface="+mn-lt"/>
                <a:ea typeface="+mn-ea"/>
                <a:cs typeface="+mn-cs"/>
              </a:rPr>
              <a:t>，但其本質仍未脫離 </a:t>
            </a:r>
            <a:r>
              <a:rPr lang="en-US" altLang="zh-TW" sz="1200" kern="1200" dirty="0">
                <a:solidFill>
                  <a:schemeClr val="tx1"/>
                </a:solidFill>
                <a:effectLst/>
                <a:latin typeface="+mn-lt"/>
                <a:ea typeface="+mn-ea"/>
                <a:cs typeface="+mn-cs"/>
              </a:rPr>
              <a:t>Attention </a:t>
            </a:r>
            <a:r>
              <a:rPr lang="zh-TW" altLang="en-US" sz="1200" kern="1200" dirty="0">
                <a:solidFill>
                  <a:schemeClr val="tx1"/>
                </a:solidFill>
                <a:effectLst/>
                <a:latin typeface="+mn-lt"/>
                <a:ea typeface="+mn-ea"/>
                <a:cs typeface="+mn-cs"/>
              </a:rPr>
              <a:t>範疇。</a:t>
            </a: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而 </a:t>
            </a:r>
            <a:r>
              <a:rPr lang="en-US" altLang="zh-TW" sz="1200" b="1" kern="1200" dirty="0">
                <a:solidFill>
                  <a:schemeClr val="tx1"/>
                </a:solidFill>
                <a:effectLst/>
                <a:latin typeface="+mn-lt"/>
                <a:ea typeface="+mn-ea"/>
                <a:cs typeface="+mn-cs"/>
              </a:rPr>
              <a:t>Vision Mamba (Vim)</a:t>
            </a:r>
            <a:r>
              <a:rPr lang="zh-TW" altLang="en-US" sz="1200" kern="1200" dirty="0">
                <a:solidFill>
                  <a:schemeClr val="tx1"/>
                </a:solidFill>
                <a:effectLst/>
                <a:latin typeface="+mn-lt"/>
                <a:ea typeface="+mn-ea"/>
                <a:cs typeface="+mn-cs"/>
              </a:rPr>
              <a:t> 則是更徹底的變革。它是一個 </a:t>
            </a:r>
            <a:r>
              <a:rPr lang="en-US" altLang="zh-TW" sz="1200" b="1" kern="1200" dirty="0">
                <a:solidFill>
                  <a:schemeClr val="tx1"/>
                </a:solidFill>
                <a:effectLst/>
                <a:latin typeface="+mn-lt"/>
                <a:ea typeface="+mn-ea"/>
                <a:cs typeface="+mn-cs"/>
              </a:rPr>
              <a:t>Pure-SSM (</a:t>
            </a:r>
            <a:r>
              <a:rPr lang="zh-TW" altLang="en-US" sz="1200" b="1" kern="1200" dirty="0">
                <a:solidFill>
                  <a:schemeClr val="tx1"/>
                </a:solidFill>
                <a:effectLst/>
                <a:latin typeface="+mn-lt"/>
                <a:ea typeface="+mn-ea"/>
                <a:cs typeface="+mn-cs"/>
              </a:rPr>
              <a:t>純狀態空間模型</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 架構，完全捨棄了 </a:t>
            </a:r>
            <a:r>
              <a:rPr lang="en-US" altLang="zh-TW" sz="1200" kern="1200" dirty="0">
                <a:solidFill>
                  <a:schemeClr val="tx1"/>
                </a:solidFill>
                <a:effectLst/>
                <a:latin typeface="+mn-lt"/>
                <a:ea typeface="+mn-ea"/>
                <a:cs typeface="+mn-cs"/>
              </a:rPr>
              <a:t>Attention </a:t>
            </a:r>
            <a:r>
              <a:rPr lang="zh-TW" altLang="en-US" sz="1200" kern="1200" dirty="0">
                <a:solidFill>
                  <a:schemeClr val="tx1"/>
                </a:solidFill>
                <a:effectLst/>
                <a:latin typeface="+mn-lt"/>
                <a:ea typeface="+mn-ea"/>
                <a:cs typeface="+mn-cs"/>
              </a:rPr>
              <a:t>機制，實現了真正的線性運算複雜度。</a:t>
            </a:r>
          </a:p>
          <a:p>
            <a:endParaRPr lang="en-US" altLang="zh-TW" dirty="0"/>
          </a:p>
          <a:p>
            <a:r>
              <a:rPr lang="en-US" altLang="zh-TW" dirty="0" err="1"/>
              <a:t>VMamba</a:t>
            </a:r>
            <a:r>
              <a:rPr lang="en-US" altLang="zh-TW" dirty="0"/>
              <a:t> </a:t>
            </a:r>
            <a:r>
              <a:rPr lang="zh-TW" altLang="en-US" dirty="0"/>
              <a:t>採用了類似 </a:t>
            </a:r>
            <a:r>
              <a:rPr lang="en-US" altLang="zh-TW" dirty="0"/>
              <a:t>Swin Transformer </a:t>
            </a:r>
            <a:r>
              <a:rPr lang="zh-TW" altLang="en-US" dirty="0"/>
              <a:t>的層級式 </a:t>
            </a:r>
            <a:r>
              <a:rPr lang="en-US" altLang="zh-TW" dirty="0"/>
              <a:t>(Hierarchical) </a:t>
            </a:r>
            <a:r>
              <a:rPr lang="zh-TW" altLang="en-US" dirty="0"/>
              <a:t>設計，雖然對局部特徵有利，但架構較為複雜。 相較之下，</a:t>
            </a:r>
            <a:r>
              <a:rPr lang="en-US" altLang="zh-TW" b="1" dirty="0"/>
              <a:t>Vim </a:t>
            </a:r>
            <a:r>
              <a:rPr lang="zh-TW" altLang="en-US" b="1" dirty="0"/>
              <a:t>堅持採用非層級式的設計</a:t>
            </a:r>
            <a:r>
              <a:rPr lang="zh-TW" altLang="en-US" dirty="0"/>
              <a:t>，這不僅簡化了模型結構，更重要的是，它讓影像處理的邏輯與大型語言模型 </a:t>
            </a:r>
            <a:r>
              <a:rPr lang="en-US" altLang="zh-TW" dirty="0"/>
              <a:t>(LLMs) </a:t>
            </a:r>
            <a:r>
              <a:rPr lang="zh-TW" altLang="en-US" dirty="0"/>
              <a:t>的序列建模完全一致。這種原生的高相容性，讓 </a:t>
            </a:r>
            <a:r>
              <a:rPr lang="en-US" altLang="zh-TW" dirty="0"/>
              <a:t>Vim </a:t>
            </a:r>
            <a:r>
              <a:rPr lang="zh-TW" altLang="en-US" dirty="0"/>
              <a:t>在未來的大規模多模態訓練中，具備比層級式模型更強的擴展潛力與效率優勢。</a:t>
            </a:r>
            <a:endParaRPr lang="zh-TW" altLang="en-US" b="1" dirty="0"/>
          </a:p>
        </p:txBody>
      </p:sp>
      <p:sp>
        <p:nvSpPr>
          <p:cNvPr id="4" name="投影片編號版面配置區 3"/>
          <p:cNvSpPr>
            <a:spLocks noGrp="1"/>
          </p:cNvSpPr>
          <p:nvPr>
            <p:ph type="sldNum" sz="quarter" idx="5"/>
          </p:nvPr>
        </p:nvSpPr>
        <p:spPr/>
        <p:txBody>
          <a:bodyPr/>
          <a:lstStyle/>
          <a:p>
            <a:fld id="{4FFC9C8E-8CA7-443A-832F-F0F3F7A96022}" type="slidenum">
              <a:rPr lang="zh-TW" altLang="en-US" smtClean="0"/>
              <a:t>8</a:t>
            </a:fld>
            <a:endParaRPr lang="zh-TW" altLang="en-US"/>
          </a:p>
        </p:txBody>
      </p:sp>
    </p:spTree>
    <p:extLst>
      <p:ext uri="{BB962C8B-B14F-4D97-AF65-F5344CB8AC3E}">
        <p14:creationId xmlns:p14="http://schemas.microsoft.com/office/powerpoint/2010/main" val="2299681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0525B-CE1C-FFFB-2525-28C71207FD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9915561-D116-5C50-6731-9ED62953B6C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DF39F1E-368B-065C-4D5A-658C12558C1D}"/>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234E11A-3041-881C-EC5D-F712029754F3}"/>
              </a:ext>
            </a:extLst>
          </p:cNvPr>
          <p:cNvSpPr>
            <a:spLocks noGrp="1"/>
          </p:cNvSpPr>
          <p:nvPr>
            <p:ph type="sldNum" sz="quarter" idx="5"/>
          </p:nvPr>
        </p:nvSpPr>
        <p:spPr/>
        <p:txBody>
          <a:bodyPr/>
          <a:lstStyle/>
          <a:p>
            <a:fld id="{4FFC9C8E-8CA7-443A-832F-F0F3F7A96022}" type="slidenum">
              <a:rPr lang="zh-TW" altLang="en-US" smtClean="0"/>
              <a:t>10</a:t>
            </a:fld>
            <a:endParaRPr lang="zh-TW" altLang="en-US"/>
          </a:p>
        </p:txBody>
      </p:sp>
    </p:spTree>
    <p:extLst>
      <p:ext uri="{BB962C8B-B14F-4D97-AF65-F5344CB8AC3E}">
        <p14:creationId xmlns:p14="http://schemas.microsoft.com/office/powerpoint/2010/main" val="4130752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C2AAD-6E80-01CB-ADCD-5A4762E3729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77AD30E-E869-2BF6-AAC1-C6D222425E6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30F31DF-1E4D-7812-D228-7CCE6EFA243D}"/>
              </a:ext>
            </a:extLst>
          </p:cNvPr>
          <p:cNvSpPr>
            <a:spLocks noGrp="1"/>
          </p:cNvSpPr>
          <p:nvPr>
            <p:ph type="body" idx="1"/>
          </p:nvPr>
        </p:nvSpPr>
        <p:spPr/>
        <p:txBody>
          <a:bodyPr/>
          <a:lstStyle/>
          <a:p>
            <a:r>
              <a:rPr lang="en-US" altLang="zh-TW" sz="1200" kern="1200" dirty="0">
                <a:solidFill>
                  <a:schemeClr val="tx1"/>
                </a:solidFill>
                <a:latin typeface="+mn-lt"/>
                <a:ea typeface="+mn-ea"/>
                <a:cs typeface="+mn-cs"/>
              </a:rPr>
              <a:t>Class  </a:t>
            </a:r>
            <a:r>
              <a:rPr lang="en-US" altLang="zh-TW" dirty="0"/>
              <a:t>Token </a:t>
            </a:r>
            <a:r>
              <a:rPr lang="zh-TW" altLang="en-US" dirty="0"/>
              <a:t>就是一個專屬的「全域特徵收集器」，它跟著圖片序列一起經歷運算，最終負責代表整張圖片，給出最終的分類答案。</a:t>
            </a:r>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6FDA9154-1117-7B35-678F-D80E115C8E94}"/>
              </a:ext>
            </a:extLst>
          </p:cNvPr>
          <p:cNvSpPr>
            <a:spLocks noGrp="1"/>
          </p:cNvSpPr>
          <p:nvPr>
            <p:ph type="sldNum" sz="quarter" idx="5"/>
          </p:nvPr>
        </p:nvSpPr>
        <p:spPr/>
        <p:txBody>
          <a:bodyPr/>
          <a:lstStyle/>
          <a:p>
            <a:fld id="{4FFC9C8E-8CA7-443A-832F-F0F3F7A96022}" type="slidenum">
              <a:rPr lang="zh-TW" altLang="en-US" smtClean="0"/>
              <a:t>11</a:t>
            </a:fld>
            <a:endParaRPr lang="zh-TW" altLang="en-US"/>
          </a:p>
        </p:txBody>
      </p:sp>
    </p:spTree>
    <p:extLst>
      <p:ext uri="{BB962C8B-B14F-4D97-AF65-F5344CB8AC3E}">
        <p14:creationId xmlns:p14="http://schemas.microsoft.com/office/powerpoint/2010/main" val="358530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383AB-30ED-DC07-5ECF-DD7D02F2CB8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BB048D0-B150-6BA0-7F44-542D08AE23E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8C7EE0D-5EB8-DCA1-B16C-BC7FF0FA99D2}"/>
              </a:ext>
            </a:extLst>
          </p:cNvPr>
          <p:cNvSpPr>
            <a:spLocks noGrp="1"/>
          </p:cNvSpPr>
          <p:nvPr>
            <p:ph type="body" idx="1"/>
          </p:nvPr>
        </p:nvSpPr>
        <p:spPr/>
        <p:txBody>
          <a:bodyPr/>
          <a:lstStyle/>
          <a:p>
            <a:r>
              <a:rPr lang="en-US" altLang="zh-TW" dirty="0"/>
              <a:t>SSM </a:t>
            </a:r>
            <a:r>
              <a:rPr lang="zh-TW" altLang="en-US" dirty="0"/>
              <a:t>是一種「會記憶的神經網路層」</a:t>
            </a:r>
            <a:r>
              <a:rPr lang="en-US" altLang="zh-TW" dirty="0"/>
              <a:t>,</a:t>
            </a:r>
            <a:r>
              <a:rPr lang="zh-TW" altLang="en-US" dirty="0"/>
              <a:t>把整個序列壓成一個固定大小的記憶</a:t>
            </a:r>
            <a:r>
              <a:rPr lang="en-US" altLang="zh-TW" dirty="0"/>
              <a:t>,</a:t>
            </a:r>
            <a:r>
              <a:rPr lang="zh-TW" altLang="en-US" dirty="0"/>
              <a:t>讓每個位置都能看到前面所有位置的資訊</a:t>
            </a:r>
            <a:r>
              <a:rPr lang="en-US" altLang="zh-TW" dirty="0"/>
              <a:t>,</a:t>
            </a:r>
            <a:r>
              <a:rPr lang="zh-TW" altLang="en-US" dirty="0"/>
              <a:t>但計算量只跟序列長度成正比。</a:t>
            </a:r>
            <a:endParaRPr lang="en-US" altLang="zh-TW" dirty="0"/>
          </a:p>
          <a:p>
            <a:r>
              <a:rPr lang="zh-TW" altLang="en-US" dirty="0"/>
              <a:t>目標</a:t>
            </a:r>
            <a:r>
              <a:rPr lang="en-US" altLang="zh-TW" dirty="0"/>
              <a:t>:</a:t>
            </a:r>
            <a:r>
              <a:rPr lang="zh-TW" altLang="en-US" dirty="0"/>
              <a:t>做一個能「記住過去」的神經網路層。                                                                                                                                                  </a:t>
            </a:r>
          </a:p>
          <a:p>
            <a:r>
              <a:rPr lang="en-US" altLang="zh-TW" dirty="0"/>
              <a:t>Vision Mamba </a:t>
            </a:r>
            <a:r>
              <a:rPr lang="zh-TW" altLang="en-US" dirty="0"/>
              <a:t>處理影像的方式，是先把整張圖切成 </a:t>
            </a:r>
            <a:r>
              <a:rPr lang="en-US" altLang="zh-TW" dirty="0"/>
              <a:t>196 </a:t>
            </a:r>
            <a:r>
              <a:rPr lang="zh-TW" altLang="en-US" dirty="0"/>
              <a:t>個 </a:t>
            </a:r>
            <a:r>
              <a:rPr lang="en-US" altLang="zh-TW" dirty="0"/>
              <a:t>patch</a:t>
            </a:r>
            <a:r>
              <a:rPr lang="zh-TW" altLang="en-US" dirty="0"/>
              <a:t>，按掃描順序攤平成一條序列。每個 </a:t>
            </a:r>
            <a:r>
              <a:rPr lang="en-US" altLang="zh-TW" dirty="0"/>
              <a:t>patch </a:t>
            </a:r>
            <a:r>
              <a:rPr lang="zh-TW" altLang="en-US" dirty="0"/>
              <a:t>用 </a:t>
            </a:r>
            <a:r>
              <a:rPr lang="en-US" altLang="zh-TW" dirty="0"/>
              <a:t>$</a:t>
            </a:r>
            <a:r>
              <a:rPr lang="en-US" altLang="zh-TW" dirty="0" err="1"/>
              <a:t>x_t</a:t>
            </a:r>
            <a:r>
              <a:rPr lang="en-US" altLang="zh-TW" dirty="0"/>
              <a:t>$ </a:t>
            </a:r>
            <a:r>
              <a:rPr lang="zh-TW" altLang="en-US" dirty="0"/>
              <a:t>表示，代表第 </a:t>
            </a:r>
            <a:r>
              <a:rPr lang="en-US" altLang="zh-TW" dirty="0"/>
              <a:t>t </a:t>
            </a:r>
            <a:r>
              <a:rPr lang="zh-TW" altLang="en-US" dirty="0"/>
              <a:t>個 </a:t>
            </a:r>
            <a:r>
              <a:rPr lang="en-US" altLang="zh-TW" dirty="0"/>
              <a:t>patch </a:t>
            </a:r>
            <a:r>
              <a:rPr lang="zh-TW" altLang="en-US" dirty="0"/>
              <a:t>的特徵向量。                                                                                                                         </a:t>
            </a:r>
            <a:endParaRPr lang="en-US" altLang="zh-TW" dirty="0"/>
          </a:p>
          <a:p>
            <a:endParaRPr lang="en-US" altLang="zh-TW" dirty="0"/>
          </a:p>
          <a:p>
            <a:r>
              <a:rPr lang="en-US" altLang="zh-TW" dirty="0"/>
              <a:t>SSM </a:t>
            </a:r>
            <a:r>
              <a:rPr lang="zh-TW" altLang="en-US" dirty="0"/>
              <a:t>接下來要做的事，就是沿著這條序列一個一個 </a:t>
            </a:r>
            <a:r>
              <a:rPr lang="en-US" altLang="zh-TW" dirty="0"/>
              <a:t>patch </a:t>
            </a:r>
            <a:r>
              <a:rPr lang="zh-TW" altLang="en-US" dirty="0"/>
              <a:t>掃過去，每掃過一個 </a:t>
            </a:r>
            <a:r>
              <a:rPr lang="en-US" altLang="zh-TW" dirty="0"/>
              <a:t>patch </a:t>
            </a:r>
            <a:r>
              <a:rPr lang="zh-TW" altLang="en-US" dirty="0"/>
              <a:t>就更新一次內部記憶，並產生這個 </a:t>
            </a:r>
            <a:r>
              <a:rPr lang="en-US" altLang="zh-TW" dirty="0"/>
              <a:t>patch </a:t>
            </a:r>
            <a:r>
              <a:rPr lang="zh-TW" altLang="en-US" dirty="0"/>
              <a:t>的輸出。</a:t>
            </a:r>
            <a:endParaRPr lang="en-US" altLang="zh-TW" dirty="0"/>
          </a:p>
          <a:p>
            <a:r>
              <a:rPr lang="en-US" altLang="zh-TW" dirty="0"/>
              <a:t>Hidden State : State dimension</a:t>
            </a:r>
            <a:r>
              <a:rPr lang="zh-TW" altLang="en-US" dirty="0"/>
              <a:t>此狀態壓縮了該 </a:t>
            </a:r>
            <a:r>
              <a:rPr lang="en-US" altLang="zh-TW" dirty="0"/>
              <a:t>channel </a:t>
            </a:r>
            <a:r>
              <a:rPr lang="zh-TW" altLang="en-US" dirty="0"/>
              <a:t>從序列起點到當前 </a:t>
            </a:r>
            <a:r>
              <a:rPr lang="en-US" altLang="zh-TW" dirty="0"/>
              <a:t>patch </a:t>
            </a:r>
            <a:r>
              <a:rPr lang="zh-TW" altLang="en-US" dirty="0"/>
              <a:t>的所有歷史資訊。</a:t>
            </a:r>
            <a:endParaRPr lang="en-US" altLang="zh-TW" dirty="0"/>
          </a:p>
          <a:p>
            <a:endParaRPr lang="en-US" altLang="zh-TW" dirty="0"/>
          </a:p>
          <a:p>
            <a:r>
              <a:rPr lang="en-US" altLang="zh-TW" dirty="0" err="1"/>
              <a:t>x_t</a:t>
            </a:r>
            <a:r>
              <a:rPr lang="zh-TW" altLang="en-US" dirty="0"/>
              <a:t>：當前輸入   </a:t>
            </a:r>
          </a:p>
          <a:p>
            <a:r>
              <a:rPr lang="zh-TW" altLang="en-US" dirty="0"/>
              <a:t>               </a:t>
            </a:r>
          </a:p>
          <a:p>
            <a:r>
              <a:rPr lang="zh-TW" altLang="en-US" dirty="0"/>
              <a:t>  </a:t>
            </a:r>
            <a:r>
              <a:rPr lang="en-US" altLang="zh-TW" dirty="0"/>
              <a:t>- </a:t>
            </a:r>
            <a:r>
              <a:rPr lang="zh-TW" altLang="en-US" dirty="0"/>
              <a:t>形狀：純量（每條 </a:t>
            </a:r>
            <a:r>
              <a:rPr lang="en-US" altLang="zh-TW" dirty="0"/>
              <a:t>channel </a:t>
            </a:r>
            <a:r>
              <a:rPr lang="zh-TW" altLang="en-US" dirty="0"/>
              <a:t>各一個）</a:t>
            </a:r>
          </a:p>
          <a:p>
            <a:r>
              <a:rPr lang="zh-TW" altLang="en-US" dirty="0"/>
              <a:t>  </a:t>
            </a:r>
            <a:r>
              <a:rPr lang="en-US" altLang="zh-TW" dirty="0"/>
              <a:t>- </a:t>
            </a:r>
            <a:r>
              <a:rPr lang="zh-TW" altLang="en-US" dirty="0"/>
              <a:t>直覺：「當前 </a:t>
            </a:r>
            <a:r>
              <a:rPr lang="en-US" altLang="zh-TW" dirty="0"/>
              <a:t>patch </a:t>
            </a:r>
            <a:r>
              <a:rPr lang="zh-TW" altLang="en-US" dirty="0"/>
              <a:t>的值」</a:t>
            </a:r>
            <a:endParaRPr lang="en-US" altLang="zh-TW" dirty="0"/>
          </a:p>
          <a:p>
            <a:endParaRPr lang="en-US" altLang="zh-TW" dirty="0"/>
          </a:p>
          <a:p>
            <a:r>
              <a:rPr lang="zh-TW" altLang="en-US" dirty="0"/>
              <a:t>實際效果是：</a:t>
            </a:r>
            <a:r>
              <a:rPr lang="en-US" altLang="zh-TW" dirty="0"/>
              <a:t>Delta </a:t>
            </a:r>
            <a:r>
              <a:rPr lang="zh-TW" altLang="en-US" dirty="0"/>
              <a:t>大的時候舊狀態被大幅遺忘、新輸入大力寫入；</a:t>
            </a:r>
            <a:r>
              <a:rPr lang="en-US" altLang="zh-TW" dirty="0"/>
              <a:t>Delta </a:t>
            </a:r>
            <a:r>
              <a:rPr lang="zh-TW" altLang="en-US" dirty="0"/>
              <a:t>小的時候則相反，狀態幾乎不動。</a:t>
            </a:r>
            <a:endParaRPr lang="en-US" altLang="zh-TW" dirty="0"/>
          </a:p>
          <a:p>
            <a:endParaRPr lang="en-US" altLang="zh-TW" dirty="0"/>
          </a:p>
          <a:p>
            <a:r>
              <a:rPr lang="zh-TW" altLang="en-US" dirty="0"/>
              <a:t>而 </a:t>
            </a:r>
            <a:r>
              <a:rPr lang="en-US" altLang="zh-TW" dirty="0"/>
              <a:t>state </a:t>
            </a:r>
            <a:r>
              <a:rPr lang="zh-TW" altLang="en-US" dirty="0"/>
              <a:t>不是一個數字，是 </a:t>
            </a:r>
            <a:r>
              <a:rPr lang="en-US" altLang="zh-TW" dirty="0"/>
              <a:t>N </a:t>
            </a:r>
            <a:r>
              <a:rPr lang="zh-TW" altLang="en-US" dirty="0"/>
              <a:t>維向量</a:t>
            </a:r>
            <a:r>
              <a:rPr lang="en-US" altLang="zh-TW" dirty="0"/>
              <a:t>——</a:t>
            </a:r>
            <a:r>
              <a:rPr lang="zh-TW" altLang="en-US" dirty="0"/>
              <a:t>可以想成 </a:t>
            </a:r>
            <a:r>
              <a:rPr lang="en-US" altLang="zh-TW" dirty="0"/>
              <a:t>N </a:t>
            </a:r>
            <a:r>
              <a:rPr lang="zh-TW" altLang="en-US" dirty="0"/>
              <a:t>個「不同記憶尺度的暫存器」並列存在。</a:t>
            </a:r>
            <a:endParaRPr lang="en-US" altLang="zh-TW" dirty="0"/>
          </a:p>
          <a:p>
            <a:endParaRPr lang="en-US" altLang="zh-TW" dirty="0"/>
          </a:p>
          <a:p>
            <a:r>
              <a:rPr lang="en-US" altLang="zh-TW" dirty="0"/>
              <a:t>A</a:t>
            </a:r>
            <a:r>
              <a:rPr lang="zh-TW" altLang="en-US" dirty="0"/>
              <a:t> 固定的 </a:t>
            </a:r>
            <a:r>
              <a:rPr lang="en-US" altLang="zh-TW" dirty="0"/>
              <a:t>16 </a:t>
            </a:r>
            <a:r>
              <a:rPr lang="zh-TW" altLang="en-US" dirty="0"/>
              <a:t>種空間尺度</a:t>
            </a:r>
            <a:endParaRPr lang="en-US" altLang="zh-TW" dirty="0"/>
          </a:p>
          <a:p>
            <a:r>
              <a:rPr lang="en-US" altLang="zh-TW" dirty="0"/>
              <a:t>A</a:t>
            </a:r>
            <a:r>
              <a:rPr lang="zh-TW" altLang="en-US" dirty="0"/>
              <a:t> </a:t>
            </a:r>
            <a:r>
              <a:rPr lang="en-US" altLang="zh-TW" dirty="0"/>
              <a:t>bar </a:t>
            </a:r>
            <a:r>
              <a:rPr lang="zh-TW" altLang="en-US" dirty="0"/>
              <a:t>每個尺度對前面累積資訊的保留率</a:t>
            </a:r>
            <a:endParaRPr lang="en-US" altLang="zh-TW" dirty="0"/>
          </a:p>
          <a:p>
            <a:r>
              <a:rPr lang="en-US" altLang="zh-TW" dirty="0"/>
              <a:t>B bar </a:t>
            </a:r>
            <a:r>
              <a:rPr lang="zh-TW" altLang="en-US" dirty="0"/>
              <a:t>每個尺度的實際寫入強度</a:t>
            </a:r>
            <a:endParaRPr lang="en-US" altLang="zh-TW" dirty="0"/>
          </a:p>
          <a:p>
            <a:r>
              <a:rPr lang="en-US" altLang="zh-TW" dirty="0" err="1"/>
              <a:t>x_t</a:t>
            </a:r>
            <a:r>
              <a:rPr lang="en-US" altLang="zh-TW" dirty="0"/>
              <a:t> — </a:t>
            </a:r>
            <a:r>
              <a:rPr lang="zh-TW" altLang="en-US" dirty="0"/>
              <a:t>當前 </a:t>
            </a:r>
            <a:r>
              <a:rPr lang="en-US" altLang="zh-TW" dirty="0"/>
              <a:t>patch </a:t>
            </a:r>
            <a:r>
              <a:rPr lang="zh-TW" altLang="en-US" dirty="0"/>
              <a:t>的輸入特徵</a:t>
            </a:r>
            <a:endParaRPr lang="en-US" altLang="zh-TW" dirty="0"/>
          </a:p>
          <a:p>
            <a:r>
              <a:rPr lang="en-US" altLang="zh-TW" dirty="0" err="1"/>
              <a:t>y_t</a:t>
            </a:r>
            <a:r>
              <a:rPr lang="en-US" altLang="zh-TW" dirty="0"/>
              <a:t> — </a:t>
            </a:r>
            <a:r>
              <a:rPr lang="zh-TW" altLang="en-US" dirty="0"/>
              <a:t>當前 </a:t>
            </a:r>
            <a:r>
              <a:rPr lang="en-US" altLang="zh-TW" dirty="0"/>
              <a:t>patch </a:t>
            </a:r>
            <a:r>
              <a:rPr lang="zh-TW" altLang="en-US" dirty="0"/>
              <a:t>的輸出</a:t>
            </a:r>
          </a:p>
          <a:p>
            <a:r>
              <a:rPr lang="zh-TW" altLang="en-US" dirty="0"/>
              <a:t>                                                                                                                                                                                           </a:t>
            </a:r>
          </a:p>
          <a:p>
            <a:r>
              <a:rPr lang="zh-TW" altLang="en-US" dirty="0"/>
              <a:t>  三個動作</a:t>
            </a:r>
            <a:r>
              <a:rPr lang="en-US" altLang="zh-TW" dirty="0"/>
              <a:t>:                                                                                                                                                                                </a:t>
            </a:r>
          </a:p>
          <a:p>
            <a:r>
              <a:rPr lang="en-US" altLang="zh-TW" dirty="0"/>
              <a:t>  1. </a:t>
            </a:r>
            <a:r>
              <a:rPr lang="zh-TW" altLang="en-US" dirty="0"/>
              <a:t>寫入</a:t>
            </a:r>
            <a:r>
              <a:rPr lang="en-US" altLang="zh-TW" dirty="0"/>
              <a:t>:</a:t>
            </a:r>
            <a:r>
              <a:rPr lang="zh-TW" altLang="en-US" dirty="0"/>
              <a:t>把新 </a:t>
            </a:r>
            <a:r>
              <a:rPr lang="en-US" altLang="zh-TW" dirty="0"/>
              <a:t>token </a:t>
            </a:r>
            <a:r>
              <a:rPr lang="zh-TW" altLang="en-US" dirty="0"/>
              <a:t>的資訊塞進記憶                                                                                                                                                      </a:t>
            </a:r>
          </a:p>
          <a:p>
            <a:r>
              <a:rPr lang="zh-TW" altLang="en-US" dirty="0"/>
              <a:t>  </a:t>
            </a:r>
            <a:r>
              <a:rPr lang="en-US" altLang="zh-TW" dirty="0"/>
              <a:t>2. </a:t>
            </a:r>
            <a:r>
              <a:rPr lang="zh-TW" altLang="en-US" dirty="0"/>
              <a:t>保留</a:t>
            </a:r>
            <a:r>
              <a:rPr lang="en-US" altLang="zh-TW" dirty="0"/>
              <a:t>:</a:t>
            </a:r>
            <a:r>
              <a:rPr lang="zh-TW" altLang="en-US" dirty="0"/>
              <a:t>讓舊記憶在更新時不要爆炸也不要消失                                                                                                                                               </a:t>
            </a:r>
          </a:p>
          <a:p>
            <a:r>
              <a:rPr lang="zh-TW" altLang="en-US" dirty="0"/>
              <a:t>  </a:t>
            </a:r>
            <a:r>
              <a:rPr lang="en-US" altLang="zh-TW" dirty="0"/>
              <a:t>3. </a:t>
            </a:r>
            <a:r>
              <a:rPr lang="zh-TW" altLang="en-US" dirty="0"/>
              <a:t>讀出</a:t>
            </a:r>
            <a:r>
              <a:rPr lang="en-US" altLang="zh-TW" dirty="0"/>
              <a:t>:</a:t>
            </a:r>
            <a:r>
              <a:rPr lang="zh-TW" altLang="en-US" dirty="0"/>
              <a:t>根據當前需要</a:t>
            </a:r>
            <a:r>
              <a:rPr lang="en-US" altLang="zh-TW" dirty="0"/>
              <a:t>,</a:t>
            </a:r>
            <a:r>
              <a:rPr lang="zh-TW" altLang="en-US" dirty="0"/>
              <a:t>從</a:t>
            </a:r>
            <a:r>
              <a:rPr lang="en-US" altLang="zh-TW" dirty="0"/>
              <a:t>(</a:t>
            </a:r>
            <a:r>
              <a:rPr lang="en-US" altLang="zh-TW" dirty="0" err="1"/>
              <a:t>h_t</a:t>
            </a:r>
            <a:r>
              <a:rPr lang="en-US" altLang="zh-TW" dirty="0"/>
              <a:t>)</a:t>
            </a:r>
            <a:r>
              <a:rPr lang="zh-TW" altLang="en-US" dirty="0"/>
              <a:t>裡取出東西 是要讀哪一部分的記憶維度</a:t>
            </a:r>
            <a:endParaRPr lang="en-US" altLang="zh-TW" dirty="0"/>
          </a:p>
        </p:txBody>
      </p:sp>
      <p:sp>
        <p:nvSpPr>
          <p:cNvPr id="4" name="投影片編號版面配置區 3">
            <a:extLst>
              <a:ext uri="{FF2B5EF4-FFF2-40B4-BE49-F238E27FC236}">
                <a16:creationId xmlns:a16="http://schemas.microsoft.com/office/drawing/2014/main" id="{F3C04EB5-CF6D-D9C7-A183-3E36C043646E}"/>
              </a:ext>
            </a:extLst>
          </p:cNvPr>
          <p:cNvSpPr>
            <a:spLocks noGrp="1"/>
          </p:cNvSpPr>
          <p:nvPr>
            <p:ph type="sldNum" sz="quarter" idx="5"/>
          </p:nvPr>
        </p:nvSpPr>
        <p:spPr/>
        <p:txBody>
          <a:bodyPr/>
          <a:lstStyle/>
          <a:p>
            <a:fld id="{4FFC9C8E-8CA7-443A-832F-F0F3F7A96022}" type="slidenum">
              <a:rPr lang="zh-TW" altLang="en-US" smtClean="0"/>
              <a:t>12</a:t>
            </a:fld>
            <a:endParaRPr lang="zh-TW" altLang="en-US"/>
          </a:p>
        </p:txBody>
      </p:sp>
    </p:spTree>
    <p:extLst>
      <p:ext uri="{BB962C8B-B14F-4D97-AF65-F5344CB8AC3E}">
        <p14:creationId xmlns:p14="http://schemas.microsoft.com/office/powerpoint/2010/main" val="1794006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88076-ADCD-1CE7-F0EB-34AE4CAC1AE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24C192C-2052-8C08-FC8A-09DA4D6020C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169556-BE66-178A-6377-E7EF0668FBB2}"/>
              </a:ext>
            </a:extLst>
          </p:cNvPr>
          <p:cNvSpPr>
            <a:spLocks noGrp="1"/>
          </p:cNvSpPr>
          <p:nvPr>
            <p:ph type="body" idx="1"/>
          </p:nvPr>
        </p:nvSpPr>
        <p:spPr/>
        <p:txBody>
          <a:bodyPr/>
          <a:lstStyle/>
          <a:p>
            <a:r>
              <a:rPr lang="en-US" altLang="zh-TW" sz="1200" b="0" i="0" kern="1200" dirty="0">
                <a:solidFill>
                  <a:schemeClr val="tx1"/>
                </a:solidFill>
                <a:effectLst/>
                <a:latin typeface="+mn-lt"/>
                <a:ea typeface="+mn-ea"/>
                <a:cs typeface="+mn-cs"/>
              </a:rPr>
              <a:t>Mamba </a:t>
            </a:r>
            <a:r>
              <a:rPr lang="zh-TW" altLang="en-US" sz="1200" b="0" i="0" kern="1200" dirty="0">
                <a:solidFill>
                  <a:schemeClr val="tx1"/>
                </a:solidFill>
                <a:effectLst/>
                <a:latin typeface="+mn-lt"/>
                <a:ea typeface="+mn-ea"/>
                <a:cs typeface="+mn-cs"/>
              </a:rPr>
              <a:t>是嚴格的序列模型，有別於 </a:t>
            </a:r>
            <a:r>
              <a:rPr lang="en-US" altLang="zh-TW" sz="1200" b="0" i="0" kern="1200" dirty="0">
                <a:solidFill>
                  <a:schemeClr val="tx1"/>
                </a:solidFill>
                <a:effectLst/>
                <a:latin typeface="+mn-lt"/>
                <a:ea typeface="+mn-ea"/>
                <a:cs typeface="+mn-cs"/>
              </a:rPr>
              <a:t>Transformer </a:t>
            </a:r>
            <a:r>
              <a:rPr lang="zh-TW" altLang="en-US" sz="1200" b="0" i="0" kern="1200" dirty="0">
                <a:solidFill>
                  <a:schemeClr val="tx1"/>
                </a:solidFill>
                <a:effectLst/>
                <a:latin typeface="+mn-lt"/>
                <a:ea typeface="+mn-ea"/>
                <a:cs typeface="+mn-cs"/>
              </a:rPr>
              <a:t>那樣可以一次性看到所有資料，</a:t>
            </a:r>
            <a:r>
              <a:rPr lang="en-US" altLang="zh-TW" sz="1200" b="0" i="0" kern="1200" dirty="0">
                <a:solidFill>
                  <a:schemeClr val="tx1"/>
                </a:solidFill>
                <a:effectLst/>
                <a:latin typeface="+mn-lt"/>
                <a:ea typeface="+mn-ea"/>
                <a:cs typeface="+mn-cs"/>
              </a:rPr>
              <a:t>Mamba </a:t>
            </a:r>
            <a:r>
              <a:rPr lang="zh-TW" altLang="en-US" sz="1200" b="0" i="0" kern="1200" dirty="0">
                <a:solidFill>
                  <a:schemeClr val="tx1"/>
                </a:solidFill>
                <a:effectLst/>
                <a:latin typeface="+mn-lt"/>
                <a:ea typeface="+mn-ea"/>
                <a:cs typeface="+mn-cs"/>
              </a:rPr>
              <a:t>架構必須將輸入序列一個一個看過去。這個概念和早些年的 </a:t>
            </a:r>
            <a:r>
              <a:rPr lang="en-US" altLang="zh-TW" sz="1200" b="0" i="0" kern="1200" dirty="0">
                <a:solidFill>
                  <a:schemeClr val="tx1"/>
                </a:solidFill>
                <a:effectLst/>
                <a:latin typeface="+mn-lt"/>
                <a:ea typeface="+mn-ea"/>
                <a:cs typeface="+mn-cs"/>
              </a:rPr>
              <a:t>LSTM </a:t>
            </a:r>
            <a:r>
              <a:rPr lang="zh-TW" altLang="en-US" sz="1200" b="0" i="0" kern="1200" dirty="0">
                <a:solidFill>
                  <a:schemeClr val="tx1"/>
                </a:solidFill>
                <a:effectLst/>
                <a:latin typeface="+mn-lt"/>
                <a:ea typeface="+mn-ea"/>
                <a:cs typeface="+mn-cs"/>
              </a:rPr>
              <a:t>一樣，同時也是 </a:t>
            </a:r>
            <a:r>
              <a:rPr lang="en-US" altLang="zh-TW" sz="1200" b="0" i="0" kern="1200" dirty="0">
                <a:solidFill>
                  <a:schemeClr val="tx1"/>
                </a:solidFill>
                <a:effectLst/>
                <a:latin typeface="+mn-lt"/>
                <a:ea typeface="+mn-ea"/>
                <a:cs typeface="+mn-cs"/>
              </a:rPr>
              <a:t>Mamba </a:t>
            </a:r>
            <a:r>
              <a:rPr lang="zh-TW" altLang="en-US" sz="1200" b="0" i="0" kern="1200" dirty="0">
                <a:solidFill>
                  <a:schemeClr val="tx1"/>
                </a:solidFill>
                <a:effectLst/>
                <a:latin typeface="+mn-lt"/>
                <a:ea typeface="+mn-ea"/>
                <a:cs typeface="+mn-cs"/>
              </a:rPr>
              <a:t>的一大特色。</a:t>
            </a:r>
            <a:endParaRPr lang="en-US" altLang="zh-TW" sz="1200" b="0" i="0" kern="1200" dirty="0">
              <a:solidFill>
                <a:schemeClr val="tx1"/>
              </a:solidFill>
              <a:effectLst/>
              <a:latin typeface="+mn-lt"/>
              <a:ea typeface="+mn-ea"/>
              <a:cs typeface="+mn-cs"/>
            </a:endParaRPr>
          </a:p>
          <a:p>
            <a:endParaRPr lang="zh-TW" altLang="en-US"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但對「需要空間感知」的影像來說，從頭到尾輸入序列顯然不是最好的方式，影像序列不只需要「由左到右」的訊息，往往也需要「由右到左」或更廣域的上下文，所以作者這裡引入雙向序列建模的概念。</a:t>
            </a:r>
          </a:p>
          <a:p>
            <a:r>
              <a:rPr lang="zh-TW" altLang="en-US" sz="1200" b="0" i="0" kern="1200" dirty="0">
                <a:solidFill>
                  <a:schemeClr val="tx1"/>
                </a:solidFill>
                <a:effectLst/>
                <a:latin typeface="+mn-lt"/>
                <a:ea typeface="+mn-ea"/>
                <a:cs typeface="+mn-cs"/>
              </a:rPr>
              <a:t>輸入影像序列後，模型必須同時進行「正向」和「反向」的 </a:t>
            </a:r>
            <a:r>
              <a:rPr lang="en-US" altLang="zh-TW" sz="1200" b="0" i="0" kern="1200" dirty="0">
                <a:solidFill>
                  <a:schemeClr val="tx1"/>
                </a:solidFill>
                <a:effectLst/>
                <a:latin typeface="+mn-lt"/>
                <a:ea typeface="+mn-ea"/>
                <a:cs typeface="+mn-cs"/>
              </a:rPr>
              <a:t>SSM </a:t>
            </a:r>
            <a:r>
              <a:rPr lang="zh-TW" altLang="en-US" sz="1200" b="0" i="0" kern="1200" dirty="0">
                <a:solidFill>
                  <a:schemeClr val="tx1"/>
                </a:solidFill>
                <a:effectLst/>
                <a:latin typeface="+mn-lt"/>
                <a:ea typeface="+mn-ea"/>
                <a:cs typeface="+mn-cs"/>
              </a:rPr>
              <a:t>運算，然後在輸出端合併，概念上和自然語言處理的「雙向 </a:t>
            </a:r>
            <a:r>
              <a:rPr lang="en-US" altLang="zh-TW" sz="1200" b="0" i="0" kern="1200" dirty="0">
                <a:solidFill>
                  <a:schemeClr val="tx1"/>
                </a:solidFill>
                <a:effectLst/>
                <a:latin typeface="+mn-lt"/>
                <a:ea typeface="+mn-ea"/>
                <a:cs typeface="+mn-cs"/>
              </a:rPr>
              <a:t>RNN</a:t>
            </a:r>
            <a:r>
              <a:rPr lang="zh-TW" altLang="en-US" sz="1200" b="0" i="0" kern="1200" dirty="0">
                <a:solidFill>
                  <a:schemeClr val="tx1"/>
                </a:solidFill>
                <a:effectLst/>
                <a:latin typeface="+mn-lt"/>
                <a:ea typeface="+mn-ea"/>
                <a:cs typeface="+mn-cs"/>
              </a:rPr>
              <a:t>」類似。</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Conv1d</a:t>
            </a:r>
            <a:r>
              <a:rPr lang="zh-TW" altLang="en-US" sz="1200" b="0" i="0" kern="1200" dirty="0">
                <a:solidFill>
                  <a:schemeClr val="tx1"/>
                </a:solidFill>
                <a:effectLst/>
                <a:latin typeface="+mn-lt"/>
                <a:ea typeface="+mn-ea"/>
                <a:cs typeface="+mn-cs"/>
              </a:rPr>
              <a:t>每個 </a:t>
            </a:r>
            <a:r>
              <a:rPr lang="en-US" altLang="zh-TW" sz="1200" b="0" i="0" kern="1200" dirty="0">
                <a:solidFill>
                  <a:schemeClr val="tx1"/>
                </a:solidFill>
                <a:effectLst/>
                <a:latin typeface="+mn-lt"/>
                <a:ea typeface="+mn-ea"/>
                <a:cs typeface="+mn-cs"/>
              </a:rPr>
              <a:t>patch </a:t>
            </a:r>
            <a:r>
              <a:rPr lang="zh-TW" altLang="en-US" sz="1200" b="0" i="0" kern="1200" dirty="0">
                <a:solidFill>
                  <a:schemeClr val="tx1"/>
                </a:solidFill>
                <a:effectLst/>
                <a:latin typeface="+mn-lt"/>
                <a:ea typeface="+mn-ea"/>
                <a:cs typeface="+mn-cs"/>
              </a:rPr>
              <a:t>的特徵增加一點周邊資訊</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讓後面 </a:t>
            </a:r>
            <a:r>
              <a:rPr lang="en-US" altLang="zh-TW" sz="1200" b="0" i="0" kern="1200" dirty="0">
                <a:solidFill>
                  <a:schemeClr val="tx1"/>
                </a:solidFill>
                <a:effectLst/>
                <a:latin typeface="+mn-lt"/>
                <a:ea typeface="+mn-ea"/>
                <a:cs typeface="+mn-cs"/>
              </a:rPr>
              <a:t>SSM </a:t>
            </a:r>
            <a:r>
              <a:rPr lang="zh-TW" altLang="en-US" sz="1200" b="0" i="0" kern="1200" dirty="0">
                <a:solidFill>
                  <a:schemeClr val="tx1"/>
                </a:solidFill>
                <a:effectLst/>
                <a:latin typeface="+mn-lt"/>
                <a:ea typeface="+mn-ea"/>
                <a:cs typeface="+mn-cs"/>
              </a:rPr>
              <a:t>的 </a:t>
            </a:r>
            <a:r>
              <a:rPr lang="en-US" altLang="zh-TW" sz="1200" b="0" i="0" kern="1200" dirty="0">
                <a:solidFill>
                  <a:schemeClr val="tx1"/>
                </a:solidFill>
                <a:effectLst/>
                <a:latin typeface="+mn-lt"/>
                <a:ea typeface="+mn-ea"/>
                <a:cs typeface="+mn-cs"/>
              </a:rPr>
              <a:t>selective </a:t>
            </a:r>
            <a:r>
              <a:rPr lang="zh-TW" altLang="en-US" sz="1200" b="0" i="0" kern="1200" dirty="0">
                <a:solidFill>
                  <a:schemeClr val="tx1"/>
                </a:solidFill>
                <a:effectLst/>
                <a:latin typeface="+mn-lt"/>
                <a:ea typeface="+mn-ea"/>
                <a:cs typeface="+mn-cs"/>
              </a:rPr>
              <a:t>機制有更豐富的訊號可以判斷。沿著序列</a:t>
            </a:r>
            <a:r>
              <a:rPr lang="en-US" altLang="zh-TW" sz="1200" b="0" i="0" kern="1200" dirty="0">
                <a:solidFill>
                  <a:schemeClr val="tx1"/>
                </a:solidFill>
                <a:effectLst/>
                <a:latin typeface="+mn-lt"/>
                <a:ea typeface="+mn-ea"/>
                <a:cs typeface="+mn-cs"/>
              </a:rPr>
              <a:t>(L=197)</a:t>
            </a:r>
            <a:r>
              <a:rPr lang="zh-TW" altLang="en-US" sz="1200" b="0" i="0" kern="1200" dirty="0">
                <a:solidFill>
                  <a:schemeClr val="tx1"/>
                </a:solidFill>
                <a:effectLst/>
                <a:latin typeface="+mn-lt"/>
                <a:ea typeface="+mn-ea"/>
                <a:cs typeface="+mn-cs"/>
              </a:rPr>
              <a:t>方向。每個 </a:t>
            </a:r>
            <a:r>
              <a:rPr lang="en-US" altLang="zh-TW" sz="1200" b="0" i="0" kern="1200" dirty="0">
                <a:solidFill>
                  <a:schemeClr val="tx1"/>
                </a:solidFill>
                <a:effectLst/>
                <a:latin typeface="+mn-lt"/>
                <a:ea typeface="+mn-ea"/>
                <a:cs typeface="+mn-cs"/>
              </a:rPr>
              <a:t>patch </a:t>
            </a:r>
            <a:r>
              <a:rPr lang="zh-TW" altLang="en-US" sz="1200" b="0" i="0" kern="1200" dirty="0">
                <a:solidFill>
                  <a:schemeClr val="tx1"/>
                </a:solidFill>
                <a:effectLst/>
                <a:latin typeface="+mn-lt"/>
                <a:ea typeface="+mn-ea"/>
                <a:cs typeface="+mn-cs"/>
              </a:rPr>
              <a:t>的特徵和左邊 </a:t>
            </a:r>
            <a:r>
              <a:rPr lang="en-US" altLang="zh-TW" sz="1200" b="0" i="0" kern="1200" dirty="0">
                <a:solidFill>
                  <a:schemeClr val="tx1"/>
                </a:solidFill>
                <a:effectLst/>
                <a:latin typeface="+mn-lt"/>
                <a:ea typeface="+mn-ea"/>
                <a:cs typeface="+mn-cs"/>
              </a:rPr>
              <a:t>3 </a:t>
            </a:r>
            <a:r>
              <a:rPr lang="zh-TW" altLang="en-US" sz="1200" b="0" i="0" kern="1200" dirty="0">
                <a:solidFill>
                  <a:schemeClr val="tx1"/>
                </a:solidFill>
                <a:effectLst/>
                <a:latin typeface="+mn-lt"/>
                <a:ea typeface="+mn-ea"/>
                <a:cs typeface="+mn-cs"/>
              </a:rPr>
              <a:t>個鄰居做加權混合</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然後過 </a:t>
            </a:r>
            <a:r>
              <a:rPr lang="en-US" altLang="zh-TW" sz="1200" b="0" i="0" kern="1200" dirty="0" err="1">
                <a:solidFill>
                  <a:schemeClr val="tx1"/>
                </a:solidFill>
                <a:effectLst/>
                <a:latin typeface="+mn-lt"/>
                <a:ea typeface="+mn-ea"/>
                <a:cs typeface="+mn-cs"/>
              </a:rPr>
              <a:t>SiLU</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單向 </a:t>
            </a:r>
            <a:r>
              <a:rPr lang="en-US" altLang="zh-TW" sz="1200" b="0" i="0" kern="1200" dirty="0">
                <a:solidFill>
                  <a:schemeClr val="tx1"/>
                </a:solidFill>
                <a:effectLst/>
                <a:latin typeface="+mn-lt"/>
                <a:ea typeface="+mn-ea"/>
                <a:cs typeface="+mn-cs"/>
              </a:rPr>
              <a:t>scan </a:t>
            </a:r>
            <a:r>
              <a:rPr lang="zh-TW" altLang="en-US" sz="1200" b="0" i="0" kern="1200" dirty="0">
                <a:solidFill>
                  <a:schemeClr val="tx1"/>
                </a:solidFill>
                <a:effectLst/>
                <a:latin typeface="+mn-lt"/>
                <a:ea typeface="+mn-ea"/>
                <a:cs typeface="+mn-cs"/>
              </a:rPr>
              <a:t>有「前面看不到後面」的問題。雙向後</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每個位置都能感受到序列兩個方向的累積</a:t>
            </a:r>
            <a:r>
              <a:rPr lang="zh-TW" altLang="en-US" dirty="0"/>
              <a:t>。為了獲取完整的空間上下文，模型會執行兩次掃描</a:t>
            </a:r>
            <a:endParaRPr lang="en-US" altLang="zh-TW" dirty="0"/>
          </a:p>
          <a:p>
            <a:endParaRPr lang="en-US" altLang="zh-TW" sz="1200" b="0" i="0" kern="1200" dirty="0">
              <a:solidFill>
                <a:schemeClr val="tx1"/>
              </a:solidFill>
              <a:effectLst/>
              <a:latin typeface="+mn-lt"/>
              <a:ea typeface="+mn-ea"/>
              <a:cs typeface="+mn-cs"/>
            </a:endParaRPr>
          </a:p>
          <a:p>
            <a:r>
              <a:rPr lang="zh-TW" altLang="en-US" sz="1200" b="1" kern="1200" dirty="0">
                <a:solidFill>
                  <a:schemeClr val="tx1"/>
                </a:solidFill>
                <a:effectLst/>
                <a:latin typeface="+mn-lt"/>
                <a:ea typeface="+mn-ea"/>
                <a:cs typeface="+mn-cs"/>
              </a:rPr>
              <a:t>雙向的作用：</a:t>
            </a:r>
            <a:endParaRPr lang="zh-TW" altLang="en-US" sz="1200" kern="1200" dirty="0">
              <a:solidFill>
                <a:schemeClr val="tx1"/>
              </a:solidFill>
              <a:effectLst/>
              <a:latin typeface="+mn-lt"/>
              <a:ea typeface="+mn-ea"/>
              <a:cs typeface="+mn-cs"/>
            </a:endParaRPr>
          </a:p>
          <a:p>
            <a:r>
              <a:rPr lang="en-US" altLang="zh-TW" sz="1200" b="1" kern="1200" dirty="0">
                <a:solidFill>
                  <a:schemeClr val="tx1"/>
                </a:solidFill>
                <a:effectLst/>
                <a:latin typeface="+mn-lt"/>
                <a:ea typeface="+mn-ea"/>
                <a:cs typeface="+mn-cs"/>
              </a:rPr>
              <a:t>Forward SSM</a:t>
            </a:r>
            <a:r>
              <a:rPr lang="zh-TW" altLang="en-US" sz="1200" b="1" kern="1200" dirty="0">
                <a:solidFill>
                  <a:schemeClr val="tx1"/>
                </a:solidFill>
                <a:effectLst/>
                <a:latin typeface="+mn-lt"/>
                <a:ea typeface="+mn-ea"/>
                <a:cs typeface="+mn-cs"/>
              </a:rPr>
              <a: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收集從左上到右下的歷史特徵 </a:t>
            </a:r>
            <a:r>
              <a:rPr lang="en-US" altLang="zh-TW" sz="1200" kern="1200" dirty="0">
                <a:solidFill>
                  <a:schemeClr val="tx1"/>
                </a:solidFill>
                <a:effectLst/>
                <a:latin typeface="+mn-lt"/>
                <a:ea typeface="+mn-ea"/>
                <a:cs typeface="+mn-cs"/>
              </a:rPr>
              <a:t>($h_{\text{forward}}$)</a:t>
            </a:r>
            <a:r>
              <a:rPr lang="zh-TW" altLang="en-US" sz="1200" kern="1200" dirty="0">
                <a:solidFill>
                  <a:schemeClr val="tx1"/>
                </a:solidFill>
                <a:effectLst/>
                <a:latin typeface="+mn-lt"/>
                <a:ea typeface="+mn-ea"/>
                <a:cs typeface="+mn-cs"/>
              </a:rPr>
              <a:t>。</a:t>
            </a:r>
          </a:p>
          <a:p>
            <a:r>
              <a:rPr lang="en-US" altLang="zh-TW" sz="1200" b="1" kern="1200" dirty="0">
                <a:solidFill>
                  <a:schemeClr val="tx1"/>
                </a:solidFill>
                <a:effectLst/>
                <a:latin typeface="+mn-lt"/>
                <a:ea typeface="+mn-ea"/>
                <a:cs typeface="+mn-cs"/>
              </a:rPr>
              <a:t>Backward SSM</a:t>
            </a:r>
            <a:r>
              <a:rPr lang="zh-TW" altLang="en-US" sz="1200" b="1" kern="1200" dirty="0">
                <a:solidFill>
                  <a:schemeClr val="tx1"/>
                </a:solidFill>
                <a:effectLst/>
                <a:latin typeface="+mn-lt"/>
                <a:ea typeface="+mn-ea"/>
                <a:cs typeface="+mn-cs"/>
              </a:rPr>
              <a: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將圖片反轉，收集從右下到左上的歷史特徵 </a:t>
            </a:r>
            <a:r>
              <a:rPr lang="en-US" altLang="zh-TW" sz="1200" kern="1200" dirty="0">
                <a:solidFill>
                  <a:schemeClr val="tx1"/>
                </a:solidFill>
                <a:effectLst/>
                <a:latin typeface="+mn-lt"/>
                <a:ea typeface="+mn-ea"/>
                <a:cs typeface="+mn-cs"/>
              </a:rPr>
              <a:t>($h_{\text{backward}}$)</a:t>
            </a:r>
            <a:r>
              <a:rPr lang="zh-TW" altLang="en-US" sz="1200" kern="1200" dirty="0">
                <a:solidFill>
                  <a:schemeClr val="tx1"/>
                </a:solidFill>
                <a:effectLst/>
                <a:latin typeface="+mn-lt"/>
                <a:ea typeface="+mn-ea"/>
                <a:cs typeface="+mn-cs"/>
              </a:rPr>
              <a:t>。</a:t>
            </a:r>
          </a:p>
          <a:p>
            <a:r>
              <a:rPr lang="zh-TW" altLang="en-US" sz="1200" kern="1200" dirty="0">
                <a:solidFill>
                  <a:schemeClr val="tx1"/>
                </a:solidFill>
                <a:effectLst/>
                <a:latin typeface="+mn-lt"/>
                <a:ea typeface="+mn-ea"/>
                <a:cs typeface="+mn-cs"/>
              </a:rPr>
              <a:t>透過將兩者在最後相加 </a:t>
            </a:r>
            <a:r>
              <a:rPr lang="en-US" altLang="zh-TW" sz="1200" kern="1200" dirty="0">
                <a:solidFill>
                  <a:schemeClr val="tx1"/>
                </a:solidFill>
                <a:effectLst/>
                <a:latin typeface="+mn-lt"/>
                <a:ea typeface="+mn-ea"/>
                <a:cs typeface="+mn-cs"/>
              </a:rPr>
              <a:t>($\</a:t>
            </a:r>
            <a:r>
              <a:rPr lang="en-US" altLang="zh-TW" sz="1200" kern="1200" dirty="0" err="1">
                <a:solidFill>
                  <a:schemeClr val="tx1"/>
                </a:solidFill>
                <a:effectLst/>
                <a:latin typeface="+mn-lt"/>
                <a:ea typeface="+mn-ea"/>
                <a:cs typeface="+mn-cs"/>
              </a:rPr>
              <a:t>oplus</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，確保每一個 </a:t>
            </a:r>
            <a:r>
              <a:rPr lang="en-US" altLang="zh-TW" sz="1200" kern="1200" dirty="0">
                <a:solidFill>
                  <a:schemeClr val="tx1"/>
                </a:solidFill>
                <a:effectLst/>
                <a:latin typeface="+mn-lt"/>
                <a:ea typeface="+mn-ea"/>
                <a:cs typeface="+mn-cs"/>
              </a:rPr>
              <a:t>Patch </a:t>
            </a:r>
            <a:r>
              <a:rPr lang="zh-TW" altLang="en-US" sz="1200" kern="1200" dirty="0">
                <a:solidFill>
                  <a:schemeClr val="tx1"/>
                </a:solidFill>
                <a:effectLst/>
                <a:latin typeface="+mn-lt"/>
                <a:ea typeface="+mn-ea"/>
                <a:cs typeface="+mn-cs"/>
              </a:rPr>
              <a:t>在輸出時，其隱藏狀態都同時包含了「它前面的像素」與「它後面的像素」。這強行賦予了 </a:t>
            </a:r>
            <a:r>
              <a:rPr lang="en-US" altLang="zh-TW" sz="1200" kern="1200" dirty="0">
                <a:solidFill>
                  <a:schemeClr val="tx1"/>
                </a:solidFill>
                <a:effectLst/>
                <a:latin typeface="+mn-lt"/>
                <a:ea typeface="+mn-ea"/>
                <a:cs typeface="+mn-cs"/>
              </a:rPr>
              <a:t>Mamba </a:t>
            </a:r>
            <a:r>
              <a:rPr lang="zh-TW" altLang="en-US" sz="1200" kern="1200" dirty="0">
                <a:solidFill>
                  <a:schemeClr val="tx1"/>
                </a:solidFill>
                <a:effectLst/>
                <a:latin typeface="+mn-lt"/>
                <a:ea typeface="+mn-ea"/>
                <a:cs typeface="+mn-cs"/>
              </a:rPr>
              <a:t>類似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的**「全局感受野 </a:t>
            </a:r>
            <a:r>
              <a:rPr lang="en-US" altLang="zh-TW" sz="1200" kern="1200" dirty="0">
                <a:solidFill>
                  <a:schemeClr val="tx1"/>
                </a:solidFill>
                <a:effectLst/>
                <a:latin typeface="+mn-lt"/>
                <a:ea typeface="+mn-ea"/>
                <a:cs typeface="+mn-cs"/>
              </a:rPr>
              <a:t>(Global Receptive Field)</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en-US" altLang="zh-TW" dirty="0"/>
              <a:t>GLU</a:t>
            </a:r>
          </a:p>
          <a:p>
            <a:r>
              <a:rPr lang="en-US" altLang="zh-TW" dirty="0"/>
              <a:t>Vim </a:t>
            </a:r>
            <a:r>
              <a:rPr lang="zh-TW" altLang="en-US" dirty="0"/>
              <a:t>採用了 </a:t>
            </a:r>
            <a:r>
              <a:rPr lang="en-US" altLang="zh-TW" dirty="0"/>
              <a:t>GLU </a:t>
            </a:r>
            <a:r>
              <a:rPr lang="zh-TW" altLang="en-US" dirty="0"/>
              <a:t>門控架構。它讓 </a:t>
            </a:r>
            <a:r>
              <a:rPr lang="en-US" altLang="zh-TW" dirty="0"/>
              <a:t>SSM </a:t>
            </a:r>
            <a:r>
              <a:rPr lang="zh-TW" altLang="en-US" dirty="0"/>
              <a:t>專心去吸收全圖的語意，同時另外拉了一條沒有記憶負擔的 </a:t>
            </a:r>
            <a:r>
              <a:rPr lang="en-US" altLang="zh-TW" sz="1200" kern="1200" dirty="0">
                <a:solidFill>
                  <a:schemeClr val="tx1"/>
                </a:solidFill>
                <a:effectLst/>
                <a:latin typeface="+mn-lt"/>
                <a:ea typeface="+mn-ea"/>
                <a:cs typeface="+mn-cs"/>
              </a:rPr>
              <a:t>$z$</a:t>
            </a:r>
            <a:r>
              <a:rPr lang="zh-TW" altLang="en-US" dirty="0"/>
              <a:t> 分支。這條 </a:t>
            </a:r>
            <a:r>
              <a:rPr lang="en-US" altLang="zh-TW" sz="1200" kern="1200" dirty="0">
                <a:solidFill>
                  <a:schemeClr val="tx1"/>
                </a:solidFill>
                <a:effectLst/>
                <a:latin typeface="+mn-lt"/>
                <a:ea typeface="+mn-ea"/>
                <a:cs typeface="+mn-cs"/>
              </a:rPr>
              <a:t>$z$</a:t>
            </a:r>
            <a:r>
              <a:rPr lang="zh-TW" altLang="en-US" dirty="0"/>
              <a:t> 分支會看著原始影像，精準地標示出哪裡是背景、哪裡是真實的邊緣，並產生一個 </a:t>
            </a:r>
            <a:r>
              <a:rPr lang="en-US" altLang="zh-TW" dirty="0"/>
              <a:t>0 </a:t>
            </a:r>
            <a:r>
              <a:rPr lang="zh-TW" altLang="en-US" dirty="0"/>
              <a:t>到 </a:t>
            </a:r>
            <a:r>
              <a:rPr lang="en-US" altLang="zh-TW" dirty="0"/>
              <a:t>1 </a:t>
            </a:r>
            <a:r>
              <a:rPr lang="zh-TW" altLang="en-US" dirty="0"/>
              <a:t>的遮罩。</a:t>
            </a:r>
            <a:endParaRPr lang="zh-TW" altLang="en-US" sz="1200" kern="1200" dirty="0">
              <a:solidFill>
                <a:schemeClr val="tx1"/>
              </a:solidFill>
              <a:effectLst/>
              <a:latin typeface="+mn-lt"/>
              <a:ea typeface="+mn-ea"/>
              <a:cs typeface="+mn-cs"/>
            </a:endParaRPr>
          </a:p>
          <a:p>
            <a:endParaRPr lang="zh-TW" altLang="en-US"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2BE0C53-CF54-5752-85C3-6B0617241294}"/>
              </a:ext>
            </a:extLst>
          </p:cNvPr>
          <p:cNvSpPr>
            <a:spLocks noGrp="1"/>
          </p:cNvSpPr>
          <p:nvPr>
            <p:ph type="sldNum" sz="quarter" idx="5"/>
          </p:nvPr>
        </p:nvSpPr>
        <p:spPr/>
        <p:txBody>
          <a:bodyPr/>
          <a:lstStyle/>
          <a:p>
            <a:fld id="{4FFC9C8E-8CA7-443A-832F-F0F3F7A96022}" type="slidenum">
              <a:rPr lang="zh-TW" altLang="en-US" smtClean="0"/>
              <a:t>13</a:t>
            </a:fld>
            <a:endParaRPr lang="zh-TW" altLang="en-US"/>
          </a:p>
        </p:txBody>
      </p:sp>
    </p:spTree>
    <p:extLst>
      <p:ext uri="{BB962C8B-B14F-4D97-AF65-F5344CB8AC3E}">
        <p14:creationId xmlns:p14="http://schemas.microsoft.com/office/powerpoint/2010/main" val="1150969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5496-588C-9A99-D467-080EC57B62B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E38F575-47FA-AAD0-75F4-18AD56AA8F4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a:extLst>
                  <a:ext uri="{FF2B5EF4-FFF2-40B4-BE49-F238E27FC236}">
                    <a16:creationId xmlns:a16="http://schemas.microsoft.com/office/drawing/2014/main" id="{493789D9-08AC-6AC0-F3D4-A774047415C1}"/>
                  </a:ext>
                </a:extLst>
              </p:cNvPr>
              <p:cNvSpPr>
                <a:spLocks noGrp="1"/>
              </p:cNvSpPr>
              <p:nvPr>
                <p:ph type="body" idx="1"/>
              </p:nvPr>
            </p:nvSpPr>
            <p:spPr/>
            <p:txBody>
              <a:bodyPr/>
              <a:lstStyle/>
              <a:p>
                <a:r>
                  <a:rPr lang="en-US" dirty="0"/>
                  <a:t>Vim </a:t>
                </a:r>
                <a:r>
                  <a:rPr lang="zh-TW" altLang="en-US" dirty="0"/>
                  <a:t>採用的是 </a:t>
                </a:r>
                <a:r>
                  <a:rPr lang="en-US" dirty="0"/>
                  <a:t>SSM (</a:t>
                </a:r>
                <a:r>
                  <a:rPr lang="zh-TW" altLang="en-US" dirty="0"/>
                  <a:t>狀態空間模型</a:t>
                </a:r>
                <a:r>
                  <a:rPr lang="en-US" altLang="zh-TW" dirty="0"/>
                  <a:t>)</a:t>
                </a:r>
                <a:r>
                  <a:rPr lang="zh-TW" altLang="en-US" dirty="0"/>
                  <a:t>，它強制把過去所有的歷史資訊，全部壓縮進一個固定大小的隱藏狀態 </a:t>
                </a:r>
                <a14:m>
                  <m:oMath xmlns:m="http://schemas.openxmlformats.org/officeDocument/2006/math">
                    <m:r>
                      <a:rPr lang="en-US" sz="1200" i="1" kern="1200" dirty="0" smtClean="0">
                        <a:solidFill>
                          <a:schemeClr val="tx1"/>
                        </a:solidFill>
                        <a:effectLst/>
                        <a:latin typeface="Cambria Math" panose="02040503050406030204" pitchFamily="18" charset="0"/>
                        <a:ea typeface="+mn-ea"/>
                        <a:cs typeface="+mn-cs"/>
                      </a:rPr>
                      <m:t>h</m:t>
                    </m:r>
                    <m:r>
                      <a:rPr lang="en-US" sz="1200" i="1" kern="1200" dirty="0" smtClean="0">
                        <a:solidFill>
                          <a:schemeClr val="tx1"/>
                        </a:solidFill>
                        <a:effectLst/>
                        <a:latin typeface="Cambria Math" panose="02040503050406030204" pitchFamily="18" charset="0"/>
                        <a:ea typeface="+mn-ea"/>
                        <a:cs typeface="+mn-cs"/>
                      </a:rPr>
                      <m:t>∈</m:t>
                    </m:r>
                    <m:d>
                      <m:dPr>
                        <m:ctrlPr>
                          <a:rPr lang="en-US" sz="1200" i="1" kern="1200" dirty="0" smtClean="0">
                            <a:solidFill>
                              <a:schemeClr val="tx1"/>
                            </a:solidFill>
                            <a:effectLst/>
                            <a:latin typeface="Cambria Math" panose="02040503050406030204" pitchFamily="18" charset="0"/>
                            <a:ea typeface="+mn-ea"/>
                            <a:cs typeface="+mn-cs"/>
                          </a:rPr>
                        </m:ctrlPr>
                      </m:dPr>
                      <m:e>
                        <m:r>
                          <a:rPr lang="en-US" sz="1200" i="1" kern="1200" dirty="0" smtClean="0">
                            <a:solidFill>
                              <a:schemeClr val="tx1"/>
                            </a:solidFill>
                            <a:effectLst/>
                            <a:latin typeface="Cambria Math" panose="02040503050406030204" pitchFamily="18" charset="0"/>
                            <a:ea typeface="+mn-ea"/>
                            <a:cs typeface="+mn-cs"/>
                          </a:rPr>
                          <m:t>𝐵</m:t>
                        </m:r>
                        <m:r>
                          <a:rPr lang="en-US" sz="1200" i="1" kern="1200" dirty="0" smtClean="0">
                            <a:solidFill>
                              <a:schemeClr val="tx1"/>
                            </a:solidFill>
                            <a:effectLst/>
                            <a:latin typeface="Cambria Math" panose="02040503050406030204" pitchFamily="18" charset="0"/>
                            <a:ea typeface="+mn-ea"/>
                            <a:cs typeface="+mn-cs"/>
                          </a:rPr>
                          <m:t>,</m:t>
                        </m:r>
                        <m:r>
                          <a:rPr lang="en-US" sz="1200" i="1" kern="1200" dirty="0" smtClean="0">
                            <a:solidFill>
                              <a:schemeClr val="tx1"/>
                            </a:solidFill>
                            <a:effectLst/>
                            <a:latin typeface="Cambria Math" panose="02040503050406030204" pitchFamily="18" charset="0"/>
                            <a:ea typeface="+mn-ea"/>
                            <a:cs typeface="+mn-cs"/>
                          </a:rPr>
                          <m:t>𝐸</m:t>
                        </m:r>
                        <m:r>
                          <a:rPr lang="en-US" sz="1200" i="1" kern="1200" dirty="0" smtClean="0">
                            <a:solidFill>
                              <a:schemeClr val="tx1"/>
                            </a:solidFill>
                            <a:effectLst/>
                            <a:latin typeface="Cambria Math" panose="02040503050406030204" pitchFamily="18" charset="0"/>
                            <a:ea typeface="+mn-ea"/>
                            <a:cs typeface="+mn-cs"/>
                          </a:rPr>
                          <m:t>,</m:t>
                        </m:r>
                        <m:r>
                          <a:rPr lang="en-US" sz="1200" i="1" kern="1200" dirty="0" smtClean="0">
                            <a:solidFill>
                              <a:schemeClr val="tx1"/>
                            </a:solidFill>
                            <a:effectLst/>
                            <a:latin typeface="Cambria Math" panose="02040503050406030204" pitchFamily="18" charset="0"/>
                            <a:ea typeface="+mn-ea"/>
                            <a:cs typeface="+mn-cs"/>
                          </a:rPr>
                          <m:t>𝑁</m:t>
                        </m:r>
                      </m:e>
                    </m:d>
                  </m:oMath>
                </a14:m>
                <a:r>
                  <a:rPr lang="zh-TW" altLang="en-US" sz="1200" i="1" kern="1200" dirty="0">
                    <a:solidFill>
                      <a:schemeClr val="tx1"/>
                    </a:solidFill>
                    <a:effectLst/>
                    <a:latin typeface="Cambria Math" panose="02040503050406030204" pitchFamily="18" charset="0"/>
                    <a:ea typeface="+mn-ea"/>
                    <a:cs typeface="+mn-cs"/>
                  </a:rPr>
                  <a:t> </a:t>
                </a:r>
                <a:r>
                  <a:rPr lang="zh-TW" altLang="en-US" dirty="0"/>
                  <a:t>裡面。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在 </a:t>
                </a:r>
                <a:r>
                  <a:rPr lang="en-US" sz="1200" kern="1200" dirty="0">
                    <a:solidFill>
                      <a:schemeClr val="tx1"/>
                    </a:solidFill>
                    <a:effectLst/>
                    <a:latin typeface="+mn-lt"/>
                    <a:ea typeface="+mn-ea"/>
                    <a:cs typeface="+mn-cs"/>
                  </a:rPr>
                  <a:t>Vim Block </a:t>
                </a:r>
                <a:r>
                  <a:rPr lang="zh-TW" altLang="en-US" sz="1200" kern="1200" dirty="0">
                    <a:solidFill>
                      <a:schemeClr val="tx1"/>
                    </a:solidFill>
                    <a:effectLst/>
                    <a:latin typeface="+mn-lt"/>
                    <a:ea typeface="+mn-ea"/>
                    <a:cs typeface="+mn-cs"/>
                  </a:rPr>
                  <a:t>外部，特徵維度維持較小的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以節省傳輸成本；只有在 </a:t>
                </a:r>
                <a:r>
                  <a:rPr lang="en-US" sz="1200" kern="1200" dirty="0">
                    <a:solidFill>
                      <a:schemeClr val="tx1"/>
                    </a:solidFill>
                    <a:effectLst/>
                    <a:latin typeface="+mn-lt"/>
                    <a:ea typeface="+mn-ea"/>
                    <a:cs typeface="+mn-cs"/>
                  </a:rPr>
                  <a:t>Block </a:t>
                </a:r>
                <a:r>
                  <a:rPr lang="zh-TW" altLang="en-US" sz="1200" kern="1200" dirty="0">
                    <a:solidFill>
                      <a:schemeClr val="tx1"/>
                    </a:solidFill>
                    <a:effectLst/>
                    <a:latin typeface="+mn-lt"/>
                    <a:ea typeface="+mn-ea"/>
                    <a:cs typeface="+mn-cs"/>
                  </a:rPr>
                  <a:t>內部需要做複雜的 </a:t>
                </a:r>
                <a:r>
                  <a:rPr lang="en-US" sz="1200" kern="1200" dirty="0">
                    <a:solidFill>
                      <a:schemeClr val="tx1"/>
                    </a:solidFill>
                    <a:effectLst/>
                    <a:latin typeface="+mn-lt"/>
                    <a:ea typeface="+mn-ea"/>
                    <a:cs typeface="+mn-cs"/>
                  </a:rPr>
                  <a:t>SSM </a:t>
                </a:r>
                <a:r>
                  <a:rPr lang="zh-TW" altLang="en-US" sz="1200" kern="1200" dirty="0">
                    <a:solidFill>
                      <a:schemeClr val="tx1"/>
                    </a:solidFill>
                    <a:effectLst/>
                    <a:latin typeface="+mn-lt"/>
                    <a:ea typeface="+mn-ea"/>
                    <a:cs typeface="+mn-cs"/>
                  </a:rPr>
                  <a:t>動態運算時，才在 </a:t>
                </a:r>
                <a:r>
                  <a:rPr lang="en-US" sz="1200" kern="1200" dirty="0">
                    <a:solidFill>
                      <a:schemeClr val="tx1"/>
                    </a:solidFill>
                    <a:effectLst/>
                    <a:latin typeface="+mn-lt"/>
                    <a:ea typeface="+mn-ea"/>
                    <a:cs typeface="+mn-cs"/>
                  </a:rPr>
                  <a:t>RAM </a:t>
                </a:r>
                <a:r>
                  <a:rPr lang="zh-TW" altLang="en-US" sz="1200" kern="1200" dirty="0">
                    <a:solidFill>
                      <a:schemeClr val="tx1"/>
                    </a:solidFill>
                    <a:effectLst/>
                    <a:latin typeface="+mn-lt"/>
                    <a:ea typeface="+mn-ea"/>
                    <a:cs typeface="+mn-cs"/>
                  </a:rPr>
                  <a:t>裡面即時展開成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E$，</a:t>
                </a:r>
                <a:r>
                  <a:rPr lang="zh-TW" altLang="en-US" sz="1200" kern="1200" dirty="0">
                    <a:solidFill>
                      <a:schemeClr val="tx1"/>
                    </a:solidFill>
                    <a:effectLst/>
                    <a:latin typeface="+mn-lt"/>
                    <a:ea typeface="+mn-ea"/>
                    <a:cs typeface="+mn-cs"/>
                  </a:rPr>
                  <a:t>運算完立刻用一個 </a:t>
                </a:r>
                <a:r>
                  <a:rPr lang="en-US" sz="1200" kern="1200" dirty="0">
                    <a:solidFill>
                      <a:schemeClr val="tx1"/>
                    </a:solidFill>
                    <a:effectLst/>
                    <a:latin typeface="+mn-lt"/>
                    <a:ea typeface="+mn-ea"/>
                    <a:cs typeface="+mn-cs"/>
                  </a:rPr>
                  <a:t>Linear </a:t>
                </a:r>
                <a:r>
                  <a:rPr lang="zh-TW" altLang="en-US" sz="1200" kern="1200" dirty="0">
                    <a:solidFill>
                      <a:schemeClr val="tx1"/>
                    </a:solidFill>
                    <a:effectLst/>
                    <a:latin typeface="+mn-lt"/>
                    <a:ea typeface="+mn-ea"/>
                    <a:cs typeface="+mn-cs"/>
                  </a:rPr>
                  <a:t>層降維回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再丟給下一層。</a:t>
                </a:r>
              </a:p>
              <a:p>
                <a:r>
                  <a:rPr lang="en-US" altLang="zh-TW" dirty="0"/>
                  <a:t>N </a:t>
                </a:r>
                <a:r>
                  <a:rPr lang="zh-TW" altLang="en-US" dirty="0"/>
                  <a:t>格提供不同時間尺度的記憶</a:t>
                </a:r>
                <a:r>
                  <a:rPr lang="en-US" altLang="zh-TW" dirty="0"/>
                  <a:t>,</a:t>
                </a:r>
                <a:r>
                  <a:rPr lang="zh-TW" altLang="en-US" dirty="0"/>
                  <a:t>讓模型同時保有短期細節和長期脈絡。  一個 </a:t>
                </a:r>
                <a:r>
                  <a:rPr lang="en-US" altLang="zh-TW" dirty="0"/>
                  <a:t>channel </a:t>
                </a:r>
                <a:r>
                  <a:rPr lang="zh-TW" altLang="en-US" dirty="0"/>
                  <a:t>用 </a:t>
                </a:r>
                <a:r>
                  <a:rPr lang="en-US" altLang="zh-TW" dirty="0"/>
                  <a:t>16 </a:t>
                </a:r>
                <a:r>
                  <a:rPr lang="zh-TW" altLang="en-US" dirty="0"/>
                  <a:t>種不同時間尺度同時記事情</a:t>
                </a:r>
                <a:endParaRPr lang="en-US" altLang="zh-TW" dirty="0"/>
              </a:p>
              <a:p>
                <a:endParaRPr lang="en-US" altLang="zh-TW" dirty="0"/>
              </a:p>
              <a:p>
                <a:r>
                  <a:rPr lang="en-US" altLang="zh-TW" sz="1200" b="1" kern="1200" dirty="0">
                    <a:solidFill>
                      <a:schemeClr val="tx1"/>
                    </a:solidFill>
                    <a:effectLst/>
                    <a:latin typeface="+mn-lt"/>
                    <a:ea typeface="+mn-ea"/>
                    <a:cs typeface="+mn-cs"/>
                  </a:rPr>
                  <a:t>E</a:t>
                </a:r>
                <a:r>
                  <a:rPr lang="en-US" altLang="zh-TW" dirty="0"/>
                  <a:t>: </a:t>
                </a:r>
                <a:r>
                  <a:rPr lang="zh-TW" altLang="en-US" dirty="0"/>
                  <a:t>擴展特徵維度（</a:t>
                </a:r>
                <a:r>
                  <a:rPr lang="en-US" altLang="zh-TW" dirty="0"/>
                  <a:t>Expanded Dimension</a:t>
                </a:r>
                <a:r>
                  <a:rPr lang="zh-TW" altLang="en-US" dirty="0"/>
                  <a:t>）。為了提取更豐富的特徵，會在內部將維度放大（例如 </a:t>
                </a:r>
                <a:r>
                  <a:rPr lang="en-US" altLang="zh-TW" sz="1200" kern="1200" dirty="0">
                    <a:solidFill>
                      <a:schemeClr val="tx1"/>
                    </a:solidFill>
                    <a:effectLst/>
                    <a:latin typeface="+mn-lt"/>
                    <a:ea typeface="+mn-ea"/>
                    <a:cs typeface="+mn-cs"/>
                  </a:rPr>
                  <a:t>$D=384 \to E=768$</a:t>
                </a:r>
                <a:r>
                  <a:rPr lang="zh-TW" altLang="en-US" dirty="0"/>
                  <a:t>）。</a:t>
                </a:r>
                <a:endParaRPr lang="en-US" altLang="zh-TW" dirty="0"/>
              </a:p>
              <a:p>
                <a:r>
                  <a:rPr lang="en-US" altLang="zh-TW" sz="1200" b="1" kern="1200" dirty="0">
                    <a:solidFill>
                      <a:schemeClr val="tx1"/>
                    </a:solidFill>
                    <a:effectLst/>
                    <a:latin typeface="+mn-lt"/>
                    <a:ea typeface="+mn-ea"/>
                    <a:cs typeface="+mn-cs"/>
                  </a:rPr>
                  <a:t>N</a:t>
                </a:r>
                <a:r>
                  <a:rPr lang="en-US" altLang="zh-TW" dirty="0"/>
                  <a:t>: </a:t>
                </a:r>
                <a:r>
                  <a:rPr lang="zh-TW" altLang="en-US" sz="1200" b="1" kern="1200" dirty="0">
                    <a:solidFill>
                      <a:schemeClr val="tx1"/>
                    </a:solidFill>
                    <a:effectLst/>
                    <a:latin typeface="+mn-lt"/>
                    <a:ea typeface="+mn-ea"/>
                    <a:cs typeface="+mn-cs"/>
                  </a:rPr>
                  <a:t>狀態維度（</a:t>
                </a:r>
                <a:r>
                  <a:rPr lang="en-US" altLang="zh-TW" sz="1200" b="1" kern="1200" dirty="0">
                    <a:solidFill>
                      <a:schemeClr val="tx1"/>
                    </a:solidFill>
                    <a:effectLst/>
                    <a:latin typeface="+mn-lt"/>
                    <a:ea typeface="+mn-ea"/>
                    <a:cs typeface="+mn-cs"/>
                  </a:rPr>
                  <a:t>State Dimension</a:t>
                </a:r>
                <a:r>
                  <a:rPr lang="zh-TW" altLang="en-US" sz="1200" b="1" kern="1200" dirty="0">
                    <a:solidFill>
                      <a:schemeClr val="tx1"/>
                    </a:solidFill>
                    <a:effectLst/>
                    <a:latin typeface="+mn-lt"/>
                    <a:ea typeface="+mn-ea"/>
                    <a:cs typeface="+mn-cs"/>
                  </a:rPr>
                  <a:t>）</a:t>
                </a:r>
                <a:r>
                  <a:rPr lang="zh-TW" altLang="en-US" dirty="0"/>
                  <a:t>。這是 </a:t>
                </a:r>
                <a:r>
                  <a:rPr lang="en-US" altLang="zh-TW" dirty="0"/>
                  <a:t>SSM </a:t>
                </a:r>
                <a:r>
                  <a:rPr lang="zh-TW" altLang="en-US" dirty="0"/>
                  <a:t>的核心，代表那個「固定容量記憶體」的大小（通常很小，如 </a:t>
                </a:r>
                <a:r>
                  <a:rPr lang="en-US" altLang="zh-TW" dirty="0"/>
                  <a:t>16</a:t>
                </a:r>
                <a:r>
                  <a:rPr lang="zh-TW" altLang="en-US" dirty="0"/>
                  <a:t>）。不管掃描了幾個 </a:t>
                </a:r>
                <a:r>
                  <a:rPr lang="en-US" altLang="zh-TW" dirty="0"/>
                  <a:t>Patch</a:t>
                </a:r>
                <a:r>
                  <a:rPr lang="zh-TW" altLang="en-US" dirty="0"/>
                  <a:t>，歷史特徵都必須被濃縮在這個大小為 </a:t>
                </a:r>
                <a:r>
                  <a:rPr lang="en-US" altLang="zh-TW" sz="1200" kern="1200" dirty="0">
                    <a:solidFill>
                      <a:schemeClr val="tx1"/>
                    </a:solidFill>
                    <a:effectLst/>
                    <a:latin typeface="+mn-lt"/>
                    <a:ea typeface="+mn-ea"/>
                    <a:cs typeface="+mn-cs"/>
                  </a:rPr>
                  <a:t>$N$</a:t>
                </a:r>
                <a:r>
                  <a:rPr lang="zh-TW" altLang="en-US" dirty="0"/>
                  <a:t> 的空間裡。</a:t>
                </a:r>
              </a:p>
            </p:txBody>
          </p:sp>
        </mc:Choice>
        <mc:Fallback xmlns="">
          <p:sp>
            <p:nvSpPr>
              <p:cNvPr id="3" name="備忘稿版面配置區 2">
                <a:extLst>
                  <a:ext uri="{FF2B5EF4-FFF2-40B4-BE49-F238E27FC236}">
                    <a16:creationId xmlns:a16="http://schemas.microsoft.com/office/drawing/2014/main" id="{493789D9-08AC-6AC0-F3D4-A774047415C1}"/>
                  </a:ext>
                </a:extLst>
              </p:cNvPr>
              <p:cNvSpPr>
                <a:spLocks noGrp="1"/>
              </p:cNvSpPr>
              <p:nvPr>
                <p:ph type="body" idx="1"/>
              </p:nvPr>
            </p:nvSpPr>
            <p:spPr/>
            <p:txBody>
              <a:bodyPr/>
              <a:lstStyle/>
              <a:p>
                <a:r>
                  <a:rPr lang="en-US" dirty="0"/>
                  <a:t>Vim </a:t>
                </a:r>
                <a:r>
                  <a:rPr lang="zh-TW" altLang="en-US" dirty="0"/>
                  <a:t>採用的是 </a:t>
                </a:r>
                <a:r>
                  <a:rPr lang="en-US" dirty="0"/>
                  <a:t>SSM (</a:t>
                </a:r>
                <a:r>
                  <a:rPr lang="zh-TW" altLang="en-US" dirty="0"/>
                  <a:t>狀態空間模型</a:t>
                </a:r>
                <a:r>
                  <a:rPr lang="en-US" altLang="zh-TW" dirty="0"/>
                  <a:t>)</a:t>
                </a:r>
                <a:r>
                  <a:rPr lang="zh-TW" altLang="en-US" dirty="0"/>
                  <a:t>，它強制把過去所有的歷史資訊，全部壓縮進一個固定大小的隱藏狀態 </a:t>
                </a:r>
                <a:r>
                  <a:rPr lang="en-US" sz="1200" i="0" kern="1200" dirty="0">
                    <a:solidFill>
                      <a:schemeClr val="tx1"/>
                    </a:solidFill>
                    <a:effectLst/>
                    <a:latin typeface="Cambria Math" panose="02040503050406030204" pitchFamily="18" charset="0"/>
                    <a:ea typeface="+mn-ea"/>
                    <a:cs typeface="+mn-cs"/>
                  </a:rPr>
                  <a:t>ℎ∈(𝐵,𝐸,𝑁)</a:t>
                </a:r>
                <a:r>
                  <a:rPr lang="zh-TW" altLang="en-US" sz="1200" i="1" kern="1200" dirty="0">
                    <a:solidFill>
                      <a:schemeClr val="tx1"/>
                    </a:solidFill>
                    <a:effectLst/>
                    <a:latin typeface="Cambria Math" panose="02040503050406030204" pitchFamily="18" charset="0"/>
                    <a:ea typeface="+mn-ea"/>
                    <a:cs typeface="+mn-cs"/>
                  </a:rPr>
                  <a:t> </a:t>
                </a:r>
                <a:r>
                  <a:rPr lang="zh-TW" altLang="en-US" dirty="0"/>
                  <a:t>裡面。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在 </a:t>
                </a:r>
                <a:r>
                  <a:rPr lang="en-US" sz="1200" kern="1200" dirty="0">
                    <a:solidFill>
                      <a:schemeClr val="tx1"/>
                    </a:solidFill>
                    <a:effectLst/>
                    <a:latin typeface="+mn-lt"/>
                    <a:ea typeface="+mn-ea"/>
                    <a:cs typeface="+mn-cs"/>
                  </a:rPr>
                  <a:t>Vim Block </a:t>
                </a:r>
                <a:r>
                  <a:rPr lang="zh-TW" altLang="en-US" sz="1200" kern="1200" dirty="0">
                    <a:solidFill>
                      <a:schemeClr val="tx1"/>
                    </a:solidFill>
                    <a:effectLst/>
                    <a:latin typeface="+mn-lt"/>
                    <a:ea typeface="+mn-ea"/>
                    <a:cs typeface="+mn-cs"/>
                  </a:rPr>
                  <a:t>外部，特徵維度維持較小的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以節省傳輸成本；只有在 </a:t>
                </a:r>
                <a:r>
                  <a:rPr lang="en-US" sz="1200" kern="1200" dirty="0">
                    <a:solidFill>
                      <a:schemeClr val="tx1"/>
                    </a:solidFill>
                    <a:effectLst/>
                    <a:latin typeface="+mn-lt"/>
                    <a:ea typeface="+mn-ea"/>
                    <a:cs typeface="+mn-cs"/>
                  </a:rPr>
                  <a:t>Block </a:t>
                </a:r>
                <a:r>
                  <a:rPr lang="zh-TW" altLang="en-US" sz="1200" kern="1200" dirty="0">
                    <a:solidFill>
                      <a:schemeClr val="tx1"/>
                    </a:solidFill>
                    <a:effectLst/>
                    <a:latin typeface="+mn-lt"/>
                    <a:ea typeface="+mn-ea"/>
                    <a:cs typeface="+mn-cs"/>
                  </a:rPr>
                  <a:t>內部需要做複雜的 </a:t>
                </a:r>
                <a:r>
                  <a:rPr lang="en-US" sz="1200" kern="1200" dirty="0">
                    <a:solidFill>
                      <a:schemeClr val="tx1"/>
                    </a:solidFill>
                    <a:effectLst/>
                    <a:latin typeface="+mn-lt"/>
                    <a:ea typeface="+mn-ea"/>
                    <a:cs typeface="+mn-cs"/>
                  </a:rPr>
                  <a:t>SSM </a:t>
                </a:r>
                <a:r>
                  <a:rPr lang="zh-TW" altLang="en-US" sz="1200" kern="1200" dirty="0">
                    <a:solidFill>
                      <a:schemeClr val="tx1"/>
                    </a:solidFill>
                    <a:effectLst/>
                    <a:latin typeface="+mn-lt"/>
                    <a:ea typeface="+mn-ea"/>
                    <a:cs typeface="+mn-cs"/>
                  </a:rPr>
                  <a:t>動態運算時，才在 </a:t>
                </a:r>
                <a:r>
                  <a:rPr lang="en-US" sz="1200" kern="1200" dirty="0">
                    <a:solidFill>
                      <a:schemeClr val="tx1"/>
                    </a:solidFill>
                    <a:effectLst/>
                    <a:latin typeface="+mn-lt"/>
                    <a:ea typeface="+mn-ea"/>
                    <a:cs typeface="+mn-cs"/>
                  </a:rPr>
                  <a:t>RAM </a:t>
                </a:r>
                <a:r>
                  <a:rPr lang="zh-TW" altLang="en-US" sz="1200" kern="1200" dirty="0">
                    <a:solidFill>
                      <a:schemeClr val="tx1"/>
                    </a:solidFill>
                    <a:effectLst/>
                    <a:latin typeface="+mn-lt"/>
                    <a:ea typeface="+mn-ea"/>
                    <a:cs typeface="+mn-cs"/>
                  </a:rPr>
                  <a:t>裡面即時展開成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E$，</a:t>
                </a:r>
                <a:r>
                  <a:rPr lang="zh-TW" altLang="en-US" sz="1200" kern="1200" dirty="0">
                    <a:solidFill>
                      <a:schemeClr val="tx1"/>
                    </a:solidFill>
                    <a:effectLst/>
                    <a:latin typeface="+mn-lt"/>
                    <a:ea typeface="+mn-ea"/>
                    <a:cs typeface="+mn-cs"/>
                  </a:rPr>
                  <a:t>運算完立刻用一個 </a:t>
                </a:r>
                <a:r>
                  <a:rPr lang="en-US" sz="1200" kern="1200" dirty="0">
                    <a:solidFill>
                      <a:schemeClr val="tx1"/>
                    </a:solidFill>
                    <a:effectLst/>
                    <a:latin typeface="+mn-lt"/>
                    <a:ea typeface="+mn-ea"/>
                    <a:cs typeface="+mn-cs"/>
                  </a:rPr>
                  <a:t>Linear </a:t>
                </a:r>
                <a:r>
                  <a:rPr lang="zh-TW" altLang="en-US" sz="1200" kern="1200" dirty="0">
                    <a:solidFill>
                      <a:schemeClr val="tx1"/>
                    </a:solidFill>
                    <a:effectLst/>
                    <a:latin typeface="+mn-lt"/>
                    <a:ea typeface="+mn-ea"/>
                    <a:cs typeface="+mn-cs"/>
                  </a:rPr>
                  <a:t>層降維回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再丟給下一層。</a:t>
                </a:r>
              </a:p>
              <a:p>
                <a:endParaRPr lang="zh-TW" altLang="en-US" dirty="0"/>
              </a:p>
            </p:txBody>
          </p:sp>
        </mc:Fallback>
      </mc:AlternateContent>
      <p:sp>
        <p:nvSpPr>
          <p:cNvPr id="4" name="投影片編號版面配置區 3">
            <a:extLst>
              <a:ext uri="{FF2B5EF4-FFF2-40B4-BE49-F238E27FC236}">
                <a16:creationId xmlns:a16="http://schemas.microsoft.com/office/drawing/2014/main" id="{777F2C2E-97F0-E512-377B-693226FA0D42}"/>
              </a:ext>
            </a:extLst>
          </p:cNvPr>
          <p:cNvSpPr>
            <a:spLocks noGrp="1"/>
          </p:cNvSpPr>
          <p:nvPr>
            <p:ph type="sldNum" sz="quarter" idx="5"/>
          </p:nvPr>
        </p:nvSpPr>
        <p:spPr/>
        <p:txBody>
          <a:bodyPr/>
          <a:lstStyle/>
          <a:p>
            <a:fld id="{4FFC9C8E-8CA7-443A-832F-F0F3F7A96022}" type="slidenum">
              <a:rPr lang="zh-TW" altLang="en-US" smtClean="0"/>
              <a:t>14</a:t>
            </a:fld>
            <a:endParaRPr lang="zh-TW" altLang="en-US"/>
          </a:p>
        </p:txBody>
      </p:sp>
    </p:spTree>
    <p:extLst>
      <p:ext uri="{BB962C8B-B14F-4D97-AF65-F5344CB8AC3E}">
        <p14:creationId xmlns:p14="http://schemas.microsoft.com/office/powerpoint/2010/main" val="871429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0CBE-52AC-4352-9324-1CA273F33F9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15B7A3-5569-D0CE-33EA-26A5384F1F8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390D67F-5531-FF9E-612A-E0D62E2425BA}"/>
              </a:ext>
            </a:extLst>
          </p:cNvPr>
          <p:cNvSpPr>
            <a:spLocks noGrp="1"/>
          </p:cNvSpPr>
          <p:nvPr>
            <p:ph type="body" idx="1"/>
          </p:nvPr>
        </p:nvSpPr>
        <p:spPr/>
        <p:txBody>
          <a:bodyPr/>
          <a:lstStyle/>
          <a:p>
            <a:r>
              <a:rPr lang="en-US" altLang="zh-TW" dirty="0" err="1"/>
              <a:t>Deit</a:t>
            </a:r>
            <a:r>
              <a:rPr lang="en-US" altLang="zh-TW" dirty="0"/>
              <a:t>-Tiny, Vim-Tiny</a:t>
            </a:r>
            <a:r>
              <a:rPr lang="zh-TW" altLang="en-US" dirty="0"/>
              <a:t>在硬體資源受限、參數極少的輕量化場景，</a:t>
            </a:r>
            <a:r>
              <a:rPr lang="en-US" altLang="zh-TW" dirty="0"/>
              <a:t>Vim </a:t>
            </a:r>
            <a:r>
              <a:rPr lang="zh-TW" altLang="en-US" dirty="0"/>
              <a:t>的架構優勢會被無限放大。</a:t>
            </a:r>
          </a:p>
        </p:txBody>
      </p:sp>
      <p:sp>
        <p:nvSpPr>
          <p:cNvPr id="4" name="投影片編號版面配置區 3">
            <a:extLst>
              <a:ext uri="{FF2B5EF4-FFF2-40B4-BE49-F238E27FC236}">
                <a16:creationId xmlns:a16="http://schemas.microsoft.com/office/drawing/2014/main" id="{B839FAD0-5A22-849A-2180-070325107DD8}"/>
              </a:ext>
            </a:extLst>
          </p:cNvPr>
          <p:cNvSpPr>
            <a:spLocks noGrp="1"/>
          </p:cNvSpPr>
          <p:nvPr>
            <p:ph type="sldNum" sz="quarter" idx="5"/>
          </p:nvPr>
        </p:nvSpPr>
        <p:spPr/>
        <p:txBody>
          <a:bodyPr/>
          <a:lstStyle/>
          <a:p>
            <a:fld id="{4FFC9C8E-8CA7-443A-832F-F0F3F7A96022}" type="slidenum">
              <a:rPr lang="zh-TW" altLang="en-US" smtClean="0"/>
              <a:t>16</a:t>
            </a:fld>
            <a:endParaRPr lang="zh-TW" altLang="en-US"/>
          </a:p>
        </p:txBody>
      </p:sp>
    </p:spTree>
    <p:extLst>
      <p:ext uri="{BB962C8B-B14F-4D97-AF65-F5344CB8AC3E}">
        <p14:creationId xmlns:p14="http://schemas.microsoft.com/office/powerpoint/2010/main" val="3854069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D33F-E697-5556-9145-35DF800708E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A1318B2-B8B3-4538-94B7-67A19124596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D97621E-856C-90FD-AF65-FD220F2276CE}"/>
              </a:ext>
            </a:extLst>
          </p:cNvPr>
          <p:cNvSpPr>
            <a:spLocks noGrp="1"/>
          </p:cNvSpPr>
          <p:nvPr>
            <p:ph type="body" idx="1"/>
          </p:nvPr>
        </p:nvSpPr>
        <p:spPr/>
        <p:txBody>
          <a:bodyPr/>
          <a:lstStyle/>
          <a:p>
            <a:r>
              <a:rPr lang="zh-TW" altLang="en-US" dirty="0"/>
              <a:t>這兩張圖表的數據</a:t>
            </a:r>
            <a:r>
              <a:rPr lang="zh-TW" altLang="en-US" b="1" dirty="0"/>
              <a:t>並沒有包含特定的下游任務（如分類或分割），而是純粹測試骨幹網路 </a:t>
            </a:r>
            <a:r>
              <a:rPr lang="en-US" altLang="zh-TW" b="1" dirty="0"/>
              <a:t>(Backbone) </a:t>
            </a:r>
            <a:r>
              <a:rPr lang="zh-TW" altLang="en-US" b="1" dirty="0"/>
              <a:t>的</a:t>
            </a:r>
            <a:r>
              <a:rPr lang="en-US" altLang="zh-TW" b="1" dirty="0"/>
              <a:t>『</a:t>
            </a:r>
            <a:r>
              <a:rPr lang="zh-TW" altLang="en-US" b="1" dirty="0"/>
              <a:t>特徵提取 </a:t>
            </a:r>
            <a:r>
              <a:rPr lang="en-US" altLang="zh-TW" b="1" dirty="0"/>
              <a:t>(Feature Extraction) / Forward Pass』</a:t>
            </a:r>
            <a:r>
              <a:rPr lang="zh-TW" altLang="en-US" b="1" dirty="0"/>
              <a:t>效能。</a:t>
            </a:r>
            <a:endParaRPr lang="en-US" altLang="zh-TW" b="1" dirty="0"/>
          </a:p>
          <a:p>
            <a:r>
              <a:rPr lang="zh-TW" altLang="en-US" dirty="0"/>
              <a:t>一次把 </a:t>
            </a:r>
            <a:r>
              <a:rPr lang="en-US" altLang="zh-TW" dirty="0"/>
              <a:t>32 </a:t>
            </a:r>
            <a:r>
              <a:rPr lang="zh-TW" altLang="en-US" dirty="0"/>
              <a:t>張、</a:t>
            </a:r>
            <a:r>
              <a:rPr lang="en-US" altLang="zh-TW" dirty="0"/>
              <a:t>64 </a:t>
            </a:r>
            <a:r>
              <a:rPr lang="zh-TW" altLang="en-US" dirty="0"/>
              <a:t>張甚至 </a:t>
            </a:r>
            <a:r>
              <a:rPr lang="en-US" altLang="zh-TW" dirty="0"/>
              <a:t>128 </a:t>
            </a:r>
            <a:r>
              <a:rPr lang="zh-TW" altLang="en-US" dirty="0"/>
              <a:t>張圖片打包成一個 </a:t>
            </a:r>
            <a:r>
              <a:rPr lang="en-US" altLang="zh-TW" dirty="0"/>
              <a:t>"Batch" </a:t>
            </a:r>
            <a:r>
              <a:rPr lang="zh-TW" altLang="en-US" dirty="0"/>
              <a:t>送進 </a:t>
            </a:r>
            <a:r>
              <a:rPr lang="en-US" altLang="zh-TW" dirty="0"/>
              <a:t>GPU</a:t>
            </a:r>
            <a:r>
              <a:rPr lang="zh-TW" altLang="en-US" dirty="0"/>
              <a:t>平行運算</a:t>
            </a:r>
            <a:endParaRPr lang="en-US" altLang="zh-TW" dirty="0"/>
          </a:p>
          <a:p>
            <a:r>
              <a:rPr lang="en-US" altLang="zh-TW" sz="1200" b="1" kern="1200" dirty="0">
                <a:solidFill>
                  <a:schemeClr val="tx1"/>
                </a:solidFill>
                <a:effectLst/>
                <a:latin typeface="+mn-lt"/>
                <a:ea typeface="+mn-ea"/>
                <a:cs typeface="+mn-cs"/>
              </a:rPr>
              <a:t>log scale </a:t>
            </a:r>
            <a:r>
              <a:rPr lang="zh-TW" altLang="en-US" sz="1200" b="1" kern="1200" dirty="0">
                <a:solidFill>
                  <a:schemeClr val="tx1"/>
                </a:solidFill>
                <a:effectLst/>
                <a:latin typeface="+mn-lt"/>
                <a:ea typeface="+mn-ea"/>
                <a:cs typeface="+mn-cs"/>
              </a:rPr>
              <a:t>：</a:t>
            </a:r>
            <a:r>
              <a:rPr lang="zh-TW" altLang="en-US" dirty="0"/>
              <a:t> 注意看 </a:t>
            </a:r>
            <a:r>
              <a:rPr lang="en-US" altLang="zh-TW" dirty="0"/>
              <a:t>Y </a:t>
            </a:r>
            <a:r>
              <a:rPr lang="zh-TW" altLang="en-US" dirty="0"/>
              <a:t>軸的數字（</a:t>
            </a:r>
            <a:r>
              <a:rPr lang="en-US" altLang="zh-TW" dirty="0"/>
              <a:t>1, 1.4, 1.8, 2.2, 2.6</a:t>
            </a:r>
            <a:r>
              <a:rPr lang="zh-TW" altLang="en-US" dirty="0"/>
              <a:t>），它不是普通的等差數列，它是**「以 </a:t>
            </a:r>
            <a:r>
              <a:rPr lang="en-US" altLang="zh-TW" dirty="0"/>
              <a:t>10 </a:t>
            </a:r>
            <a:r>
              <a:rPr lang="zh-TW" altLang="en-US" dirty="0"/>
              <a:t>為底的對數值」 </a:t>
            </a:r>
            <a:r>
              <a:rPr lang="en-US" altLang="zh-TW" dirty="0"/>
              <a:t>(</a:t>
            </a:r>
            <a:r>
              <a:rPr lang="en-US" altLang="zh-TW" sz="1200" kern="1200" dirty="0">
                <a:solidFill>
                  <a:schemeClr val="tx1"/>
                </a:solidFill>
                <a:effectLst/>
                <a:latin typeface="+mn-lt"/>
                <a:ea typeface="+mn-ea"/>
                <a:cs typeface="+mn-cs"/>
              </a:rPr>
              <a:t>$\log_{10}(\text{FPS})$</a:t>
            </a:r>
            <a:r>
              <a:rPr lang="en-US" altLang="zh-TW" dirty="0"/>
              <a:t>)**</a:t>
            </a:r>
            <a:r>
              <a:rPr lang="zh-TW" altLang="en-US" dirty="0"/>
              <a:t>。</a:t>
            </a:r>
            <a:endParaRPr lang="en-US" altLang="zh-TW" dirty="0"/>
          </a:p>
          <a:p>
            <a:endParaRPr lang="en-US" altLang="zh-TW" dirty="0"/>
          </a:p>
          <a:p>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的 </a:t>
            </a:r>
            <a:r>
              <a:rPr lang="en-US" altLang="zh-TW" sz="1200" kern="1200" dirty="0">
                <a:solidFill>
                  <a:schemeClr val="tx1"/>
                </a:solidFill>
                <a:effectLst/>
                <a:latin typeface="+mn-lt"/>
                <a:ea typeface="+mn-ea"/>
                <a:cs typeface="+mn-cs"/>
              </a:rPr>
              <a:t>Y </a:t>
            </a:r>
            <a:r>
              <a:rPr lang="zh-TW" altLang="en-US" sz="1200" kern="1200" dirty="0">
                <a:solidFill>
                  <a:schemeClr val="tx1"/>
                </a:solidFill>
                <a:effectLst/>
                <a:latin typeface="+mn-lt"/>
                <a:ea typeface="+mn-ea"/>
                <a:cs typeface="+mn-cs"/>
              </a:rPr>
              <a:t>軸數值是 </a:t>
            </a:r>
            <a:r>
              <a:rPr lang="en-US" altLang="zh-TW" sz="1200" kern="1200" dirty="0">
                <a:solidFill>
                  <a:schemeClr val="tx1"/>
                </a:solidFill>
                <a:effectLst/>
                <a:latin typeface="+mn-lt"/>
                <a:ea typeface="+mn-ea"/>
                <a:cs typeface="+mn-cs"/>
              </a:rPr>
              <a:t>1.71 $\</a:t>
            </a:r>
            <a:r>
              <a:rPr lang="en-US" altLang="zh-TW" sz="1200" kern="1200" dirty="0" err="1">
                <a:solidFill>
                  <a:schemeClr val="tx1"/>
                </a:solidFill>
                <a:effectLst/>
                <a:latin typeface="+mn-lt"/>
                <a:ea typeface="+mn-ea"/>
                <a:cs typeface="+mn-cs"/>
              </a:rPr>
              <a:t>rightarrow</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實際 </a:t>
            </a:r>
            <a:r>
              <a:rPr lang="en-US" altLang="zh-TW" sz="1200" kern="1200" dirty="0">
                <a:solidFill>
                  <a:schemeClr val="tx1"/>
                </a:solidFill>
                <a:effectLst/>
                <a:latin typeface="+mn-lt"/>
                <a:ea typeface="+mn-ea"/>
                <a:cs typeface="+mn-cs"/>
              </a:rPr>
              <a:t>FPS = $10^{1.71} \</a:t>
            </a:r>
            <a:r>
              <a:rPr lang="en-US" altLang="zh-TW" sz="1200" kern="1200" dirty="0" err="1">
                <a:solidFill>
                  <a:schemeClr val="tx1"/>
                </a:solidFill>
                <a:effectLst/>
                <a:latin typeface="+mn-lt"/>
                <a:ea typeface="+mn-ea"/>
                <a:cs typeface="+mn-cs"/>
              </a:rPr>
              <a:t>approx</a:t>
            </a:r>
            <a:r>
              <a:rPr lang="en-US" altLang="zh-TW" sz="1200" kern="1200" dirty="0">
                <a:solidFill>
                  <a:schemeClr val="tx1"/>
                </a:solidFill>
                <a:effectLst/>
                <a:latin typeface="+mn-lt"/>
                <a:ea typeface="+mn-ea"/>
                <a:cs typeface="+mn-cs"/>
              </a:rPr>
              <a:t> 51.3$ </a:t>
            </a:r>
            <a:r>
              <a:rPr lang="zh-TW" altLang="en-US" sz="1200" kern="1200" dirty="0">
                <a:solidFill>
                  <a:schemeClr val="tx1"/>
                </a:solidFill>
                <a:effectLst/>
                <a:latin typeface="+mn-lt"/>
                <a:ea typeface="+mn-ea"/>
                <a:cs typeface="+mn-cs"/>
              </a:rPr>
              <a:t>張</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秒。</a:t>
            </a:r>
          </a:p>
          <a:p>
            <a:r>
              <a:rPr lang="en-US" altLang="zh-TW" sz="1200" kern="1200" dirty="0" err="1">
                <a:solidFill>
                  <a:schemeClr val="tx1"/>
                </a:solidFill>
                <a:effectLst/>
                <a:latin typeface="+mn-lt"/>
                <a:ea typeface="+mn-ea"/>
                <a:cs typeface="+mn-cs"/>
              </a:rPr>
              <a:t>DeiT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的 </a:t>
            </a:r>
            <a:r>
              <a:rPr lang="en-US" altLang="zh-TW" sz="1200" kern="1200" dirty="0">
                <a:solidFill>
                  <a:schemeClr val="tx1"/>
                </a:solidFill>
                <a:effectLst/>
                <a:latin typeface="+mn-lt"/>
                <a:ea typeface="+mn-ea"/>
                <a:cs typeface="+mn-cs"/>
              </a:rPr>
              <a:t>Y </a:t>
            </a:r>
            <a:r>
              <a:rPr lang="zh-TW" altLang="en-US" sz="1200" kern="1200" dirty="0">
                <a:solidFill>
                  <a:schemeClr val="tx1"/>
                </a:solidFill>
                <a:effectLst/>
                <a:latin typeface="+mn-lt"/>
                <a:ea typeface="+mn-ea"/>
                <a:cs typeface="+mn-cs"/>
              </a:rPr>
              <a:t>軸數值是 </a:t>
            </a:r>
            <a:r>
              <a:rPr lang="en-US" altLang="zh-TW" sz="1200" kern="1200" dirty="0">
                <a:solidFill>
                  <a:schemeClr val="tx1"/>
                </a:solidFill>
                <a:effectLst/>
                <a:latin typeface="+mn-lt"/>
                <a:ea typeface="+mn-ea"/>
                <a:cs typeface="+mn-cs"/>
              </a:rPr>
              <a:t>1.26 $\</a:t>
            </a:r>
            <a:r>
              <a:rPr lang="en-US" altLang="zh-TW" sz="1200" kern="1200" dirty="0" err="1">
                <a:solidFill>
                  <a:schemeClr val="tx1"/>
                </a:solidFill>
                <a:effectLst/>
                <a:latin typeface="+mn-lt"/>
                <a:ea typeface="+mn-ea"/>
                <a:cs typeface="+mn-cs"/>
              </a:rPr>
              <a:t>rightarrow</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實際 </a:t>
            </a:r>
            <a:r>
              <a:rPr lang="en-US" altLang="zh-TW" sz="1200" kern="1200" dirty="0">
                <a:solidFill>
                  <a:schemeClr val="tx1"/>
                </a:solidFill>
                <a:effectLst/>
                <a:latin typeface="+mn-lt"/>
                <a:ea typeface="+mn-ea"/>
                <a:cs typeface="+mn-cs"/>
              </a:rPr>
              <a:t>FPS = $10^{1.26} \</a:t>
            </a:r>
            <a:r>
              <a:rPr lang="en-US" altLang="zh-TW" sz="1200" kern="1200" dirty="0" err="1">
                <a:solidFill>
                  <a:schemeClr val="tx1"/>
                </a:solidFill>
                <a:effectLst/>
                <a:latin typeface="+mn-lt"/>
                <a:ea typeface="+mn-ea"/>
                <a:cs typeface="+mn-cs"/>
              </a:rPr>
              <a:t>approx</a:t>
            </a:r>
            <a:r>
              <a:rPr lang="en-US" altLang="zh-TW" sz="1200" kern="1200" dirty="0">
                <a:solidFill>
                  <a:schemeClr val="tx1"/>
                </a:solidFill>
                <a:effectLst/>
                <a:latin typeface="+mn-lt"/>
                <a:ea typeface="+mn-ea"/>
                <a:cs typeface="+mn-cs"/>
              </a:rPr>
              <a:t> 18.2$ </a:t>
            </a:r>
            <a:r>
              <a:rPr lang="zh-TW" altLang="en-US" sz="1200" kern="1200" dirty="0">
                <a:solidFill>
                  <a:schemeClr val="tx1"/>
                </a:solidFill>
                <a:effectLst/>
                <a:latin typeface="+mn-lt"/>
                <a:ea typeface="+mn-ea"/>
                <a:cs typeface="+mn-cs"/>
              </a:rPr>
              <a:t>張</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秒。</a:t>
            </a:r>
          </a:p>
          <a:p>
            <a:r>
              <a:rPr lang="zh-TW" altLang="en-US" sz="1200" b="1" kern="1200" dirty="0">
                <a:solidFill>
                  <a:schemeClr val="tx1"/>
                </a:solidFill>
                <a:effectLst/>
                <a:latin typeface="+mn-lt"/>
                <a:ea typeface="+mn-ea"/>
                <a:cs typeface="+mn-cs"/>
              </a:rPr>
              <a:t>計算倍率： </a:t>
            </a:r>
            <a:r>
              <a:rPr lang="en-US" altLang="zh-TW" sz="1200" b="1" kern="1200" dirty="0">
                <a:solidFill>
                  <a:schemeClr val="tx1"/>
                </a:solidFill>
                <a:effectLst/>
                <a:latin typeface="+mn-lt"/>
                <a:ea typeface="+mn-ea"/>
                <a:cs typeface="+mn-cs"/>
              </a:rPr>
              <a:t>$51.3 \div 18.2 \</a:t>
            </a:r>
            <a:r>
              <a:rPr lang="en-US" altLang="zh-TW" sz="1200" b="1" kern="1200" dirty="0" err="1">
                <a:solidFill>
                  <a:schemeClr val="tx1"/>
                </a:solidFill>
                <a:effectLst/>
                <a:latin typeface="+mn-lt"/>
                <a:ea typeface="+mn-ea"/>
                <a:cs typeface="+mn-cs"/>
              </a:rPr>
              <a:t>approx</a:t>
            </a:r>
            <a:r>
              <a:rPr lang="en-US" altLang="zh-TW" sz="1200" b="1" kern="1200" dirty="0">
                <a:solidFill>
                  <a:schemeClr val="tx1"/>
                </a:solidFill>
                <a:effectLst/>
                <a:latin typeface="+mn-lt"/>
                <a:ea typeface="+mn-ea"/>
                <a:cs typeface="+mn-cs"/>
              </a:rPr>
              <a:t> 2.81$ </a:t>
            </a:r>
            <a:r>
              <a:rPr lang="zh-TW" altLang="en-US" sz="1200" b="1" kern="1200" dirty="0">
                <a:solidFill>
                  <a:schemeClr val="tx1"/>
                </a:solidFill>
                <a:effectLst/>
                <a:latin typeface="+mn-lt"/>
                <a:ea typeface="+mn-ea"/>
                <a:cs typeface="+mn-cs"/>
              </a:rPr>
              <a:t>倍！</a:t>
            </a:r>
            <a:endParaRPr lang="en-US" altLang="zh-TW" sz="1200" b="1" kern="1200" dirty="0">
              <a:solidFill>
                <a:schemeClr val="tx1"/>
              </a:solidFill>
              <a:effectLst/>
              <a:latin typeface="+mn-lt"/>
              <a:ea typeface="+mn-ea"/>
              <a:cs typeface="+mn-cs"/>
            </a:endParaRPr>
          </a:p>
          <a:p>
            <a:endParaRPr lang="en-US" altLang="zh-TW" sz="1200" b="1" kern="1200" dirty="0">
              <a:solidFill>
                <a:schemeClr val="tx1"/>
              </a:solidFill>
              <a:effectLst/>
              <a:latin typeface="+mn-lt"/>
              <a:ea typeface="+mn-ea"/>
              <a:cs typeface="+mn-cs"/>
            </a:endParaRPr>
          </a:p>
          <a:p>
            <a:r>
              <a:rPr lang="zh-TW" altLang="en-US" dirty="0"/>
              <a:t>當解析度拉到 </a:t>
            </a:r>
            <a:r>
              <a:rPr lang="en-US" altLang="zh-TW" dirty="0"/>
              <a:t>1248 </a:t>
            </a:r>
            <a:r>
              <a:rPr lang="zh-TW" altLang="en-US" dirty="0"/>
              <a:t>時，整張圖片會被切割成 </a:t>
            </a:r>
            <a:r>
              <a:rPr lang="en-US" altLang="zh-TW" dirty="0"/>
              <a:t>6084 </a:t>
            </a:r>
            <a:r>
              <a:rPr lang="zh-TW" altLang="en-US" dirty="0"/>
              <a:t>個特徵區塊。對於 </a:t>
            </a:r>
            <a:r>
              <a:rPr lang="en-US" altLang="zh-TW" dirty="0" err="1"/>
              <a:t>DeiT</a:t>
            </a:r>
            <a:r>
              <a:rPr lang="en-US" altLang="zh-TW" dirty="0"/>
              <a:t> </a:t>
            </a:r>
            <a:r>
              <a:rPr lang="zh-TW" altLang="en-US" dirty="0"/>
              <a:t>來說，這意味著它必須負荷 </a:t>
            </a:r>
            <a:r>
              <a:rPr lang="en-US" altLang="zh-TW" sz="1200" kern="1200" dirty="0">
                <a:solidFill>
                  <a:schemeClr val="tx1"/>
                </a:solidFill>
                <a:effectLst/>
                <a:latin typeface="+mn-lt"/>
                <a:ea typeface="+mn-ea"/>
                <a:cs typeface="+mn-cs"/>
              </a:rPr>
              <a:t>$O(N^2)$</a:t>
            </a:r>
            <a:r>
              <a:rPr lang="zh-TW" altLang="en-US" dirty="0"/>
              <a:t> 平方等級的 </a:t>
            </a:r>
            <a:r>
              <a:rPr lang="en-US" altLang="zh-TW" dirty="0"/>
              <a:t>Self-Attention </a:t>
            </a:r>
            <a:r>
              <a:rPr lang="zh-TW" altLang="en-US" dirty="0"/>
              <a:t>龐大運算量，導致記憶體崩潰；而 </a:t>
            </a:r>
            <a:r>
              <a:rPr lang="en-US" altLang="zh-TW" dirty="0"/>
              <a:t>Vim </a:t>
            </a:r>
            <a:r>
              <a:rPr lang="zh-TW" altLang="en-US" dirty="0"/>
              <a:t>因為採用了狀態空間模型 </a:t>
            </a:r>
            <a:r>
              <a:rPr lang="en-US" altLang="zh-TW" dirty="0"/>
              <a:t>(SSM) </a:t>
            </a:r>
            <a:r>
              <a:rPr lang="zh-TW" altLang="en-US" dirty="0"/>
              <a:t>的線性架構，即使序列長達六千多，依然能維持極低的記憶體消耗與高速推論 </a:t>
            </a:r>
            <a:endParaRPr lang="zh-TW" altLang="en-US" sz="1200"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008D1B40-5C80-057D-2E4E-18B9EA162B4B}"/>
              </a:ext>
            </a:extLst>
          </p:cNvPr>
          <p:cNvSpPr>
            <a:spLocks noGrp="1"/>
          </p:cNvSpPr>
          <p:nvPr>
            <p:ph type="sldNum" sz="quarter" idx="5"/>
          </p:nvPr>
        </p:nvSpPr>
        <p:spPr/>
        <p:txBody>
          <a:bodyPr/>
          <a:lstStyle/>
          <a:p>
            <a:fld id="{4FFC9C8E-8CA7-443A-832F-F0F3F7A96022}" type="slidenum">
              <a:rPr lang="zh-TW" altLang="en-US" smtClean="0"/>
              <a:t>17</a:t>
            </a:fld>
            <a:endParaRPr lang="zh-TW" altLang="en-US"/>
          </a:p>
        </p:txBody>
      </p:sp>
    </p:spTree>
    <p:extLst>
      <p:ext uri="{BB962C8B-B14F-4D97-AF65-F5344CB8AC3E}">
        <p14:creationId xmlns:p14="http://schemas.microsoft.com/office/powerpoint/2010/main" val="1647263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795C6-68FC-6382-15C8-669EEDE148C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F6327B7-FAE6-B0C8-42C9-BE1353AA835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47F489-B34C-900D-8047-9E7C04999EB8}"/>
              </a:ext>
            </a:extLst>
          </p:cNvPr>
          <p:cNvSpPr>
            <a:spLocks noGrp="1"/>
          </p:cNvSpPr>
          <p:nvPr>
            <p:ph type="body" idx="1"/>
          </p:nvPr>
        </p:nvSpPr>
        <p:spPr/>
        <p:txBody>
          <a:bodyPr/>
          <a:lstStyle/>
          <a:p>
            <a:r>
              <a:rPr lang="zh-TW" altLang="en-US" b="1" dirty="0"/>
              <a:t>長序列設定 </a:t>
            </a:r>
            <a:r>
              <a:rPr lang="en-US" altLang="zh-TW" b="1" dirty="0"/>
              <a:t>(</a:t>
            </a:r>
            <a:r>
              <a:rPr lang="en-US" b="1" dirty="0"/>
              <a:t>long sequence setting)：</a:t>
            </a:r>
            <a:r>
              <a:rPr lang="en-US" dirty="0"/>
              <a:t> </a:t>
            </a:r>
            <a:r>
              <a:rPr lang="zh-TW" altLang="en-US" dirty="0"/>
              <a:t>作者把餵給模型的圖片「放大」了。圖片變大，切出來的 </a:t>
            </a:r>
            <a:r>
              <a:rPr lang="en-US" dirty="0"/>
              <a:t>Patch (</a:t>
            </a:r>
            <a:r>
              <a:rPr lang="zh-TW" altLang="en-US" dirty="0"/>
              <a:t>也就是 </a:t>
            </a:r>
            <a:r>
              <a:rPr lang="en-US" dirty="0"/>
              <a:t>Token) </a:t>
            </a:r>
            <a:r>
              <a:rPr lang="zh-TW" altLang="en-US" dirty="0"/>
              <a:t>就會變多，整個序列就會變長。</a:t>
            </a:r>
          </a:p>
          <a:p>
            <a:r>
              <a:rPr lang="zh-TW" altLang="en-US" b="1" dirty="0"/>
              <a:t>為什麼要特別標註？</a:t>
            </a:r>
            <a:r>
              <a:rPr lang="zh-TW" altLang="en-US" dirty="0"/>
              <a:t> 因為傳統的 </a:t>
            </a:r>
            <a:r>
              <a:rPr lang="en-US" dirty="0"/>
              <a:t>Transformer </a:t>
            </a:r>
            <a:r>
              <a:rPr lang="zh-TW" altLang="en-US" dirty="0"/>
              <a:t>看到這種「長序列」會直接算到當機（記憶體爆炸）。作者特地加了這個 </a:t>
            </a:r>
            <a:r>
              <a:rPr lang="en-US" altLang="zh-TW" sz="1200" kern="1200" dirty="0">
                <a:solidFill>
                  <a:schemeClr val="tx1"/>
                </a:solidFill>
                <a:latin typeface="+mn-lt"/>
                <a:ea typeface="+mn-ea"/>
                <a:cs typeface="+mn-cs"/>
              </a:rPr>
              <a:t>†</a:t>
            </a:r>
            <a:r>
              <a:rPr lang="zh-TW" altLang="en-US" dirty="0"/>
              <a:t> 符號，就是在炫耀：「你看，只有我們家 </a:t>
            </a:r>
            <a:r>
              <a:rPr lang="en-US" dirty="0"/>
              <a:t>Vim </a:t>
            </a:r>
            <a:r>
              <a:rPr lang="zh-TW" altLang="en-US" dirty="0"/>
              <a:t>可以輕輕鬆鬆吃下這種長序列高畫質圖片，而且特訓完之後準確率還狂飆！」</a:t>
            </a:r>
            <a:endParaRPr lang="en-US" altLang="zh-TW" dirty="0"/>
          </a:p>
          <a:p>
            <a:endParaRPr lang="en-US" altLang="zh-TW" dirty="0"/>
          </a:p>
          <a:p>
            <a:r>
              <a:rPr lang="zh-TW" altLang="en-US" sz="1200" b="0" i="0" kern="1200" dirty="0">
                <a:solidFill>
                  <a:schemeClr val="tx1"/>
                </a:solidFill>
                <a:effectLst/>
                <a:latin typeface="+mn-lt"/>
                <a:ea typeface="+mn-ea"/>
                <a:cs typeface="+mn-cs"/>
              </a:rPr>
              <a:t>作者對 </a:t>
            </a:r>
            <a:r>
              <a:rPr lang="en-US" altLang="zh-TW" sz="1200" b="0" i="0" kern="1200" dirty="0">
                <a:solidFill>
                  <a:schemeClr val="tx1"/>
                </a:solidFill>
                <a:effectLst/>
                <a:latin typeface="+mn-lt"/>
                <a:ea typeface="+mn-ea"/>
                <a:cs typeface="+mn-cs"/>
              </a:rPr>
              <a:t>Vim-Tiny</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Vim-Small</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Vim-Base </a:t>
            </a:r>
            <a:r>
              <a:rPr lang="zh-TW" altLang="en-US" sz="1200" b="0" i="0" kern="1200" dirty="0">
                <a:solidFill>
                  <a:schemeClr val="tx1"/>
                </a:solidFill>
                <a:effectLst/>
                <a:latin typeface="+mn-lt"/>
                <a:ea typeface="+mn-ea"/>
                <a:cs typeface="+mn-cs"/>
              </a:rPr>
              <a:t>做完長序列 </a:t>
            </a:r>
            <a:r>
              <a:rPr lang="en-US" altLang="zh-TW" sz="1200" b="0" i="0" kern="1200" dirty="0">
                <a:solidFill>
                  <a:schemeClr val="tx1"/>
                </a:solidFill>
                <a:effectLst/>
                <a:latin typeface="+mn-lt"/>
                <a:ea typeface="+mn-ea"/>
                <a:cs typeface="+mn-cs"/>
              </a:rPr>
              <a:t>fine-tuning </a:t>
            </a:r>
            <a:r>
              <a:rPr lang="zh-TW" altLang="en-US" sz="1200" b="0" i="0" kern="1200" dirty="0">
                <a:solidFill>
                  <a:schemeClr val="tx1"/>
                </a:solidFill>
                <a:effectLst/>
                <a:latin typeface="+mn-lt"/>
                <a:ea typeface="+mn-ea"/>
                <a:cs typeface="+mn-cs"/>
              </a:rPr>
              <a:t>後（標記為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）還能再提升精度。這表示在維持較小參數量的同時，能透過長序列 </a:t>
            </a:r>
            <a:r>
              <a:rPr lang="en-US" altLang="zh-TW" sz="1200" b="0" i="0" kern="1200" dirty="0">
                <a:solidFill>
                  <a:schemeClr val="tx1"/>
                </a:solidFill>
                <a:effectLst/>
                <a:latin typeface="+mn-lt"/>
                <a:ea typeface="+mn-ea"/>
                <a:cs typeface="+mn-cs"/>
              </a:rPr>
              <a:t>fine-tuning </a:t>
            </a:r>
            <a:r>
              <a:rPr lang="zh-TW" altLang="en-US" sz="1200" b="0" i="0" kern="1200" dirty="0">
                <a:solidFill>
                  <a:schemeClr val="tx1"/>
                </a:solidFill>
                <a:effectLst/>
                <a:latin typeface="+mn-lt"/>
                <a:ea typeface="+mn-ea"/>
                <a:cs typeface="+mn-cs"/>
              </a:rPr>
              <a:t>得到更佳表現。</a:t>
            </a:r>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1FE43A62-EDED-1261-098E-6EC61C3B15E4}"/>
              </a:ext>
            </a:extLst>
          </p:cNvPr>
          <p:cNvSpPr>
            <a:spLocks noGrp="1"/>
          </p:cNvSpPr>
          <p:nvPr>
            <p:ph type="sldNum" sz="quarter" idx="5"/>
          </p:nvPr>
        </p:nvSpPr>
        <p:spPr/>
        <p:txBody>
          <a:bodyPr/>
          <a:lstStyle/>
          <a:p>
            <a:fld id="{4FFC9C8E-8CA7-443A-832F-F0F3F7A96022}" type="slidenum">
              <a:rPr lang="zh-TW" altLang="en-US" smtClean="0"/>
              <a:t>18</a:t>
            </a:fld>
            <a:endParaRPr lang="zh-TW" altLang="en-US"/>
          </a:p>
        </p:txBody>
      </p:sp>
    </p:spTree>
    <p:extLst>
      <p:ext uri="{BB962C8B-B14F-4D97-AF65-F5344CB8AC3E}">
        <p14:creationId xmlns:p14="http://schemas.microsoft.com/office/powerpoint/2010/main" val="3177650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F8492-3FBF-DF76-947A-E7D3604AE4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0D76312-627B-A195-B8CD-31822D81618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0ADA08B-4914-29D4-3ABC-3D16A34163F3}"/>
              </a:ext>
            </a:extLst>
          </p:cNvPr>
          <p:cNvSpPr>
            <a:spLocks noGrp="1"/>
          </p:cNvSpPr>
          <p:nvPr>
            <p:ph type="body" idx="1"/>
          </p:nvPr>
        </p:nvSpPr>
        <p:spPr/>
        <p:txBody>
          <a:bodyPr/>
          <a:lstStyle/>
          <a:p>
            <a:r>
              <a:rPr lang="zh-TW" altLang="en-US" sz="1200" b="0" i="0" kern="1200" dirty="0">
                <a:solidFill>
                  <a:schemeClr val="tx1"/>
                </a:solidFill>
                <a:effectLst/>
                <a:latin typeface="+mn-lt"/>
                <a:ea typeface="+mn-ea"/>
                <a:cs typeface="+mn-cs"/>
              </a:rPr>
              <a:t>影像分割的效果。作者在 </a:t>
            </a:r>
            <a:r>
              <a:rPr lang="en-US" altLang="zh-TW" sz="1200" b="0" i="0" kern="1200" dirty="0">
                <a:solidFill>
                  <a:schemeClr val="tx1"/>
                </a:solidFill>
                <a:effectLst/>
                <a:latin typeface="+mn-lt"/>
                <a:ea typeface="+mn-ea"/>
                <a:cs typeface="+mn-cs"/>
              </a:rPr>
              <a:t>ADE20K </a:t>
            </a:r>
            <a:r>
              <a:rPr lang="zh-TW" altLang="en-US" sz="1200" b="0" i="0" kern="1200" dirty="0">
                <a:solidFill>
                  <a:schemeClr val="tx1"/>
                </a:solidFill>
                <a:effectLst/>
                <a:latin typeface="+mn-lt"/>
                <a:ea typeface="+mn-ea"/>
                <a:cs typeface="+mn-cs"/>
              </a:rPr>
              <a:t>資料集進行實驗，並採用 </a:t>
            </a:r>
            <a:r>
              <a:rPr lang="en-US" altLang="zh-TW" sz="1200" b="0" i="0" kern="1200" dirty="0" err="1">
                <a:solidFill>
                  <a:schemeClr val="tx1"/>
                </a:solidFill>
                <a:effectLst/>
                <a:latin typeface="+mn-lt"/>
                <a:ea typeface="+mn-ea"/>
                <a:cs typeface="+mn-cs"/>
              </a:rPr>
              <a:t>UperNet</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作為基礎分割框架，證明了 </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與自注意力型骨幹網路的比較優勢。</a:t>
            </a:r>
          </a:p>
          <a:p>
            <a:r>
              <a:rPr lang="zh-TW" altLang="en-US" sz="1200" b="0" i="0" kern="1200" dirty="0">
                <a:solidFill>
                  <a:schemeClr val="tx1"/>
                </a:solidFill>
                <a:effectLst/>
                <a:latin typeface="+mn-lt"/>
                <a:ea typeface="+mn-ea"/>
                <a:cs typeface="+mn-cs"/>
              </a:rPr>
              <a:t>實驗結果如上表，在不同規模下，</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都能比 </a:t>
            </a:r>
            <a:r>
              <a:rPr lang="en-US" altLang="zh-TW" sz="1200" b="0" i="0" kern="1200" dirty="0" err="1">
                <a:solidFill>
                  <a:schemeClr val="tx1"/>
                </a:solidFill>
                <a:effectLst/>
                <a:latin typeface="+mn-lt"/>
                <a:ea typeface="+mn-ea"/>
                <a:cs typeface="+mn-cs"/>
              </a:rPr>
              <a:t>DeiT</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有更好的 </a:t>
            </a:r>
            <a:r>
              <a:rPr lang="en-US" altLang="zh-TW" sz="1200" b="0" i="0" kern="1200" dirty="0" err="1">
                <a:solidFill>
                  <a:schemeClr val="tx1"/>
                </a:solidFill>
                <a:effectLst/>
                <a:latin typeface="+mn-lt"/>
                <a:ea typeface="+mn-ea"/>
                <a:cs typeface="+mn-cs"/>
              </a:rPr>
              <a:t>mIoU</a:t>
            </a:r>
            <a:r>
              <a:rPr lang="zh-TW" altLang="en-US" sz="1200" b="0" i="0" kern="1200" dirty="0">
                <a:solidFill>
                  <a:schemeClr val="tx1"/>
                </a:solidFill>
                <a:effectLst/>
                <a:latin typeface="+mn-lt"/>
                <a:ea typeface="+mn-ea"/>
                <a:cs typeface="+mn-cs"/>
              </a:rPr>
              <a:t>。例如 </a:t>
            </a:r>
            <a:r>
              <a:rPr lang="en-US" altLang="zh-TW" sz="1200" b="0" i="0" kern="1200" dirty="0">
                <a:solidFill>
                  <a:schemeClr val="tx1"/>
                </a:solidFill>
                <a:effectLst/>
                <a:latin typeface="+mn-lt"/>
                <a:ea typeface="+mn-ea"/>
                <a:cs typeface="+mn-cs"/>
              </a:rPr>
              <a:t>Vim-Tiny </a:t>
            </a:r>
            <a:r>
              <a:rPr lang="zh-TW" altLang="en-US" sz="1200" b="0" i="0" kern="1200" dirty="0">
                <a:solidFill>
                  <a:schemeClr val="tx1"/>
                </a:solidFill>
                <a:effectLst/>
                <a:latin typeface="+mn-lt"/>
                <a:ea typeface="+mn-ea"/>
                <a:cs typeface="+mn-cs"/>
              </a:rPr>
              <a:t>比 </a:t>
            </a:r>
            <a:r>
              <a:rPr lang="en-US" altLang="zh-TW" sz="1200" b="0" i="0" kern="1200" dirty="0" err="1">
                <a:solidFill>
                  <a:schemeClr val="tx1"/>
                </a:solidFill>
                <a:effectLst/>
                <a:latin typeface="+mn-lt"/>
                <a:ea typeface="+mn-ea"/>
                <a:cs typeface="+mn-cs"/>
              </a:rPr>
              <a:t>DeiT</a:t>
            </a:r>
            <a:r>
              <a:rPr lang="en-US" altLang="zh-TW" sz="1200" b="0" i="0" kern="1200" dirty="0">
                <a:solidFill>
                  <a:schemeClr val="tx1"/>
                </a:solidFill>
                <a:effectLst/>
                <a:latin typeface="+mn-lt"/>
                <a:ea typeface="+mn-ea"/>
                <a:cs typeface="+mn-cs"/>
              </a:rPr>
              <a:t>-Tiny </a:t>
            </a:r>
            <a:r>
              <a:rPr lang="zh-TW" altLang="en-US" sz="1200" b="0" i="0" kern="1200" dirty="0">
                <a:solidFill>
                  <a:schemeClr val="tx1"/>
                </a:solidFill>
                <a:effectLst/>
                <a:latin typeface="+mn-lt"/>
                <a:ea typeface="+mn-ea"/>
                <a:cs typeface="+mn-cs"/>
              </a:rPr>
              <a:t>高出 </a:t>
            </a:r>
            <a:r>
              <a:rPr lang="en-US" altLang="zh-TW" sz="1200" b="0" i="0" kern="1200" dirty="0">
                <a:solidFill>
                  <a:schemeClr val="tx1"/>
                </a:solidFill>
                <a:effectLst/>
                <a:latin typeface="+mn-lt"/>
                <a:ea typeface="+mn-ea"/>
                <a:cs typeface="+mn-cs"/>
              </a:rPr>
              <a:t>1.8 </a:t>
            </a:r>
            <a:r>
              <a:rPr lang="en-US" altLang="zh-TW" sz="1200" b="0" i="0" kern="1200" dirty="0" err="1">
                <a:solidFill>
                  <a:schemeClr val="tx1"/>
                </a:solidFill>
                <a:effectLst/>
                <a:latin typeface="+mn-lt"/>
                <a:ea typeface="+mn-ea"/>
                <a:cs typeface="+mn-cs"/>
              </a:rPr>
              <a:t>mIoU</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Vim-Small </a:t>
            </a:r>
            <a:r>
              <a:rPr lang="zh-TW" altLang="en-US" sz="1200" b="0" i="0" kern="1200" dirty="0">
                <a:solidFill>
                  <a:schemeClr val="tx1"/>
                </a:solidFill>
                <a:effectLst/>
                <a:latin typeface="+mn-lt"/>
                <a:ea typeface="+mn-ea"/>
                <a:cs typeface="+mn-cs"/>
              </a:rPr>
              <a:t>比 </a:t>
            </a:r>
            <a:r>
              <a:rPr lang="en-US" altLang="zh-TW" sz="1200" b="0" i="0" kern="1200" dirty="0" err="1">
                <a:solidFill>
                  <a:schemeClr val="tx1"/>
                </a:solidFill>
                <a:effectLst/>
                <a:latin typeface="+mn-lt"/>
                <a:ea typeface="+mn-ea"/>
                <a:cs typeface="+mn-cs"/>
              </a:rPr>
              <a:t>DeiT</a:t>
            </a:r>
            <a:r>
              <a:rPr lang="en-US" altLang="zh-TW" sz="1200" b="0" i="0" kern="1200" dirty="0">
                <a:solidFill>
                  <a:schemeClr val="tx1"/>
                </a:solidFill>
                <a:effectLst/>
                <a:latin typeface="+mn-lt"/>
                <a:ea typeface="+mn-ea"/>
                <a:cs typeface="+mn-cs"/>
              </a:rPr>
              <a:t>-Small </a:t>
            </a:r>
            <a:r>
              <a:rPr lang="zh-TW" altLang="en-US" sz="1200" b="0" i="0" kern="1200" dirty="0">
                <a:solidFill>
                  <a:schemeClr val="tx1"/>
                </a:solidFill>
                <a:effectLst/>
                <a:latin typeface="+mn-lt"/>
                <a:ea typeface="+mn-ea"/>
                <a:cs typeface="+mn-cs"/>
              </a:rPr>
              <a:t>高出 </a:t>
            </a:r>
            <a:r>
              <a:rPr lang="en-US" altLang="zh-TW" sz="1200" b="0" i="0" kern="1200" dirty="0">
                <a:solidFill>
                  <a:schemeClr val="tx1"/>
                </a:solidFill>
                <a:effectLst/>
                <a:latin typeface="+mn-lt"/>
                <a:ea typeface="+mn-ea"/>
                <a:cs typeface="+mn-cs"/>
              </a:rPr>
              <a:t>0.9 </a:t>
            </a:r>
            <a:r>
              <a:rPr lang="en-US" altLang="zh-TW" sz="1200" b="0" i="0" kern="1200" dirty="0" err="1">
                <a:solidFill>
                  <a:schemeClr val="tx1"/>
                </a:solidFill>
                <a:effectLst/>
                <a:latin typeface="+mn-lt"/>
                <a:ea typeface="+mn-ea"/>
                <a:cs typeface="+mn-cs"/>
              </a:rPr>
              <a:t>mIoU</a:t>
            </a:r>
            <a:r>
              <a:rPr lang="zh-TW" altLang="en-US" sz="1200" b="0" i="0" kern="1200" dirty="0">
                <a:solidFill>
                  <a:schemeClr val="tx1"/>
                </a:solidFill>
                <a:effectLst/>
                <a:latin typeface="+mn-lt"/>
                <a:ea typeface="+mn-ea"/>
                <a:cs typeface="+mn-cs"/>
              </a:rPr>
              <a:t>。代表了 </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在整張影像的語意理解上有更強的表徵能力。</a:t>
            </a:r>
          </a:p>
          <a:p>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ResNet-101 </a:t>
            </a:r>
            <a:r>
              <a:rPr lang="zh-TW" altLang="en-US" sz="1200" b="0" i="0" kern="1200" dirty="0">
                <a:solidFill>
                  <a:schemeClr val="tx1"/>
                </a:solidFill>
                <a:effectLst/>
                <a:latin typeface="+mn-lt"/>
                <a:ea typeface="+mn-ea"/>
                <a:cs typeface="+mn-cs"/>
              </a:rPr>
              <a:t>比較，</a:t>
            </a:r>
            <a:r>
              <a:rPr lang="en-US" altLang="zh-TW" sz="1200" b="0" i="0" kern="1200" dirty="0">
                <a:solidFill>
                  <a:schemeClr val="tx1"/>
                </a:solidFill>
                <a:effectLst/>
                <a:latin typeface="+mn-lt"/>
                <a:ea typeface="+mn-ea"/>
                <a:cs typeface="+mn-cs"/>
              </a:rPr>
              <a:t>Vim-Small </a:t>
            </a:r>
            <a:r>
              <a:rPr lang="zh-TW" altLang="en-US" sz="1200" b="0" i="0" kern="1200" dirty="0">
                <a:solidFill>
                  <a:schemeClr val="tx1"/>
                </a:solidFill>
                <a:effectLst/>
                <a:latin typeface="+mn-lt"/>
                <a:ea typeface="+mn-ea"/>
                <a:cs typeface="+mn-cs"/>
              </a:rPr>
              <a:t>在 </a:t>
            </a:r>
            <a:r>
              <a:rPr lang="en-US" altLang="zh-TW" sz="1200" b="0" i="0" kern="1200" dirty="0" err="1">
                <a:solidFill>
                  <a:schemeClr val="tx1"/>
                </a:solidFill>
                <a:effectLst/>
                <a:latin typeface="+mn-lt"/>
                <a:ea typeface="+mn-ea"/>
                <a:cs typeface="+mn-cs"/>
              </a:rPr>
              <a:t>mIoU</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上達到與 </a:t>
            </a:r>
            <a:r>
              <a:rPr lang="en-US" altLang="zh-TW" sz="1200" b="0" i="0" kern="1200" dirty="0">
                <a:solidFill>
                  <a:schemeClr val="tx1"/>
                </a:solidFill>
                <a:effectLst/>
                <a:latin typeface="+mn-lt"/>
                <a:ea typeface="+mn-ea"/>
                <a:cs typeface="+mn-cs"/>
              </a:rPr>
              <a:t>ResNet-101 </a:t>
            </a:r>
            <a:r>
              <a:rPr lang="zh-TW" altLang="en-US" sz="1200" b="0" i="0" kern="1200" dirty="0">
                <a:solidFill>
                  <a:schemeClr val="tx1"/>
                </a:solidFill>
                <a:effectLst/>
                <a:latin typeface="+mn-lt"/>
                <a:ea typeface="+mn-ea"/>
                <a:cs typeface="+mn-cs"/>
              </a:rPr>
              <a:t>相近的分割成效，但參數量卻少了約一半。這顯示透過純序列建模（</a:t>
            </a:r>
            <a:r>
              <a:rPr lang="en-US" altLang="zh-TW" sz="1200" b="0" i="0" kern="1200" dirty="0">
                <a:solidFill>
                  <a:schemeClr val="tx1"/>
                </a:solidFill>
                <a:effectLst/>
                <a:latin typeface="+mn-lt"/>
                <a:ea typeface="+mn-ea"/>
                <a:cs typeface="+mn-cs"/>
              </a:rPr>
              <a:t>SSM-based</a:t>
            </a:r>
            <a:r>
              <a:rPr lang="zh-TW" altLang="en-US" sz="1200" b="0" i="0" kern="1200" dirty="0">
                <a:solidFill>
                  <a:schemeClr val="tx1"/>
                </a:solidFill>
                <a:effectLst/>
                <a:latin typeface="+mn-lt"/>
                <a:ea typeface="+mn-ea"/>
                <a:cs typeface="+mn-cs"/>
              </a:rPr>
              <a:t>）也能在語意分割上得到高效且精確的結果。</a:t>
            </a:r>
          </a:p>
          <a:p>
            <a:endParaRPr lang="zh-TW" altLang="en-US" dirty="0"/>
          </a:p>
        </p:txBody>
      </p:sp>
      <p:sp>
        <p:nvSpPr>
          <p:cNvPr id="4" name="投影片編號版面配置區 3">
            <a:extLst>
              <a:ext uri="{FF2B5EF4-FFF2-40B4-BE49-F238E27FC236}">
                <a16:creationId xmlns:a16="http://schemas.microsoft.com/office/drawing/2014/main" id="{753DE05E-26C6-177A-30A7-874D59B2F70D}"/>
              </a:ext>
            </a:extLst>
          </p:cNvPr>
          <p:cNvSpPr>
            <a:spLocks noGrp="1"/>
          </p:cNvSpPr>
          <p:nvPr>
            <p:ph type="sldNum" sz="quarter" idx="5"/>
          </p:nvPr>
        </p:nvSpPr>
        <p:spPr/>
        <p:txBody>
          <a:bodyPr/>
          <a:lstStyle/>
          <a:p>
            <a:fld id="{4FFC9C8E-8CA7-443A-832F-F0F3F7A96022}" type="slidenum">
              <a:rPr lang="zh-TW" altLang="en-US" smtClean="0"/>
              <a:t>19</a:t>
            </a:fld>
            <a:endParaRPr lang="zh-TW" altLang="en-US"/>
          </a:p>
        </p:txBody>
      </p:sp>
    </p:spTree>
    <p:extLst>
      <p:ext uri="{BB962C8B-B14F-4D97-AF65-F5344CB8AC3E}">
        <p14:creationId xmlns:p14="http://schemas.microsoft.com/office/powerpoint/2010/main" val="312987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08FA1-7203-BD2E-9C32-E1D541DF537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142AC6D-37A7-8263-C4A6-D864EF9EC2D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89B3B2D-6789-E00D-98E9-E22DA2A7CA26}"/>
              </a:ext>
            </a:extLst>
          </p:cNvPr>
          <p:cNvSpPr>
            <a:spLocks noGrp="1"/>
          </p:cNvSpPr>
          <p:nvPr>
            <p:ph type="body" idx="1"/>
          </p:nvPr>
        </p:nvSpPr>
        <p:spPr/>
        <p:txBody>
          <a:bodyPr/>
          <a:lstStyle/>
          <a:p>
            <a:r>
              <a:rPr lang="zh-TW" altLang="en-US" sz="1200" b="0" i="0" kern="1200" dirty="0">
                <a:solidFill>
                  <a:schemeClr val="tx1"/>
                </a:solidFill>
                <a:effectLst/>
                <a:latin typeface="+mn-lt"/>
                <a:ea typeface="+mn-ea"/>
                <a:cs typeface="+mn-cs"/>
              </a:rPr>
              <a:t>進一步劃分成不同物件尺度，中型物件（</a:t>
            </a:r>
            <a:r>
              <a:rPr lang="en-US" altLang="zh-TW" sz="1200" b="0" i="0" kern="1200" dirty="0">
                <a:solidFill>
                  <a:schemeClr val="tx1"/>
                </a:solidFill>
                <a:effectLst/>
                <a:latin typeface="+mn-lt"/>
                <a:ea typeface="+mn-ea"/>
                <a:cs typeface="+mn-cs"/>
              </a:rPr>
              <a:t>middle-size</a:t>
            </a:r>
            <a:r>
              <a:rPr lang="zh-TW" altLang="en-US" sz="1200" b="0" i="0" kern="1200" dirty="0">
                <a:solidFill>
                  <a:schemeClr val="tx1"/>
                </a:solidFill>
                <a:effectLst/>
                <a:latin typeface="+mn-lt"/>
                <a:ea typeface="+mn-ea"/>
                <a:cs typeface="+mn-cs"/>
              </a:rPr>
              <a:t>）的 </a:t>
            </a:r>
            <a:r>
              <a:rPr lang="en-US" altLang="zh-TW" sz="1200" b="0" i="0" kern="1200" dirty="0">
                <a:solidFill>
                  <a:schemeClr val="tx1"/>
                </a:solidFill>
                <a:effectLst/>
                <a:latin typeface="+mn-lt"/>
                <a:ea typeface="+mn-ea"/>
                <a:cs typeface="+mn-cs"/>
              </a:rPr>
              <a:t>box AP </a:t>
            </a:r>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mask AP </a:t>
            </a:r>
            <a:r>
              <a:rPr lang="zh-TW" altLang="en-US" sz="1200" b="0" i="0" kern="1200" dirty="0">
                <a:solidFill>
                  <a:schemeClr val="tx1"/>
                </a:solidFill>
                <a:effectLst/>
                <a:latin typeface="+mn-lt"/>
                <a:ea typeface="+mn-ea"/>
                <a:cs typeface="+mn-cs"/>
              </a:rPr>
              <a:t>分別高出 </a:t>
            </a:r>
            <a:r>
              <a:rPr lang="en-US" altLang="zh-TW" sz="1200" b="0" i="0" kern="1200" dirty="0">
                <a:solidFill>
                  <a:schemeClr val="tx1"/>
                </a:solidFill>
                <a:effectLst/>
                <a:latin typeface="+mn-lt"/>
                <a:ea typeface="+mn-ea"/>
                <a:cs typeface="+mn-cs"/>
              </a:rPr>
              <a:t>1.6 </a:t>
            </a:r>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1.3</a:t>
            </a:r>
            <a:r>
              <a:rPr lang="zh-TW" altLang="en-US" sz="1200" b="0" i="0" kern="1200" dirty="0">
                <a:solidFill>
                  <a:schemeClr val="tx1"/>
                </a:solidFill>
                <a:effectLst/>
                <a:latin typeface="+mn-lt"/>
                <a:ea typeface="+mn-ea"/>
                <a:cs typeface="+mn-cs"/>
              </a:rPr>
              <a:t>；大型物件（</a:t>
            </a:r>
            <a:r>
              <a:rPr lang="en-US" altLang="zh-TW" sz="1200" b="0" i="0" kern="1200" dirty="0">
                <a:solidFill>
                  <a:schemeClr val="tx1"/>
                </a:solidFill>
                <a:effectLst/>
                <a:latin typeface="+mn-lt"/>
                <a:ea typeface="+mn-ea"/>
                <a:cs typeface="+mn-cs"/>
              </a:rPr>
              <a:t>large-size</a:t>
            </a:r>
            <a:r>
              <a:rPr lang="zh-TW" altLang="en-US" sz="1200" b="0" i="0" kern="1200" dirty="0">
                <a:solidFill>
                  <a:schemeClr val="tx1"/>
                </a:solidFill>
                <a:effectLst/>
                <a:latin typeface="+mn-lt"/>
                <a:ea typeface="+mn-ea"/>
                <a:cs typeface="+mn-cs"/>
              </a:rPr>
              <a:t>）則高出 </a:t>
            </a:r>
            <a:r>
              <a:rPr lang="en-US" altLang="zh-TW" sz="1200" b="0" i="0" kern="1200" dirty="0">
                <a:solidFill>
                  <a:schemeClr val="tx1"/>
                </a:solidFill>
                <a:effectLst/>
                <a:latin typeface="+mn-lt"/>
                <a:ea typeface="+mn-ea"/>
                <a:cs typeface="+mn-cs"/>
              </a:rPr>
              <a:t>1.4 </a:t>
            </a:r>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1.8</a:t>
            </a:r>
            <a:r>
              <a:rPr lang="zh-TW" altLang="en-US" sz="1200" b="0" i="0" kern="1200" dirty="0">
                <a:solidFill>
                  <a:schemeClr val="tx1"/>
                </a:solidFill>
                <a:effectLst/>
                <a:latin typeface="+mn-lt"/>
                <a:ea typeface="+mn-ea"/>
                <a:cs typeface="+mn-cs"/>
              </a:rPr>
              <a:t>。這些分數代表 </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在捕捉較遠距離上下文時具備更強的能力。</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1" kern="1200" dirty="0">
                <a:solidFill>
                  <a:schemeClr val="tx1"/>
                </a:solidFill>
                <a:effectLst/>
                <a:latin typeface="+mn-lt"/>
                <a:ea typeface="+mn-ea"/>
                <a:cs typeface="+mn-cs"/>
              </a:rPr>
              <a:t>$AP^{box}$</a:t>
            </a:r>
            <a:r>
              <a:rPr lang="zh-TW" altLang="en-US" sz="1200" kern="1200" dirty="0">
                <a:solidFill>
                  <a:schemeClr val="tx1"/>
                </a:solidFill>
                <a:effectLst/>
                <a:latin typeface="+mn-lt"/>
                <a:ea typeface="+mn-ea"/>
                <a:cs typeface="+mn-cs"/>
              </a:rPr>
              <a:t>：物件偵測的準確度（框得準不準）。</a:t>
            </a:r>
          </a:p>
          <a:p>
            <a:r>
              <a:rPr lang="en-US" altLang="zh-TW" sz="1200" b="1" kern="1200" dirty="0">
                <a:solidFill>
                  <a:schemeClr val="tx1"/>
                </a:solidFill>
                <a:effectLst/>
                <a:latin typeface="+mn-lt"/>
                <a:ea typeface="+mn-ea"/>
                <a:cs typeface="+mn-cs"/>
              </a:rPr>
              <a:t>$AP^{mask}$</a:t>
            </a:r>
            <a:r>
              <a:rPr lang="zh-TW" altLang="en-US" sz="1200" kern="1200" dirty="0">
                <a:solidFill>
                  <a:schemeClr val="tx1"/>
                </a:solidFill>
                <a:effectLst/>
                <a:latin typeface="+mn-lt"/>
                <a:ea typeface="+mn-ea"/>
                <a:cs typeface="+mn-cs"/>
              </a:rPr>
              <a:t>：實例分割的準確度（邊緣切得好不好）。</a:t>
            </a:r>
          </a:p>
          <a:p>
            <a:r>
              <a:rPr lang="zh-TW" altLang="en-US" sz="1200" b="1" kern="1200" dirty="0">
                <a:solidFill>
                  <a:schemeClr val="tx1"/>
                </a:solidFill>
                <a:effectLst/>
                <a:latin typeface="+mn-lt"/>
                <a:ea typeface="+mn-ea"/>
                <a:cs typeface="+mn-cs"/>
              </a:rPr>
              <a:t>下標 </a:t>
            </a:r>
            <a:r>
              <a:rPr lang="en-US" altLang="zh-TW" sz="1200" b="1" kern="1200" dirty="0">
                <a:solidFill>
                  <a:schemeClr val="tx1"/>
                </a:solidFill>
                <a:effectLst/>
                <a:latin typeface="+mn-lt"/>
                <a:ea typeface="+mn-ea"/>
                <a:cs typeface="+mn-cs"/>
              </a:rPr>
              <a:t>$s, m, l$</a:t>
            </a:r>
            <a:r>
              <a:rPr lang="zh-TW" altLang="en-US" sz="1200" kern="1200" dirty="0">
                <a:solidFill>
                  <a:schemeClr val="tx1"/>
                </a:solidFill>
                <a:effectLst/>
                <a:latin typeface="+mn-lt"/>
                <a:ea typeface="+mn-ea"/>
                <a:cs typeface="+mn-cs"/>
              </a:rPr>
              <a:t>：分別代表 </a:t>
            </a:r>
            <a:r>
              <a:rPr lang="en-US" altLang="zh-TW" sz="1200" b="1" kern="1200" dirty="0">
                <a:solidFill>
                  <a:schemeClr val="tx1"/>
                </a:solidFill>
                <a:effectLst/>
                <a:latin typeface="+mn-lt"/>
                <a:ea typeface="+mn-ea"/>
                <a:cs typeface="+mn-cs"/>
              </a:rPr>
              <a:t>Small (</a:t>
            </a:r>
            <a:r>
              <a:rPr lang="zh-TW" altLang="en-US" sz="1200" b="1" kern="1200" dirty="0">
                <a:solidFill>
                  <a:schemeClr val="tx1"/>
                </a:solidFill>
                <a:effectLst/>
                <a:latin typeface="+mn-lt"/>
                <a:ea typeface="+mn-ea"/>
                <a:cs typeface="+mn-cs"/>
              </a:rPr>
              <a:t>小</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r>
              <a:rPr lang="en-US" altLang="zh-TW" sz="1200" b="1" kern="1200" dirty="0">
                <a:solidFill>
                  <a:schemeClr val="tx1"/>
                </a:solidFill>
                <a:effectLst/>
                <a:latin typeface="+mn-lt"/>
                <a:ea typeface="+mn-ea"/>
                <a:cs typeface="+mn-cs"/>
              </a:rPr>
              <a:t>Middle (</a:t>
            </a:r>
            <a:r>
              <a:rPr lang="zh-TW" altLang="en-US" sz="1200" b="1" kern="1200" dirty="0">
                <a:solidFill>
                  <a:schemeClr val="tx1"/>
                </a:solidFill>
                <a:effectLst/>
                <a:latin typeface="+mn-lt"/>
                <a:ea typeface="+mn-ea"/>
                <a:cs typeface="+mn-cs"/>
              </a:rPr>
              <a:t>中</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r>
              <a:rPr lang="en-US" altLang="zh-TW" sz="1200" b="1" kern="1200" dirty="0">
                <a:solidFill>
                  <a:schemeClr val="tx1"/>
                </a:solidFill>
                <a:effectLst/>
                <a:latin typeface="+mn-lt"/>
                <a:ea typeface="+mn-ea"/>
                <a:cs typeface="+mn-cs"/>
              </a:rPr>
              <a:t>Large (</a:t>
            </a:r>
            <a:r>
              <a:rPr lang="zh-TW" altLang="en-US" sz="1200" b="1" kern="1200" dirty="0">
                <a:solidFill>
                  <a:schemeClr val="tx1"/>
                </a:solidFill>
                <a:effectLst/>
                <a:latin typeface="+mn-lt"/>
                <a:ea typeface="+mn-ea"/>
                <a:cs typeface="+mn-cs"/>
              </a:rPr>
              <a:t>大</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 物體。</a:t>
            </a:r>
          </a:p>
          <a:p>
            <a:endParaRPr lang="zh-TW" altLang="en-US" dirty="0"/>
          </a:p>
        </p:txBody>
      </p:sp>
      <p:sp>
        <p:nvSpPr>
          <p:cNvPr id="4" name="投影片編號版面配置區 3">
            <a:extLst>
              <a:ext uri="{FF2B5EF4-FFF2-40B4-BE49-F238E27FC236}">
                <a16:creationId xmlns:a16="http://schemas.microsoft.com/office/drawing/2014/main" id="{C8320016-A306-629C-859D-8023002A69E5}"/>
              </a:ext>
            </a:extLst>
          </p:cNvPr>
          <p:cNvSpPr>
            <a:spLocks noGrp="1"/>
          </p:cNvSpPr>
          <p:nvPr>
            <p:ph type="sldNum" sz="quarter" idx="5"/>
          </p:nvPr>
        </p:nvSpPr>
        <p:spPr/>
        <p:txBody>
          <a:bodyPr/>
          <a:lstStyle/>
          <a:p>
            <a:fld id="{4FFC9C8E-8CA7-443A-832F-F0F3F7A96022}" type="slidenum">
              <a:rPr lang="zh-TW" altLang="en-US" smtClean="0"/>
              <a:t>20</a:t>
            </a:fld>
            <a:endParaRPr lang="zh-TW" altLang="en-US"/>
          </a:p>
        </p:txBody>
      </p:sp>
    </p:spTree>
    <p:extLst>
      <p:ext uri="{BB962C8B-B14F-4D97-AF65-F5344CB8AC3E}">
        <p14:creationId xmlns:p14="http://schemas.microsoft.com/office/powerpoint/2010/main" val="1808391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它不是用一套死板的規則看全圖，而是會根據它當下眼睛看到的像素內容（</a:t>
            </a:r>
            <a:r>
              <a:rPr lang="en-US" altLang="zh-TW" dirty="0"/>
              <a:t>Data-dependent</a:t>
            </a:r>
            <a:r>
              <a:rPr lang="zh-TW" altLang="en-US" dirty="0"/>
              <a:t>），動態調整它要吸收或過濾哪些全圖的記憶（</a:t>
            </a:r>
            <a:r>
              <a:rPr lang="en-US" altLang="zh-TW" dirty="0"/>
              <a:t>Global context</a:t>
            </a:r>
            <a:r>
              <a:rPr lang="zh-TW" altLang="en-US" dirty="0"/>
              <a:t>）。</a:t>
            </a:r>
          </a:p>
        </p:txBody>
      </p:sp>
      <p:sp>
        <p:nvSpPr>
          <p:cNvPr id="4" name="投影片編號版面配置區 3"/>
          <p:cNvSpPr>
            <a:spLocks noGrp="1"/>
          </p:cNvSpPr>
          <p:nvPr>
            <p:ph type="sldNum" sz="quarter" idx="5"/>
          </p:nvPr>
        </p:nvSpPr>
        <p:spPr/>
        <p:txBody>
          <a:bodyPr/>
          <a:lstStyle/>
          <a:p>
            <a:fld id="{4FFC9C8E-8CA7-443A-832F-F0F3F7A96022}" type="slidenum">
              <a:rPr lang="zh-TW" altLang="en-US" smtClean="0"/>
              <a:t>22</a:t>
            </a:fld>
            <a:endParaRPr lang="zh-TW" altLang="en-US"/>
          </a:p>
        </p:txBody>
      </p:sp>
    </p:spTree>
    <p:extLst>
      <p:ext uri="{BB962C8B-B14F-4D97-AF65-F5344CB8AC3E}">
        <p14:creationId xmlns:p14="http://schemas.microsoft.com/office/powerpoint/2010/main" val="9063250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1757997"/>
          </a:xfrm>
        </p:spPr>
        <p:txBody>
          <a:bodyPr anchor="b"/>
          <a:lstStyle>
            <a:lvl1pPr algn="ctr">
              <a:defRPr sz="4500"/>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27974038-1076-4A1E-8E31-2BBAC68E9E1B}" type="datetime1">
              <a:rPr lang="zh-TW" altLang="en-US" smtClean="0"/>
              <a:t>2026/4/29</a:t>
            </a:fld>
            <a:endParaRPr lang="zh-TW" altLang="en-US"/>
          </a:p>
        </p:txBody>
      </p:sp>
      <p:sp>
        <p:nvSpPr>
          <p:cNvPr id="5" name="頁尾版面配置區 4"/>
          <p:cNvSpPr>
            <a:spLocks noGrp="1"/>
          </p:cNvSpPr>
          <p:nvPr>
            <p:ph type="ftr" sz="quarter" idx="11"/>
          </p:nvPr>
        </p:nvSpPr>
        <p:spPr/>
        <p:txBody>
          <a:bodyPr/>
          <a:lstStyle/>
          <a:p>
            <a:endParaRPr lang="zh-TW" altLang="en-US"/>
          </a:p>
        </p:txBody>
      </p:sp>
      <p:pic>
        <p:nvPicPr>
          <p:cNvPr id="8" name="Picture 4">
            <a:extLst>
              <a:ext uri="{FF2B5EF4-FFF2-40B4-BE49-F238E27FC236}">
                <a16:creationId xmlns:a16="http://schemas.microsoft.com/office/drawing/2014/main" id="{5DC7B609-95E6-97E1-41B8-B9A7D1CC4E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F2E541D3-00C6-2003-B805-933A89193576}"/>
              </a:ext>
            </a:extLst>
          </p:cNvPr>
          <p:cNvSpPr/>
          <p:nvPr/>
        </p:nvSpPr>
        <p:spPr>
          <a:xfrm>
            <a:off x="2250753" y="3020728"/>
            <a:ext cx="1513263" cy="147467"/>
          </a:xfrm>
          <a:prstGeom prst="rect">
            <a:avLst/>
          </a:prstGeom>
          <a:solidFill>
            <a:schemeClr val="accent1">
              <a:lumMod val="7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矩形 10">
            <a:extLst>
              <a:ext uri="{FF2B5EF4-FFF2-40B4-BE49-F238E27FC236}">
                <a16:creationId xmlns:a16="http://schemas.microsoft.com/office/drawing/2014/main" id="{66FC8222-60FE-101C-4DA7-1FC8D6BB9A2A}"/>
              </a:ext>
            </a:extLst>
          </p:cNvPr>
          <p:cNvSpPr/>
          <p:nvPr/>
        </p:nvSpPr>
        <p:spPr>
          <a:xfrm>
            <a:off x="2267377" y="3125334"/>
            <a:ext cx="7483650" cy="8860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文字版面配置區 15">
            <a:extLst>
              <a:ext uri="{FF2B5EF4-FFF2-40B4-BE49-F238E27FC236}">
                <a16:creationId xmlns:a16="http://schemas.microsoft.com/office/drawing/2014/main" id="{B081DB5B-CF4B-0736-46C1-B843CE2F54B4}"/>
              </a:ext>
            </a:extLst>
          </p:cNvPr>
          <p:cNvSpPr>
            <a:spLocks noGrp="1"/>
          </p:cNvSpPr>
          <p:nvPr>
            <p:ph type="body" sz="quarter" idx="13" hasCustomPrompt="1"/>
          </p:nvPr>
        </p:nvSpPr>
        <p:spPr>
          <a:xfrm>
            <a:off x="1524000" y="3429000"/>
            <a:ext cx="9144000" cy="333375"/>
          </a:xfrm>
        </p:spPr>
        <p:txBody>
          <a:bodyPr/>
          <a:lstStyle>
            <a:lvl1pPr marL="0" indent="0" algn="ctr">
              <a:buNone/>
              <a:defRPr i="1"/>
            </a:lvl1pPr>
          </a:lstStyle>
          <a:p>
            <a:pPr lvl="0"/>
            <a:r>
              <a:rPr lang="en-US" dirty="0"/>
              <a:t>Resource</a:t>
            </a:r>
          </a:p>
        </p:txBody>
      </p:sp>
      <p:sp>
        <p:nvSpPr>
          <p:cNvPr id="18" name="文字版面配置區 17">
            <a:extLst>
              <a:ext uri="{FF2B5EF4-FFF2-40B4-BE49-F238E27FC236}">
                <a16:creationId xmlns:a16="http://schemas.microsoft.com/office/drawing/2014/main" id="{2DE982FB-EE64-4B78-EAD9-724C3D422216}"/>
              </a:ext>
            </a:extLst>
          </p:cNvPr>
          <p:cNvSpPr>
            <a:spLocks noGrp="1"/>
          </p:cNvSpPr>
          <p:nvPr>
            <p:ph type="body" sz="quarter" idx="14" hasCustomPrompt="1"/>
          </p:nvPr>
        </p:nvSpPr>
        <p:spPr>
          <a:xfrm>
            <a:off x="1524000" y="4105275"/>
            <a:ext cx="9144000" cy="476250"/>
          </a:xfrm>
        </p:spPr>
        <p:txBody>
          <a:bodyPr/>
          <a:lstStyle>
            <a:lvl1pPr marL="0" indent="0" algn="ctr">
              <a:buNone/>
              <a:defRPr/>
            </a:lvl1pPr>
            <a:lvl2pPr marL="342900" indent="0">
              <a:buNone/>
              <a:defRPr/>
            </a:lvl2pPr>
            <a:lvl5pPr marL="1371600" indent="0">
              <a:buNone/>
              <a:defRPr/>
            </a:lvl5pPr>
          </a:lstStyle>
          <a:p>
            <a:pPr lvl="0"/>
            <a:r>
              <a:rPr lang="en-US" dirty="0"/>
              <a:t>Authors</a:t>
            </a:r>
          </a:p>
        </p:txBody>
      </p:sp>
    </p:spTree>
    <p:extLst>
      <p:ext uri="{BB962C8B-B14F-4D97-AF65-F5344CB8AC3E}">
        <p14:creationId xmlns:p14="http://schemas.microsoft.com/office/powerpoint/2010/main" val="922739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88624"/>
            <a:ext cx="9601200" cy="856211"/>
          </a:xfrm>
        </p:spPr>
        <p:txBody>
          <a:bodyPr>
            <a:normAutofit/>
          </a:bodyPr>
          <a:lstStyle>
            <a:lvl1pPr algn="l">
              <a:defRPr sz="3200" b="1">
                <a:solidFill>
                  <a:schemeClr val="tx1"/>
                </a:solidFill>
                <a:latin typeface="+mj-lt"/>
              </a:defRPr>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3446164E-F4D1-4EFD-868B-3A45C0CA8A0C}" type="datetime1">
              <a:rPr lang="zh-TW" altLang="en-US" smtClean="0"/>
              <a:t>2026/4/29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11662755" y="6492875"/>
            <a:ext cx="539213" cy="365125"/>
          </a:xfrm>
        </p:spPr>
        <p:txBody>
          <a:bodyPr/>
          <a:lstStyle>
            <a:lvl1pPr>
              <a:defRPr sz="2000" b="1" i="0">
                <a:solidFill>
                  <a:schemeClr val="tx1"/>
                </a:solidFill>
                <a:latin typeface="Times New Roman" charset="0"/>
                <a:ea typeface="Times New Roman" charset="0"/>
                <a:cs typeface="Times New Roman" charset="0"/>
              </a:defRPr>
            </a:lvl1pPr>
          </a:lstStyle>
          <a:p>
            <a:fld id="{3E97B41F-AD73-4999-8C34-7D0FF5EF3CF5}" type="slidenum">
              <a:rPr lang="zh-TW" altLang="en-US" smtClean="0"/>
              <a:t>‹#›</a:t>
            </a:fld>
            <a:endParaRPr lang="zh-TW" altLang="en-US"/>
          </a:p>
        </p:txBody>
      </p:sp>
      <p:sp>
        <p:nvSpPr>
          <p:cNvPr id="10" name="標題 1">
            <a:extLst>
              <a:ext uri="{FF2B5EF4-FFF2-40B4-BE49-F238E27FC236}">
                <a16:creationId xmlns:a16="http://schemas.microsoft.com/office/drawing/2014/main" id="{91C7D7B7-44F8-4991-81DE-88616561D6D2}"/>
              </a:ext>
            </a:extLst>
          </p:cNvPr>
          <p:cNvSpPr txBox="1">
            <a:spLocks/>
          </p:cNvSpPr>
          <p:nvPr/>
        </p:nvSpPr>
        <p:spPr>
          <a:xfrm>
            <a:off x="2488352" y="184298"/>
            <a:ext cx="6582550" cy="581966"/>
          </a:xfrm>
          <a:prstGeom prst="rect">
            <a:avLst/>
          </a:prstGeom>
        </p:spPr>
        <p:txBody>
          <a:bodyPr vert="horz" lIns="68580" tIns="34290" rIns="68580" bIns="34290" rtlCol="0" anchor="ctr">
            <a:normAutofit fontScale="97500" lnSpcReduction="10000"/>
          </a:bodyPr>
          <a:lstStyle>
            <a:lvl1pPr algn="l" defTabSz="914377"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endParaRPr kumimoji="1" lang="zh-TW" altLang="en-US" sz="4000" dirty="0">
              <a:solidFill>
                <a:schemeClr val="tx1"/>
              </a:solidFill>
              <a:latin typeface="Times" charset="0"/>
              <a:ea typeface="Times" charset="0"/>
              <a:cs typeface="Times" charset="0"/>
            </a:endParaRPr>
          </a:p>
        </p:txBody>
      </p:sp>
      <p:sp>
        <p:nvSpPr>
          <p:cNvPr id="11" name="矩形 10">
            <a:extLst>
              <a:ext uri="{FF2B5EF4-FFF2-40B4-BE49-F238E27FC236}">
                <a16:creationId xmlns:a16="http://schemas.microsoft.com/office/drawing/2014/main" id="{5A9D7B77-591D-495A-ACB2-A95A59C2AEA1}"/>
              </a:ext>
            </a:extLst>
          </p:cNvPr>
          <p:cNvSpPr/>
          <p:nvPr/>
        </p:nvSpPr>
        <p:spPr>
          <a:xfrm>
            <a:off x="2411297" y="1180538"/>
            <a:ext cx="7047472" cy="400110"/>
          </a:xfrm>
          <a:prstGeom prst="rect">
            <a:avLst/>
          </a:prstGeom>
        </p:spPr>
        <p:txBody>
          <a:bodyPr wrap="square">
            <a:spAutoFit/>
          </a:bodyPr>
          <a:lstStyle/>
          <a:p>
            <a:pPr marL="342900" indent="-342900">
              <a:buFont typeface="Wingdings" panose="05000000000000000000" pitchFamily="2" charset="2"/>
              <a:buChar char="Ø"/>
            </a:pPr>
            <a:endParaRPr lang="zh-TW" altLang="en-US" sz="2000" dirty="0"/>
          </a:p>
        </p:txBody>
      </p:sp>
      <p:pic>
        <p:nvPicPr>
          <p:cNvPr id="102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C5FEF00-0B61-6D7A-A9B1-0B92AD28E1C7}"/>
              </a:ext>
            </a:extLst>
          </p:cNvPr>
          <p:cNvSpPr/>
          <p:nvPr/>
        </p:nvSpPr>
        <p:spPr>
          <a:xfrm>
            <a:off x="838200" y="959251"/>
            <a:ext cx="96012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內容版面配置區 7">
            <a:extLst>
              <a:ext uri="{FF2B5EF4-FFF2-40B4-BE49-F238E27FC236}">
                <a16:creationId xmlns:a16="http://schemas.microsoft.com/office/drawing/2014/main" id="{FD0FEA35-461C-A55C-8BDD-6E88714DBFD7}"/>
              </a:ext>
            </a:extLst>
          </p:cNvPr>
          <p:cNvSpPr>
            <a:spLocks noGrp="1"/>
          </p:cNvSpPr>
          <p:nvPr>
            <p:ph sz="quarter" idx="13"/>
          </p:nvPr>
        </p:nvSpPr>
        <p:spPr>
          <a:xfrm>
            <a:off x="838200" y="1298575"/>
            <a:ext cx="9601200" cy="4905375"/>
          </a:xfrm>
        </p:spPr>
        <p:txBody>
          <a:bodyPr>
            <a:normAutofit/>
          </a:bodyPr>
          <a:lstStyle>
            <a:lvl1pPr marL="342900" indent="-342900">
              <a:lnSpc>
                <a:spcPct val="100000"/>
              </a:lnSpc>
              <a:defRPr sz="2000">
                <a:latin typeface="+mn-lt"/>
              </a:defRPr>
            </a:lvl1pPr>
            <a:lvl2pPr marL="571500" indent="-228600">
              <a:defRPr sz="2000">
                <a:latin typeface="+mn-lt"/>
              </a:defRPr>
            </a:lvl2pPr>
            <a:lvl3pPr marL="914400" indent="-228600">
              <a:defRPr sz="2000">
                <a:latin typeface="+mn-lt"/>
              </a:defRPr>
            </a:lvl3pPr>
            <a:lvl4pPr marL="1257300" indent="-228600">
              <a:defRPr sz="2000">
                <a:latin typeface="+mn-lt"/>
              </a:defRPr>
            </a:lvl4pPr>
            <a:lvl5pPr marL="1600200" indent="-228600">
              <a:defRPr sz="20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6">
            <a:extLst>
              <a:ext uri="{FF2B5EF4-FFF2-40B4-BE49-F238E27FC236}">
                <a16:creationId xmlns:a16="http://schemas.microsoft.com/office/drawing/2014/main" id="{5F5279E3-3B94-4F32-99E9-1F3FD8046D70}"/>
              </a:ext>
            </a:extLst>
          </p:cNvPr>
          <p:cNvSpPr>
            <a:spLocks noGrp="1"/>
          </p:cNvSpPr>
          <p:nvPr>
            <p:ph sz="quarter" idx="14" hasCustomPrompt="1"/>
          </p:nvPr>
        </p:nvSpPr>
        <p:spPr>
          <a:xfrm>
            <a:off x="0" y="6356353"/>
            <a:ext cx="11533517" cy="501648"/>
          </a:xfrm>
        </p:spPr>
        <p:txBody>
          <a:bodyPr anchor="b">
            <a:noAutofit/>
          </a:bodyPr>
          <a:lstStyle>
            <a:lvl1pPr marL="0" indent="0">
              <a:spcBef>
                <a:spcPts val="200"/>
              </a:spcBef>
              <a:buNone/>
              <a:defRPr sz="1000"/>
            </a:lvl1pPr>
          </a:lstStyle>
          <a:p>
            <a:pPr lvl="0"/>
            <a:r>
              <a:rPr lang="en-US" altLang="zh-TW" dirty="0"/>
              <a:t>Reference</a:t>
            </a:r>
            <a:endParaRPr lang="en-US" dirty="0"/>
          </a:p>
        </p:txBody>
      </p:sp>
    </p:spTree>
    <p:extLst>
      <p:ext uri="{BB962C8B-B14F-4D97-AF65-F5344CB8AC3E}">
        <p14:creationId xmlns:p14="http://schemas.microsoft.com/office/powerpoint/2010/main" val="1808640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章節標題">
    <p:spTree>
      <p:nvGrpSpPr>
        <p:cNvPr id="1" name=""/>
        <p:cNvGrpSpPr/>
        <p:nvPr/>
      </p:nvGrpSpPr>
      <p:grpSpPr>
        <a:xfrm>
          <a:off x="0" y="0"/>
          <a:ext cx="0" cy="0"/>
          <a:chOff x="0" y="0"/>
          <a:chExt cx="0" cy="0"/>
        </a:xfrm>
      </p:grpSpPr>
      <p:pic>
        <p:nvPicPr>
          <p:cNvPr id="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3160296" y="2823785"/>
            <a:ext cx="6351547" cy="830997"/>
          </a:xfrm>
          <a:prstGeom prst="rect">
            <a:avLst/>
          </a:prstGeom>
          <a:noFill/>
        </p:spPr>
        <p:txBody>
          <a:bodyPr wrap="none" rtlCol="0">
            <a:spAutoFit/>
          </a:bodyPr>
          <a:lstStyle/>
          <a:p>
            <a:r>
              <a:rPr kumimoji="1" lang="en-US" altLang="zh-TW" sz="4800" b="1" dirty="0">
                <a:latin typeface="Times New Roman" charset="0"/>
                <a:ea typeface="Times New Roman" charset="0"/>
                <a:cs typeface="Times New Roman" charset="0"/>
              </a:rPr>
              <a:t>Thank you for listening</a:t>
            </a:r>
            <a:endParaRPr kumimoji="1" lang="zh-TW" altLang="en-US" sz="4800" b="1" dirty="0">
              <a:latin typeface="Times New Roman" charset="0"/>
              <a:ea typeface="Times New Roman" charset="0"/>
              <a:cs typeface="Times New Roman" charset="0"/>
            </a:endParaRPr>
          </a:p>
        </p:txBody>
      </p:sp>
      <p:sp>
        <p:nvSpPr>
          <p:cNvPr id="10" name="矩形 9"/>
          <p:cNvSpPr/>
          <p:nvPr/>
        </p:nvSpPr>
        <p:spPr>
          <a:xfrm>
            <a:off x="2409032" y="3654782"/>
            <a:ext cx="748365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p:cNvSpPr/>
          <p:nvPr/>
        </p:nvSpPr>
        <p:spPr>
          <a:xfrm flipV="1">
            <a:off x="2387558" y="3715249"/>
            <a:ext cx="1513263" cy="90639"/>
          </a:xfrm>
          <a:prstGeom prst="rect">
            <a:avLst/>
          </a:prstGeom>
          <a:solidFill>
            <a:schemeClr val="accent1">
              <a:lumMod val="7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199755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p:cNvSpPr>
            <a:spLocks noGrp="1"/>
          </p:cNvSpPr>
          <p:nvPr>
            <p:ph type="dt" sz="half" idx="10"/>
          </p:nvPr>
        </p:nvSpPr>
        <p:spPr/>
        <p:txBody>
          <a:bodyPr/>
          <a:lstStyle/>
          <a:p>
            <a:fld id="{494547AD-64FF-47B8-A96D-63D79DCED579}" type="datetime1">
              <a:rPr lang="zh-TW" altLang="en-US" smtClean="0"/>
              <a:t>2026/4/29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586946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7"/>
            <a:ext cx="10515600" cy="1325563"/>
          </a:xfrm>
        </p:spPr>
        <p:txBody>
          <a:bodyPr/>
          <a:lstStyle/>
          <a:p>
            <a:r>
              <a:rPr kumimoji="1" lang="zh-TW" altLang="en-US"/>
              <a:t>按一下以編輯母片標題樣式</a:t>
            </a:r>
          </a:p>
        </p:txBody>
      </p:sp>
      <p:sp>
        <p:nvSpPr>
          <p:cNvPr id="3" name="文字版面配置區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TW" altLang="en-US"/>
              <a:t>按一下以編輯母片文字樣式</a:t>
            </a:r>
          </a:p>
        </p:txBody>
      </p:sp>
      <p:sp>
        <p:nvSpPr>
          <p:cNvPr id="4" name="內容版面配置區 3"/>
          <p:cNvSpPr>
            <a:spLocks noGrp="1"/>
          </p:cNvSpPr>
          <p:nvPr>
            <p:ph sz="half" idx="2"/>
          </p:nvPr>
        </p:nvSpPr>
        <p:spPr>
          <a:xfrm>
            <a:off x="839789"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TW" altLang="en-US"/>
              <a:t>按一下以編輯母片文字樣式</a:t>
            </a:r>
          </a:p>
        </p:txBody>
      </p:sp>
      <p:sp>
        <p:nvSpPr>
          <p:cNvPr id="6" name="內容版面配置區 5"/>
          <p:cNvSpPr>
            <a:spLocks noGrp="1"/>
          </p:cNvSpPr>
          <p:nvPr>
            <p:ph sz="quarter" idx="4"/>
          </p:nvPr>
        </p:nvSpPr>
        <p:spPr>
          <a:xfrm>
            <a:off x="6172201"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p:cNvSpPr>
            <a:spLocks noGrp="1"/>
          </p:cNvSpPr>
          <p:nvPr>
            <p:ph type="dt" sz="half" idx="10"/>
          </p:nvPr>
        </p:nvSpPr>
        <p:spPr/>
        <p:txBody>
          <a:bodyPr/>
          <a:lstStyle/>
          <a:p>
            <a:fld id="{DE9D9E29-26ED-4589-8ED1-8CA0CA665BC5}" type="datetime1">
              <a:rPr lang="zh-TW" altLang="en-US" smtClean="0"/>
              <a:t>2026/4/29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737906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日期版面配置區 2"/>
          <p:cNvSpPr>
            <a:spLocks noGrp="1"/>
          </p:cNvSpPr>
          <p:nvPr>
            <p:ph type="dt" sz="half" idx="10"/>
          </p:nvPr>
        </p:nvSpPr>
        <p:spPr/>
        <p:txBody>
          <a:bodyPr/>
          <a:lstStyle/>
          <a:p>
            <a:fld id="{783F30B6-1E80-477A-BAF0-4AC3039100C8}" type="datetime1">
              <a:rPr lang="zh-TW" altLang="en-US" smtClean="0"/>
              <a:t>2026/4/29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24625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9EA627F-07AA-4B63-A518-0E765A54DFE8}" type="datetime1">
              <a:rPr lang="zh-TW" altLang="en-US" smtClean="0"/>
              <a:t>2026/4/29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888768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2400"/>
            </a:lvl1pPr>
          </a:lstStyle>
          <a:p>
            <a:r>
              <a:rPr kumimoji="1" lang="zh-TW" altLang="en-US"/>
              <a:t>按一下以編輯母片標題樣式</a:t>
            </a:r>
          </a:p>
        </p:txBody>
      </p:sp>
      <p:sp>
        <p:nvSpPr>
          <p:cNvPr id="3" name="內容版面配置區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5D3BBC4D-75F3-4AA0-A5B7-0E89C5073DFB}" type="datetime1">
              <a:rPr lang="zh-TW" altLang="en-US" smtClean="0"/>
              <a:t>2026/4/29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993218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2400"/>
            </a:lvl1pPr>
          </a:lstStyle>
          <a:p>
            <a:r>
              <a:rPr kumimoji="1" lang="zh-TW" altLang="en-US"/>
              <a:t>按一下以編輯母片標題樣式</a:t>
            </a:r>
          </a:p>
        </p:txBody>
      </p:sp>
      <p:sp>
        <p:nvSpPr>
          <p:cNvPr id="3" name="圖片版面配置區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kumimoji="1" lang="zh-TW" altLang="en-US"/>
              <a:t>按一下圖示以新增圖片</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02456B89-50A7-4791-8B31-A3CA86FB73B6}" type="datetime1">
              <a:rPr lang="zh-TW" altLang="en-US" smtClean="0"/>
              <a:t>2026/4/29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751885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75CCAF2D-0C01-4352-81FC-2EA94307F2AF}" type="datetime1">
              <a:rPr lang="zh-TW" altLang="en-US" smtClean="0"/>
              <a:t>2026/4/29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168299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1" y="365125"/>
            <a:ext cx="2628900" cy="5811838"/>
          </a:xfrm>
        </p:spPr>
        <p:txBody>
          <a:bodyPr vert="eaVert"/>
          <a:lstStyle/>
          <a:p>
            <a:r>
              <a:rPr kumimoji="1" lang="zh-TW" altLang="en-US"/>
              <a:t>按一下以編輯母片標題樣式</a:t>
            </a:r>
          </a:p>
        </p:txBody>
      </p:sp>
      <p:sp>
        <p:nvSpPr>
          <p:cNvPr id="3" name="直排文字版面配置區 2"/>
          <p:cNvSpPr>
            <a:spLocks noGrp="1"/>
          </p:cNvSpPr>
          <p:nvPr>
            <p:ph type="body" orient="vert" idx="1"/>
          </p:nvPr>
        </p:nvSpPr>
        <p:spPr>
          <a:xfrm>
            <a:off x="838201"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3D9FF2C5-AF5F-4179-8261-9B74E1A757DD}" type="datetime1">
              <a:rPr lang="zh-TW" altLang="en-US" smtClean="0"/>
              <a:t>2026/4/29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4053739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p:cNvSpPr>
            <a:spLocks noGrp="1"/>
          </p:cNvSpPr>
          <p:nvPr>
            <p:ph type="dt" sz="half" idx="10"/>
          </p:nvPr>
        </p:nvSpPr>
        <p:spPr/>
        <p:txBody>
          <a:bodyPr/>
          <a:lstStyle/>
          <a:p>
            <a:fld id="{7DE18E80-40FA-4E56-B1EB-B362DAB82C24}" type="datetime1">
              <a:rPr lang="zh-TW" altLang="en-US" smtClean="0"/>
              <a:t>2026/4/29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922851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88624"/>
            <a:ext cx="9601200" cy="856211"/>
          </a:xfrm>
        </p:spPr>
        <p:txBody>
          <a:bodyPr>
            <a:normAutofit/>
          </a:bodyPr>
          <a:lstStyle>
            <a:lvl1pPr algn="l">
              <a:defRPr sz="3200" b="1">
                <a:solidFill>
                  <a:schemeClr val="tx1"/>
                </a:solidFill>
                <a:latin typeface="+mj-lt"/>
              </a:defRPr>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A03AA63B-833C-4A35-8393-67EFD8FA6E3E}" type="datetime1">
              <a:rPr lang="zh-TW" altLang="en-US" smtClean="0"/>
              <a:t>2026/4/29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11662755" y="6492875"/>
            <a:ext cx="539213" cy="365125"/>
          </a:xfrm>
        </p:spPr>
        <p:txBody>
          <a:bodyPr/>
          <a:lstStyle>
            <a:lvl1pPr>
              <a:defRPr sz="2000" b="1" i="0">
                <a:solidFill>
                  <a:schemeClr val="tx1"/>
                </a:solidFill>
                <a:latin typeface="Times New Roman" charset="0"/>
                <a:ea typeface="Times New Roman" charset="0"/>
                <a:cs typeface="Times New Roman" charset="0"/>
              </a:defRPr>
            </a:lvl1pPr>
          </a:lstStyle>
          <a:p>
            <a:fld id="{3E97B41F-AD73-4999-8C34-7D0FF5EF3CF5}" type="slidenum">
              <a:rPr lang="zh-TW" altLang="en-US" smtClean="0"/>
              <a:t>‹#›</a:t>
            </a:fld>
            <a:endParaRPr lang="zh-TW" altLang="en-US"/>
          </a:p>
        </p:txBody>
      </p:sp>
      <p:sp>
        <p:nvSpPr>
          <p:cNvPr id="10" name="標題 1">
            <a:extLst>
              <a:ext uri="{FF2B5EF4-FFF2-40B4-BE49-F238E27FC236}">
                <a16:creationId xmlns:a16="http://schemas.microsoft.com/office/drawing/2014/main" id="{91C7D7B7-44F8-4991-81DE-88616561D6D2}"/>
              </a:ext>
            </a:extLst>
          </p:cNvPr>
          <p:cNvSpPr txBox="1">
            <a:spLocks/>
          </p:cNvSpPr>
          <p:nvPr/>
        </p:nvSpPr>
        <p:spPr>
          <a:xfrm>
            <a:off x="2488352" y="184298"/>
            <a:ext cx="6582550" cy="581966"/>
          </a:xfrm>
          <a:prstGeom prst="rect">
            <a:avLst/>
          </a:prstGeom>
        </p:spPr>
        <p:txBody>
          <a:bodyPr vert="horz" lIns="68580" tIns="34290" rIns="68580" bIns="34290" rtlCol="0" anchor="ctr">
            <a:normAutofit fontScale="97500" lnSpcReduction="10000"/>
          </a:bodyPr>
          <a:lstStyle>
            <a:lvl1pPr algn="l" defTabSz="914377"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endParaRPr kumimoji="1" lang="zh-TW" altLang="en-US" sz="4000" dirty="0">
              <a:solidFill>
                <a:schemeClr val="tx1"/>
              </a:solidFill>
              <a:latin typeface="Times" charset="0"/>
              <a:ea typeface="Times" charset="0"/>
              <a:cs typeface="Times" charset="0"/>
            </a:endParaRPr>
          </a:p>
        </p:txBody>
      </p:sp>
      <p:sp>
        <p:nvSpPr>
          <p:cNvPr id="11" name="矩形 10">
            <a:extLst>
              <a:ext uri="{FF2B5EF4-FFF2-40B4-BE49-F238E27FC236}">
                <a16:creationId xmlns:a16="http://schemas.microsoft.com/office/drawing/2014/main" id="{5A9D7B77-591D-495A-ACB2-A95A59C2AEA1}"/>
              </a:ext>
            </a:extLst>
          </p:cNvPr>
          <p:cNvSpPr/>
          <p:nvPr/>
        </p:nvSpPr>
        <p:spPr>
          <a:xfrm>
            <a:off x="2411297" y="1180538"/>
            <a:ext cx="7047472" cy="400110"/>
          </a:xfrm>
          <a:prstGeom prst="rect">
            <a:avLst/>
          </a:prstGeom>
        </p:spPr>
        <p:txBody>
          <a:bodyPr wrap="square">
            <a:spAutoFit/>
          </a:bodyPr>
          <a:lstStyle/>
          <a:p>
            <a:pPr marL="342900" indent="-342900">
              <a:buFont typeface="Wingdings" panose="05000000000000000000" pitchFamily="2" charset="2"/>
              <a:buChar char="Ø"/>
            </a:pPr>
            <a:endParaRPr lang="zh-TW" altLang="en-US" sz="2000" dirty="0"/>
          </a:p>
        </p:txBody>
      </p:sp>
      <p:pic>
        <p:nvPicPr>
          <p:cNvPr id="102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C5FEF00-0B61-6D7A-A9B1-0B92AD28E1C7}"/>
              </a:ext>
            </a:extLst>
          </p:cNvPr>
          <p:cNvSpPr/>
          <p:nvPr/>
        </p:nvSpPr>
        <p:spPr>
          <a:xfrm>
            <a:off x="838200" y="959251"/>
            <a:ext cx="96012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內容版面配置區 7">
            <a:extLst>
              <a:ext uri="{FF2B5EF4-FFF2-40B4-BE49-F238E27FC236}">
                <a16:creationId xmlns:a16="http://schemas.microsoft.com/office/drawing/2014/main" id="{FD0FEA35-461C-A55C-8BDD-6E88714DBFD7}"/>
              </a:ext>
            </a:extLst>
          </p:cNvPr>
          <p:cNvSpPr>
            <a:spLocks noGrp="1"/>
          </p:cNvSpPr>
          <p:nvPr>
            <p:ph sz="quarter" idx="13"/>
          </p:nvPr>
        </p:nvSpPr>
        <p:spPr>
          <a:xfrm>
            <a:off x="838200" y="1298575"/>
            <a:ext cx="9601200" cy="4905375"/>
          </a:xfrm>
        </p:spPr>
        <p:txBody>
          <a:bodyPr>
            <a:normAutofit/>
          </a:bodyPr>
          <a:lstStyle>
            <a:lvl1pPr marL="342900" indent="-342900">
              <a:lnSpc>
                <a:spcPct val="100000"/>
              </a:lnSpc>
              <a:defRPr sz="2000">
                <a:latin typeface="+mn-lt"/>
              </a:defRPr>
            </a:lvl1pPr>
            <a:lvl2pPr marL="571500" indent="-228600">
              <a:defRPr sz="2000">
                <a:latin typeface="+mn-lt"/>
              </a:defRPr>
            </a:lvl2pPr>
            <a:lvl3pPr marL="914400" indent="-228600">
              <a:defRPr sz="2000">
                <a:latin typeface="+mn-lt"/>
              </a:defRPr>
            </a:lvl3pPr>
            <a:lvl4pPr marL="1257300" indent="-228600">
              <a:defRPr sz="2000">
                <a:latin typeface="+mn-lt"/>
              </a:defRPr>
            </a:lvl4pPr>
            <a:lvl5pPr marL="1600200" indent="-228600">
              <a:defRPr sz="20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6">
            <a:extLst>
              <a:ext uri="{FF2B5EF4-FFF2-40B4-BE49-F238E27FC236}">
                <a16:creationId xmlns:a16="http://schemas.microsoft.com/office/drawing/2014/main" id="{5F5279E3-3B94-4F32-99E9-1F3FD8046D70}"/>
              </a:ext>
            </a:extLst>
          </p:cNvPr>
          <p:cNvSpPr>
            <a:spLocks noGrp="1"/>
          </p:cNvSpPr>
          <p:nvPr>
            <p:ph sz="quarter" idx="14" hasCustomPrompt="1"/>
          </p:nvPr>
        </p:nvSpPr>
        <p:spPr>
          <a:xfrm>
            <a:off x="0" y="6356353"/>
            <a:ext cx="11533517" cy="501648"/>
          </a:xfrm>
        </p:spPr>
        <p:txBody>
          <a:bodyPr anchor="b">
            <a:noAutofit/>
          </a:bodyPr>
          <a:lstStyle>
            <a:lvl1pPr marL="0" indent="0">
              <a:spcBef>
                <a:spcPts val="200"/>
              </a:spcBef>
              <a:buNone/>
              <a:defRPr sz="1000"/>
            </a:lvl1pPr>
          </a:lstStyle>
          <a:p>
            <a:pPr lvl="0"/>
            <a:r>
              <a:rPr lang="en-US" altLang="zh-TW" dirty="0"/>
              <a:t>Reference</a:t>
            </a:r>
            <a:endParaRPr lang="en-US" dirty="0"/>
          </a:p>
        </p:txBody>
      </p:sp>
    </p:spTree>
    <p:extLst>
      <p:ext uri="{BB962C8B-B14F-4D97-AF65-F5344CB8AC3E}">
        <p14:creationId xmlns:p14="http://schemas.microsoft.com/office/powerpoint/2010/main" val="180864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D38A2F8-4F65-43A2-B6F9-53DC0863478F}" type="datetime1">
              <a:rPr lang="zh-TW" altLang="en-US" smtClean="0"/>
              <a:t>2026/4/29</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680232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just" defTabSz="685800" rtl="0" eaLnBrk="1" latinLnBrk="0" hangingPunct="1">
        <a:lnSpc>
          <a:spcPct val="90000"/>
        </a:lnSpc>
        <a:spcBef>
          <a:spcPts val="1200"/>
        </a:spcBef>
        <a:buFont typeface="Wingdings" panose="05000000000000000000" pitchFamily="2" charset="2"/>
        <a:buChar char="Ø"/>
        <a:defRPr sz="2200" kern="1200">
          <a:solidFill>
            <a:schemeClr val="tx1"/>
          </a:solidFill>
          <a:latin typeface="+mn-lt"/>
          <a:ea typeface="+mn-ea"/>
          <a:cs typeface="+mn-cs"/>
        </a:defRPr>
      </a:lvl1pPr>
      <a:lvl2pPr marL="514350" indent="-171450" algn="just" defTabSz="685800" rtl="0" eaLnBrk="1" latinLnBrk="0" hangingPunct="1">
        <a:lnSpc>
          <a:spcPct val="90000"/>
        </a:lnSpc>
        <a:spcBef>
          <a:spcPts val="1200"/>
        </a:spcBef>
        <a:buFont typeface="Arial" panose="020B0604020202020204" pitchFamily="34" charset="0"/>
        <a:buChar char="•"/>
        <a:defRPr sz="2200" kern="1200">
          <a:solidFill>
            <a:schemeClr val="tx1"/>
          </a:solidFill>
          <a:latin typeface="+mn-lt"/>
          <a:ea typeface="+mn-ea"/>
          <a:cs typeface="+mn-cs"/>
        </a:defRPr>
      </a:lvl2pPr>
      <a:lvl3pPr marL="8572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3pPr>
      <a:lvl4pPr marL="12001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4pPr>
      <a:lvl5pPr marL="15430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CB5854-4637-4174-A8C3-E4DAAE0BD63C}" type="datetime1">
              <a:rPr lang="zh-TW" altLang="en-US" smtClean="0"/>
              <a:t>2026/4/29</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680232328"/>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just" defTabSz="685800" rtl="0" eaLnBrk="1" latinLnBrk="0" hangingPunct="1">
        <a:lnSpc>
          <a:spcPct val="90000"/>
        </a:lnSpc>
        <a:spcBef>
          <a:spcPts val="1200"/>
        </a:spcBef>
        <a:buFont typeface="Wingdings" panose="05000000000000000000" pitchFamily="2" charset="2"/>
        <a:buChar char="Ø"/>
        <a:defRPr sz="2200" kern="1200">
          <a:solidFill>
            <a:schemeClr val="tx1"/>
          </a:solidFill>
          <a:latin typeface="+mn-lt"/>
          <a:ea typeface="+mn-ea"/>
          <a:cs typeface="+mn-cs"/>
        </a:defRPr>
      </a:lvl1pPr>
      <a:lvl2pPr marL="514350" indent="-171450" algn="just" defTabSz="685800" rtl="0" eaLnBrk="1" latinLnBrk="0" hangingPunct="1">
        <a:lnSpc>
          <a:spcPct val="90000"/>
        </a:lnSpc>
        <a:spcBef>
          <a:spcPts val="1200"/>
        </a:spcBef>
        <a:buFont typeface="Arial" panose="020B0604020202020204" pitchFamily="34" charset="0"/>
        <a:buChar char="•"/>
        <a:defRPr sz="2200" kern="1200">
          <a:solidFill>
            <a:schemeClr val="tx1"/>
          </a:solidFill>
          <a:latin typeface="+mn-lt"/>
          <a:ea typeface="+mn-ea"/>
          <a:cs typeface="+mn-cs"/>
        </a:defRPr>
      </a:lvl2pPr>
      <a:lvl3pPr marL="8572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3pPr>
      <a:lvl4pPr marL="12001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4pPr>
      <a:lvl5pPr marL="15430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544932-6CD0-0CC1-C039-F3B92CA621B7}"/>
              </a:ext>
            </a:extLst>
          </p:cNvPr>
          <p:cNvSpPr>
            <a:spLocks noGrp="1"/>
          </p:cNvSpPr>
          <p:nvPr>
            <p:ph type="ctrTitle"/>
          </p:nvPr>
        </p:nvSpPr>
        <p:spPr>
          <a:xfrm>
            <a:off x="-219491" y="1141215"/>
            <a:ext cx="12630977" cy="1757997"/>
          </a:xfrm>
        </p:spPr>
        <p:txBody>
          <a:bodyPr>
            <a:normAutofit/>
          </a:bodyPr>
          <a:lstStyle/>
          <a:p>
            <a:r>
              <a:rPr lang="en-US" altLang="zh-TW" sz="4000" dirty="0"/>
              <a:t>Vision Mamba: Efficient Visual Representation Learning with Bidirectional State Space Model </a:t>
            </a:r>
            <a:endParaRPr lang="zh-TW" altLang="en-US" sz="4000" dirty="0"/>
          </a:p>
        </p:txBody>
      </p:sp>
      <p:sp>
        <p:nvSpPr>
          <p:cNvPr id="3" name="文字版面配置區 2">
            <a:extLst>
              <a:ext uri="{FF2B5EF4-FFF2-40B4-BE49-F238E27FC236}">
                <a16:creationId xmlns:a16="http://schemas.microsoft.com/office/drawing/2014/main" id="{C2557B6C-599C-2E3B-959F-75B8B0174D4C}"/>
              </a:ext>
            </a:extLst>
          </p:cNvPr>
          <p:cNvSpPr>
            <a:spLocks noGrp="1"/>
          </p:cNvSpPr>
          <p:nvPr>
            <p:ph type="body" sz="quarter" idx="13"/>
          </p:nvPr>
        </p:nvSpPr>
        <p:spPr/>
        <p:txBody>
          <a:bodyPr>
            <a:normAutofit fontScale="92500" lnSpcReduction="20000"/>
          </a:bodyPr>
          <a:lstStyle/>
          <a:p>
            <a:r>
              <a:rPr lang="en-US" altLang="zh-TW" dirty="0"/>
              <a:t> International Conference on Machine Learning</a:t>
            </a:r>
            <a:r>
              <a:rPr lang="zh-TW" altLang="en-US" dirty="0"/>
              <a:t> </a:t>
            </a:r>
            <a:r>
              <a:rPr lang="en-US" altLang="zh-TW" dirty="0"/>
              <a:t>(ICML) 2024</a:t>
            </a:r>
            <a:endParaRPr lang="zh-TW" altLang="en-US" dirty="0"/>
          </a:p>
        </p:txBody>
      </p:sp>
      <p:sp>
        <p:nvSpPr>
          <p:cNvPr id="4" name="文字版面配置區 3">
            <a:extLst>
              <a:ext uri="{FF2B5EF4-FFF2-40B4-BE49-F238E27FC236}">
                <a16:creationId xmlns:a16="http://schemas.microsoft.com/office/drawing/2014/main" id="{9F1F3752-FB47-57DF-3974-387C819F5E95}"/>
              </a:ext>
            </a:extLst>
          </p:cNvPr>
          <p:cNvSpPr>
            <a:spLocks noGrp="1"/>
          </p:cNvSpPr>
          <p:nvPr>
            <p:ph type="body" sz="quarter" idx="14"/>
          </p:nvPr>
        </p:nvSpPr>
        <p:spPr>
          <a:xfrm>
            <a:off x="1050662" y="3958788"/>
            <a:ext cx="10750476" cy="476250"/>
          </a:xfrm>
        </p:spPr>
        <p:txBody>
          <a:bodyPr>
            <a:noAutofit/>
          </a:bodyPr>
          <a:lstStyle/>
          <a:p>
            <a:r>
              <a:rPr lang="en-US" altLang="zh-TW" sz="1800" dirty="0" err="1"/>
              <a:t>Lianghui</a:t>
            </a:r>
            <a:r>
              <a:rPr lang="en-US" altLang="zh-TW" sz="1800" dirty="0"/>
              <a:t> Zhu¹*, </a:t>
            </a:r>
            <a:r>
              <a:rPr lang="en-US" altLang="zh-TW" sz="1800" dirty="0" err="1"/>
              <a:t>Bencheng</a:t>
            </a:r>
            <a:r>
              <a:rPr lang="en-US" altLang="zh-TW" sz="1800" dirty="0"/>
              <a:t> Liao²¹*, Qian Zhang³, </a:t>
            </a:r>
            <a:r>
              <a:rPr lang="en-US" altLang="zh-TW" sz="1800" dirty="0" err="1"/>
              <a:t>Xinlong</a:t>
            </a:r>
            <a:r>
              <a:rPr lang="en-US" altLang="zh-TW" sz="1800" dirty="0"/>
              <a:t> Wang⁴, Wenyu Liu¹, </a:t>
            </a:r>
            <a:r>
              <a:rPr lang="en-US" altLang="zh-TW" sz="1800" dirty="0" err="1"/>
              <a:t>Xinggang</a:t>
            </a:r>
            <a:r>
              <a:rPr lang="en-US" altLang="zh-TW" sz="1800" dirty="0"/>
              <a:t> Wang¹</a:t>
            </a:r>
          </a:p>
          <a:p>
            <a:endParaRPr lang="zh-TW" altLang="en-US" sz="1800" dirty="0"/>
          </a:p>
        </p:txBody>
      </p:sp>
      <p:sp>
        <p:nvSpPr>
          <p:cNvPr id="5" name="文字方塊 4">
            <a:extLst>
              <a:ext uri="{FF2B5EF4-FFF2-40B4-BE49-F238E27FC236}">
                <a16:creationId xmlns:a16="http://schemas.microsoft.com/office/drawing/2014/main" id="{76FB65E7-55E3-6436-9C6E-5824ACD6EDF9}"/>
              </a:ext>
            </a:extLst>
          </p:cNvPr>
          <p:cNvSpPr txBox="1"/>
          <p:nvPr/>
        </p:nvSpPr>
        <p:spPr>
          <a:xfrm>
            <a:off x="3929847" y="5014306"/>
            <a:ext cx="4332303" cy="923330"/>
          </a:xfrm>
          <a:prstGeom prst="rect">
            <a:avLst/>
          </a:prstGeom>
          <a:noFill/>
        </p:spPr>
        <p:txBody>
          <a:bodyPr wrap="square" rtlCol="0">
            <a:spAutoFit/>
          </a:bodyPr>
          <a:lstStyle/>
          <a:p>
            <a:r>
              <a:rPr lang="en-US" altLang="zh-TW" dirty="0"/>
              <a:t>Date : 2026/4/29</a:t>
            </a:r>
            <a:br>
              <a:rPr lang="en-US" altLang="zh-TW" dirty="0"/>
            </a:br>
            <a:r>
              <a:rPr lang="en-US" altLang="zh-TW" dirty="0"/>
              <a:t>Presenter : Yi-Cheng Wang (</a:t>
            </a:r>
            <a:r>
              <a:rPr lang="zh-TW" altLang="en-US" dirty="0"/>
              <a:t>王翊丞</a:t>
            </a:r>
            <a:r>
              <a:rPr lang="en-US" altLang="zh-TW" dirty="0"/>
              <a:t>)</a:t>
            </a:r>
            <a:br>
              <a:rPr lang="zh-TW" altLang="en-US" dirty="0"/>
            </a:br>
            <a:r>
              <a:rPr lang="en-US" altLang="zh-TW" dirty="0"/>
              <a:t>Advisor : Prof. Jim-Wei Wu (</a:t>
            </a:r>
            <a:r>
              <a:rPr lang="zh-TW" altLang="en-US" dirty="0"/>
              <a:t>吳俊緯</a:t>
            </a:r>
            <a:r>
              <a:rPr lang="en-US" altLang="zh-TW" dirty="0"/>
              <a:t>)</a:t>
            </a:r>
            <a:endParaRPr lang="zh-TW" altLang="en-US" dirty="0"/>
          </a:p>
        </p:txBody>
      </p:sp>
    </p:spTree>
    <p:extLst>
      <p:ext uri="{BB962C8B-B14F-4D97-AF65-F5344CB8AC3E}">
        <p14:creationId xmlns:p14="http://schemas.microsoft.com/office/powerpoint/2010/main" val="1606719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D2DB-2D2D-5010-22B3-ADFBE7A3B88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3BDC7A-D2F6-1BD0-A961-B32F739D8410}"/>
              </a:ext>
            </a:extLst>
          </p:cNvPr>
          <p:cNvSpPr>
            <a:spLocks noGrp="1"/>
          </p:cNvSpPr>
          <p:nvPr>
            <p:ph type="title"/>
          </p:nvPr>
        </p:nvSpPr>
        <p:spPr/>
        <p:txBody>
          <a:bodyPr/>
          <a:lstStyle/>
          <a:p>
            <a:r>
              <a:rPr lang="en-US" altLang="zh-TW" dirty="0"/>
              <a:t>Summary</a:t>
            </a:r>
            <a:endParaRPr lang="zh-TW" altLang="en-US" dirty="0"/>
          </a:p>
        </p:txBody>
      </p:sp>
      <p:sp>
        <p:nvSpPr>
          <p:cNvPr id="3" name="投影片編號版面配置區 2">
            <a:extLst>
              <a:ext uri="{FF2B5EF4-FFF2-40B4-BE49-F238E27FC236}">
                <a16:creationId xmlns:a16="http://schemas.microsoft.com/office/drawing/2014/main" id="{9CA56638-F9FF-8EDA-0C8D-0CA5CEC0122B}"/>
              </a:ext>
            </a:extLst>
          </p:cNvPr>
          <p:cNvSpPr>
            <a:spLocks noGrp="1"/>
          </p:cNvSpPr>
          <p:nvPr>
            <p:ph type="sldNum" sz="quarter" idx="12"/>
          </p:nvPr>
        </p:nvSpPr>
        <p:spPr/>
        <p:txBody>
          <a:bodyPr/>
          <a:lstStyle/>
          <a:p>
            <a:fld id="{3E97B41F-AD73-4999-8C34-7D0FF5EF3CF5}" type="slidenum">
              <a:rPr lang="zh-TW" altLang="en-US" smtClean="0"/>
              <a:t>2</a:t>
            </a:fld>
            <a:endParaRPr lang="zh-TW" altLang="en-US"/>
          </a:p>
        </p:txBody>
      </p:sp>
      <p:sp>
        <p:nvSpPr>
          <p:cNvPr id="5" name="內容版面配置區 4">
            <a:extLst>
              <a:ext uri="{FF2B5EF4-FFF2-40B4-BE49-F238E27FC236}">
                <a16:creationId xmlns:a16="http://schemas.microsoft.com/office/drawing/2014/main" id="{DAE07938-042C-ACEC-8343-EC3B5C5E9E3F}"/>
              </a:ext>
            </a:extLst>
          </p:cNvPr>
          <p:cNvSpPr>
            <a:spLocks noGrp="1"/>
          </p:cNvSpPr>
          <p:nvPr>
            <p:ph sz="quarter" idx="14"/>
          </p:nvPr>
        </p:nvSpPr>
        <p:spPr/>
        <p:txBody>
          <a:bodyPr/>
          <a:lstStyle/>
          <a:p>
            <a:endParaRPr lang="en-US" dirty="0"/>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0F80115F-9338-79FA-A697-2DB233AF2A76}"/>
                  </a:ext>
                </a:extLst>
              </p:cNvPr>
              <p:cNvSpPr txBox="1"/>
              <p:nvPr/>
            </p:nvSpPr>
            <p:spPr>
              <a:xfrm>
                <a:off x="838200" y="1097238"/>
                <a:ext cx="9601200" cy="3754874"/>
              </a:xfrm>
              <a:prstGeom prst="rect">
                <a:avLst/>
              </a:prstGeom>
              <a:noFill/>
            </p:spPr>
            <p:txBody>
              <a:bodyPr wrap="square">
                <a:spAutoFit/>
              </a:bodyPr>
              <a:lstStyle/>
              <a:p>
                <a:pPr marL="285750" indent="-285750">
                  <a:buFont typeface="Wingdings" panose="05000000000000000000" pitchFamily="2" charset="2"/>
                  <a:buChar char="Ø"/>
                </a:pPr>
                <a:r>
                  <a:rPr lang="en-US" altLang="zh-TW" sz="2000" b="1" dirty="0"/>
                  <a:t>Main Contributions of</a:t>
                </a:r>
                <a:r>
                  <a:rPr lang="zh-TW" altLang="en-US" sz="2000" b="1" dirty="0"/>
                  <a:t> </a:t>
                </a:r>
                <a:r>
                  <a:rPr lang="en-US" altLang="zh-TW" sz="2000" b="1" dirty="0"/>
                  <a:t>Vision Mamba</a:t>
                </a:r>
              </a:p>
              <a:p>
                <a:pPr marL="285750" indent="-285750">
                  <a:buFont typeface="Wingdings" panose="05000000000000000000" pitchFamily="2" charset="2"/>
                  <a:buChar char="Ø"/>
                </a:pPr>
                <a:endParaRPr lang="en-US" altLang="zh-TW" sz="2000" b="1" dirty="0"/>
              </a:p>
              <a:p>
                <a:pPr marL="742950" lvl="1" indent="-285750">
                  <a:buFont typeface="Arial" panose="020B0604020202020204" pitchFamily="34" charset="0"/>
                  <a:buChar char="•"/>
                </a:pPr>
                <a:r>
                  <a:rPr lang="en-US" altLang="zh-TW" b="1" dirty="0"/>
                  <a:t>Bidirectional SSM: 	</a:t>
                </a:r>
                <a:r>
                  <a:rPr lang="en-US" altLang="zh-TW" dirty="0"/>
                  <a:t>						          Adapts state-space models(SSM) for vision by introducing </a:t>
                </a:r>
                <a:r>
                  <a:rPr lang="en-US" altLang="zh-TW" b="1" dirty="0"/>
                  <a:t>bidirectional scanning</a:t>
                </a:r>
                <a:r>
                  <a:rPr lang="en-US" altLang="zh-TW" dirty="0"/>
                  <a:t>, successfully capturing full 2D spatial context without Self-Attention.</a:t>
                </a:r>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r>
                  <a:rPr lang="en-US" altLang="zh-TW" b="1" dirty="0"/>
                  <a:t>Linear-Time Efficiency:</a:t>
                </a:r>
                <a:r>
                  <a:rPr lang="en-US" altLang="zh-TW" dirty="0"/>
                  <a:t>						       Replaces </a:t>
                </a:r>
                <a14:m>
                  <m:oMath xmlns:m="http://schemas.openxmlformats.org/officeDocument/2006/math">
                    <m:r>
                      <a:rPr lang="en-US" altLang="zh-TW" i="1" dirty="0" smtClean="0">
                        <a:latin typeface="Cambria Math" panose="02040503050406030204" pitchFamily="18" charset="0"/>
                      </a:rPr>
                      <m:t>𝑂</m:t>
                    </m:r>
                    <m:d>
                      <m:dPr>
                        <m:ctrlPr>
                          <a:rPr lang="en-US" altLang="zh-TW" i="1" dirty="0" smtClean="0">
                            <a:latin typeface="Cambria Math" panose="02040503050406030204" pitchFamily="18" charset="0"/>
                          </a:rPr>
                        </m:ctrlPr>
                      </m:dPr>
                      <m:e>
                        <m:sSup>
                          <m:sSupPr>
                            <m:ctrlPr>
                              <a:rPr lang="en-US" altLang="zh-TW" i="1" dirty="0" smtClean="0">
                                <a:latin typeface="Cambria Math" panose="02040503050406030204" pitchFamily="18" charset="0"/>
                              </a:rPr>
                            </m:ctrlPr>
                          </m:sSupPr>
                          <m:e>
                            <m:r>
                              <a:rPr lang="en-US" altLang="zh-TW" i="1" dirty="0" smtClean="0">
                                <a:latin typeface="Cambria Math" panose="02040503050406030204" pitchFamily="18" charset="0"/>
                              </a:rPr>
                              <m:t>𝑁</m:t>
                            </m:r>
                          </m:e>
                          <m:sup>
                            <m:r>
                              <a:rPr lang="en-US" altLang="zh-TW" i="1" dirty="0" smtClean="0">
                                <a:latin typeface="Cambria Math" panose="02040503050406030204" pitchFamily="18" charset="0"/>
                              </a:rPr>
                              <m:t>2</m:t>
                            </m:r>
                          </m:sup>
                        </m:sSup>
                      </m:e>
                    </m:d>
                  </m:oMath>
                </a14:m>
                <a:r>
                  <a:rPr lang="en-US" altLang="zh-TW" i="1" dirty="0">
                    <a:latin typeface="Cambria Math" panose="02040503050406030204" pitchFamily="18" charset="0"/>
                  </a:rPr>
                  <a:t> </a:t>
                </a:r>
                <a:r>
                  <a:rPr lang="en-US" altLang="zh-TW" dirty="0"/>
                  <a:t>Attention with </a:t>
                </a:r>
                <a:r>
                  <a:rPr lang="en-US" altLang="zh-TW" b="1" dirty="0"/>
                  <a:t>input-dependent SSM</a:t>
                </a:r>
                <a:r>
                  <a:rPr lang="en-US" altLang="zh-TW" dirty="0"/>
                  <a:t>. Achieves linear computational complexity, solving the long-sequence bottleneck.</a:t>
                </a:r>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r>
                  <a:rPr lang="en-US" altLang="zh-TW" b="1" dirty="0"/>
                  <a:t>Competitive Vision Performance:</a:t>
                </a:r>
                <a:r>
                  <a:rPr lang="en-US" altLang="zh-TW" dirty="0"/>
                  <a:t>					          Proves pure SSMs can rival optimized Transformers (e.g., </a:t>
                </a:r>
                <a:r>
                  <a:rPr lang="en-US" altLang="zh-TW" dirty="0" err="1"/>
                  <a:t>DeiT</a:t>
                </a:r>
                <a:r>
                  <a:rPr lang="en-US" altLang="zh-TW" dirty="0"/>
                  <a:t>) across scales, establishing a new efficient baseline for computer vision.</a:t>
                </a:r>
              </a:p>
            </p:txBody>
          </p:sp>
        </mc:Choice>
        <mc:Fallback xmlns="">
          <p:sp>
            <p:nvSpPr>
              <p:cNvPr id="8" name="文字方塊 7">
                <a:extLst>
                  <a:ext uri="{FF2B5EF4-FFF2-40B4-BE49-F238E27FC236}">
                    <a16:creationId xmlns:a16="http://schemas.microsoft.com/office/drawing/2014/main" id="{0F80115F-9338-79FA-A697-2DB233AF2A76}"/>
                  </a:ext>
                </a:extLst>
              </p:cNvPr>
              <p:cNvSpPr txBox="1">
                <a:spLocks noRot="1" noChangeAspect="1" noMove="1" noResize="1" noEditPoints="1" noAdjustHandles="1" noChangeArrowheads="1" noChangeShapeType="1" noTextEdit="1"/>
              </p:cNvSpPr>
              <p:nvPr/>
            </p:nvSpPr>
            <p:spPr>
              <a:xfrm>
                <a:off x="838200" y="1097238"/>
                <a:ext cx="9601200" cy="3754874"/>
              </a:xfrm>
              <a:prstGeom prst="rect">
                <a:avLst/>
              </a:prstGeom>
              <a:blipFill>
                <a:blip r:embed="rId3"/>
                <a:stretch>
                  <a:fillRect l="-571" t="-974" b="-16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82166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217E78-1B4D-B13F-0CDA-F0605896476F}"/>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ABC4D2C8-66B4-35AC-377C-9163FA000923}"/>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09D4B8AD-DEF5-D910-E576-AE5441EC9B2B}"/>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C4540614-6391-EE10-8D00-1536E869FC13}"/>
              </a:ext>
            </a:extLst>
          </p:cNvPr>
          <p:cNvSpPr>
            <a:spLocks noGrp="1"/>
          </p:cNvSpPr>
          <p:nvPr>
            <p:ph type="sldNum" sz="quarter" idx="12"/>
          </p:nvPr>
        </p:nvSpPr>
        <p:spPr/>
        <p:txBody>
          <a:bodyPr/>
          <a:lstStyle/>
          <a:p>
            <a:fld id="{3E97B41F-AD73-4999-8C34-7D0FF5EF3CF5}" type="slidenum">
              <a:rPr lang="zh-TW" altLang="en-US" smtClean="0"/>
              <a:t>3</a:t>
            </a:fld>
            <a:endParaRPr lang="zh-TW" altLang="en-US"/>
          </a:p>
        </p:txBody>
      </p:sp>
    </p:spTree>
    <p:extLst>
      <p:ext uri="{BB962C8B-B14F-4D97-AF65-F5344CB8AC3E}">
        <p14:creationId xmlns:p14="http://schemas.microsoft.com/office/powerpoint/2010/main" val="643205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5CD1B-54E2-1A00-7AC0-6B83ED8180E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78BCA72-E0AB-8D4E-27C4-B461EE28146C}"/>
              </a:ext>
            </a:extLst>
          </p:cNvPr>
          <p:cNvSpPr>
            <a:spLocks noGrp="1"/>
          </p:cNvSpPr>
          <p:nvPr>
            <p:ph type="title"/>
          </p:nvPr>
        </p:nvSpPr>
        <p:spPr/>
        <p:txBody>
          <a:bodyPr>
            <a:normAutofit/>
          </a:bodyPr>
          <a:lstStyle/>
          <a:p>
            <a:r>
              <a:rPr lang="en-US" altLang="zh-TW" dirty="0"/>
              <a:t>I. Introduction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86DA342F-453A-835C-5B62-E71D349CECBB}"/>
              </a:ext>
            </a:extLst>
          </p:cNvPr>
          <p:cNvSpPr>
            <a:spLocks noGrp="1"/>
          </p:cNvSpPr>
          <p:nvPr>
            <p:ph type="sldNum" sz="quarter" idx="12"/>
          </p:nvPr>
        </p:nvSpPr>
        <p:spPr/>
        <p:txBody>
          <a:bodyPr/>
          <a:lstStyle/>
          <a:p>
            <a:fld id="{3E97B41F-AD73-4999-8C34-7D0FF5EF3CF5}" type="slidenum">
              <a:rPr lang="zh-TW" altLang="en-US" smtClean="0"/>
              <a:t>4</a:t>
            </a:fld>
            <a:endParaRPr lang="zh-TW" altLang="en-US"/>
          </a:p>
        </p:txBody>
      </p:sp>
      <p:sp>
        <p:nvSpPr>
          <p:cNvPr id="4" name="內容版面配置區 3">
            <a:extLst>
              <a:ext uri="{FF2B5EF4-FFF2-40B4-BE49-F238E27FC236}">
                <a16:creationId xmlns:a16="http://schemas.microsoft.com/office/drawing/2014/main" id="{AF351EBB-1893-98AB-2CD2-9741BCD0474B}"/>
              </a:ext>
            </a:extLst>
          </p:cNvPr>
          <p:cNvSpPr>
            <a:spLocks noGrp="1"/>
          </p:cNvSpPr>
          <p:nvPr>
            <p:ph sz="quarter" idx="13"/>
          </p:nvPr>
        </p:nvSpPr>
        <p:spPr>
          <a:xfrm>
            <a:off x="838200" y="1298575"/>
            <a:ext cx="9779598" cy="4905375"/>
          </a:xfrm>
        </p:spPr>
        <p:txBody>
          <a:bodyPr>
            <a:normAutofit/>
          </a:bodyPr>
          <a:lstStyle/>
          <a:p>
            <a:r>
              <a:rPr lang="en-US" altLang="zh-TW" dirty="0"/>
              <a:t>Vision Transformers[14] (</a:t>
            </a:r>
            <a:r>
              <a:rPr lang="en-US" altLang="zh-TW" dirty="0" err="1"/>
              <a:t>ViTs</a:t>
            </a:r>
            <a:r>
              <a:rPr lang="en-US" altLang="zh-TW" dirty="0"/>
              <a:t>)</a:t>
            </a:r>
            <a:r>
              <a:rPr lang="zh-TW" altLang="en-US" dirty="0"/>
              <a:t> </a:t>
            </a:r>
            <a:r>
              <a:rPr lang="en-US" altLang="zh-TW" dirty="0"/>
              <a:t>have achieved great success in visual representation learning, the core advantage lies in that </a:t>
            </a:r>
            <a:r>
              <a:rPr lang="en-US" altLang="zh-TW" dirty="0" err="1"/>
              <a:t>ViT</a:t>
            </a:r>
            <a:r>
              <a:rPr lang="en-US" altLang="zh-TW" dirty="0"/>
              <a:t> can provide each image patch with </a:t>
            </a:r>
            <a:r>
              <a:rPr lang="en-US" altLang="zh-TW" b="1" dirty="0"/>
              <a:t>global context through self</a:t>
            </a:r>
            <a:r>
              <a:rPr lang="zh-TW" altLang="en-US" b="1" dirty="0"/>
              <a:t> </a:t>
            </a:r>
            <a:r>
              <a:rPr lang="en-US" altLang="zh-TW" b="1" dirty="0"/>
              <a:t>attention</a:t>
            </a:r>
            <a:r>
              <a:rPr lang="en-US" altLang="zh-TW" dirty="0"/>
              <a:t>. This differs from convolutional networks(CNN) that use the same parameters, i.e., the convolutional filters, for all positions.</a:t>
            </a:r>
          </a:p>
          <a:p>
            <a:r>
              <a:rPr lang="en-US" altLang="zh-TW" dirty="0"/>
              <a:t>At the same time, the </a:t>
            </a:r>
            <a:r>
              <a:rPr lang="en-US" altLang="zh-TW" b="1" dirty="0"/>
              <a:t>self-attention</a:t>
            </a:r>
            <a:r>
              <a:rPr lang="en-US" altLang="zh-TW" dirty="0"/>
              <a:t> mechanism in Transformers poses </a:t>
            </a:r>
            <a:r>
              <a:rPr lang="en-US" altLang="zh-TW" b="1" dirty="0"/>
              <a:t>challenges in terms of speed and memory usage</a:t>
            </a:r>
            <a:r>
              <a:rPr lang="en-US" altLang="zh-TW" dirty="0"/>
              <a:t> when dealing with long-range visual dependencies, e.g., processing high-resolution images.</a:t>
            </a:r>
          </a:p>
          <a:p>
            <a:pPr marL="0" indent="0">
              <a:buNone/>
            </a:pPr>
            <a:endParaRPr lang="en-US" altLang="zh-TW" dirty="0"/>
          </a:p>
        </p:txBody>
      </p:sp>
      <p:sp>
        <p:nvSpPr>
          <p:cNvPr id="11" name="內容版面配置區 10">
            <a:extLst>
              <a:ext uri="{FF2B5EF4-FFF2-40B4-BE49-F238E27FC236}">
                <a16:creationId xmlns:a16="http://schemas.microsoft.com/office/drawing/2014/main" id="{83F40D82-FC63-77B4-01B5-E62D40C64801}"/>
              </a:ext>
            </a:extLst>
          </p:cNvPr>
          <p:cNvSpPr>
            <a:spLocks noGrp="1"/>
          </p:cNvSpPr>
          <p:nvPr>
            <p:ph sz="quarter" idx="14"/>
          </p:nvPr>
        </p:nvSpPr>
        <p:spPr>
          <a:xfrm>
            <a:off x="0" y="6356353"/>
            <a:ext cx="11908715" cy="501648"/>
          </a:xfrm>
        </p:spPr>
        <p:txBody>
          <a:bodyPr/>
          <a:lstStyle/>
          <a:p>
            <a:r>
              <a:rPr lang="en-US" altLang="zh-TW" dirty="0"/>
              <a:t>[14] </a:t>
            </a:r>
            <a:r>
              <a:rPr lang="en-US" altLang="zh-TW" dirty="0" err="1"/>
              <a:t>Dosovitskiy</a:t>
            </a:r>
            <a:r>
              <a:rPr lang="en-US" altLang="zh-TW" dirty="0"/>
              <a:t>, A., Beyer, L., Kolesnikov, A., Weissenborn, D., Zhai, X., </a:t>
            </a:r>
            <a:r>
              <a:rPr lang="en-US" altLang="zh-TW" dirty="0" err="1"/>
              <a:t>Unterthiner</a:t>
            </a:r>
            <a:r>
              <a:rPr lang="en-US" altLang="zh-TW" dirty="0"/>
              <a:t>, T., Dehghani, M., </a:t>
            </a:r>
            <a:r>
              <a:rPr lang="en-US" altLang="zh-TW" dirty="0" err="1"/>
              <a:t>Minderer</a:t>
            </a:r>
            <a:r>
              <a:rPr lang="en-US" altLang="zh-TW" dirty="0"/>
              <a:t>, M., </a:t>
            </a:r>
            <a:r>
              <a:rPr lang="en-US" altLang="zh-TW" dirty="0" err="1"/>
              <a:t>Heigold</a:t>
            </a:r>
            <a:r>
              <a:rPr lang="en-US" altLang="zh-TW" dirty="0"/>
              <a:t>, G., Gelly, S., et al. An image is worth 16x16 words: Transformers for image recognition at scale. In ICLR, 2020.</a:t>
            </a:r>
            <a:endParaRPr lang="zh-TW" altLang="en-US" dirty="0"/>
          </a:p>
        </p:txBody>
      </p:sp>
    </p:spTree>
    <p:extLst>
      <p:ext uri="{BB962C8B-B14F-4D97-AF65-F5344CB8AC3E}">
        <p14:creationId xmlns:p14="http://schemas.microsoft.com/office/powerpoint/2010/main" val="914638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39FC-CC28-7243-31BF-021FC6478F0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018912A-4612-B796-1F7A-37507C49888A}"/>
              </a:ext>
            </a:extLst>
          </p:cNvPr>
          <p:cNvSpPr>
            <a:spLocks noGrp="1"/>
          </p:cNvSpPr>
          <p:nvPr>
            <p:ph type="title"/>
          </p:nvPr>
        </p:nvSpPr>
        <p:spPr/>
        <p:txBody>
          <a:bodyPr>
            <a:normAutofit/>
          </a:bodyPr>
          <a:lstStyle/>
          <a:p>
            <a:r>
              <a:rPr lang="en-US" altLang="zh-TW" dirty="0"/>
              <a:t>I. Introduction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2E82E29A-A16F-384D-69E2-79F923FC35E5}"/>
              </a:ext>
            </a:extLst>
          </p:cNvPr>
          <p:cNvSpPr>
            <a:spLocks noGrp="1"/>
          </p:cNvSpPr>
          <p:nvPr>
            <p:ph type="sldNum" sz="quarter" idx="12"/>
          </p:nvPr>
        </p:nvSpPr>
        <p:spPr/>
        <p:txBody>
          <a:bodyPr/>
          <a:lstStyle/>
          <a:p>
            <a:fld id="{3E97B41F-AD73-4999-8C34-7D0FF5EF3CF5}" type="slidenum">
              <a:rPr lang="zh-TW" altLang="en-US" smtClean="0"/>
              <a:t>5</a:t>
            </a:fld>
            <a:endParaRPr lang="zh-TW" altLang="en-US"/>
          </a:p>
        </p:txBody>
      </p:sp>
      <p:sp>
        <p:nvSpPr>
          <p:cNvPr id="4" name="內容版面配置區 3">
            <a:extLst>
              <a:ext uri="{FF2B5EF4-FFF2-40B4-BE49-F238E27FC236}">
                <a16:creationId xmlns:a16="http://schemas.microsoft.com/office/drawing/2014/main" id="{E57796EB-54D5-63A6-5FA2-378421BC9E19}"/>
              </a:ext>
            </a:extLst>
          </p:cNvPr>
          <p:cNvSpPr>
            <a:spLocks noGrp="1"/>
          </p:cNvSpPr>
          <p:nvPr>
            <p:ph sz="quarter" idx="13"/>
          </p:nvPr>
        </p:nvSpPr>
        <p:spPr>
          <a:xfrm>
            <a:off x="838200" y="1298575"/>
            <a:ext cx="9715052" cy="4905375"/>
          </a:xfrm>
        </p:spPr>
        <p:txBody>
          <a:bodyPr>
            <a:normAutofit/>
          </a:bodyPr>
          <a:lstStyle/>
          <a:p>
            <a:r>
              <a:rPr lang="en-US" altLang="zh-TW" dirty="0"/>
              <a:t>Motivated by the success of </a:t>
            </a:r>
            <a:r>
              <a:rPr lang="en-US" altLang="zh-TW" b="1" dirty="0"/>
              <a:t>Mamba</a:t>
            </a:r>
            <a:r>
              <a:rPr lang="en-US" altLang="zh-TW" dirty="0"/>
              <a:t>[20] in language modeling, it is appealing that we can also </a:t>
            </a:r>
            <a:r>
              <a:rPr lang="en-US" altLang="zh-TW" b="1" dirty="0"/>
              <a:t>transfer this success from language to vision</a:t>
            </a:r>
            <a:r>
              <a:rPr lang="en-US" altLang="zh-TW" dirty="0"/>
              <a:t>, i.e. However, there are two challenges for Mamba, i.e., </a:t>
            </a:r>
            <a:r>
              <a:rPr lang="en-US" altLang="zh-TW" b="1" dirty="0"/>
              <a:t>unidirectional modeling </a:t>
            </a:r>
            <a:r>
              <a:rPr lang="en-US" altLang="zh-TW" dirty="0"/>
              <a:t>and </a:t>
            </a:r>
            <a:r>
              <a:rPr lang="en-US" altLang="zh-TW" b="1" dirty="0"/>
              <a:t>lack of positional awareness</a:t>
            </a:r>
            <a:r>
              <a:rPr lang="en-US" altLang="zh-TW" dirty="0"/>
              <a:t>. </a:t>
            </a:r>
          </a:p>
          <a:p>
            <a:r>
              <a:rPr lang="en-US" altLang="zh-TW" dirty="0"/>
              <a:t>Vision Mamba(Vim) is the first pure-SSM-based model to handle dense prediction tasks. Compared with the most convincing Transformer-based model, i.e., </a:t>
            </a:r>
            <a:r>
              <a:rPr lang="en-US" altLang="zh-TW" dirty="0" err="1"/>
              <a:t>DeiT</a:t>
            </a:r>
            <a:r>
              <a:rPr lang="en-US" altLang="zh-TW" dirty="0"/>
              <a:t>[4], Vim achieves superior performance on segmentation and object detections. Furthermore, Vim is </a:t>
            </a:r>
            <a:r>
              <a:rPr lang="en-US" altLang="zh-TW" b="1" dirty="0"/>
              <a:t>more efficient in terms of memory and inference time for high-resolution images</a:t>
            </a:r>
            <a:r>
              <a:rPr lang="en-US" altLang="zh-TW" dirty="0"/>
              <a:t>.</a:t>
            </a:r>
          </a:p>
          <a:p>
            <a:pPr marL="0" indent="0">
              <a:buNone/>
            </a:pPr>
            <a:endParaRPr lang="en-US" altLang="zh-TW" dirty="0"/>
          </a:p>
          <a:p>
            <a:endParaRPr lang="en-US" dirty="0"/>
          </a:p>
          <a:p>
            <a:endParaRPr lang="en-US" dirty="0"/>
          </a:p>
        </p:txBody>
      </p:sp>
      <p:sp>
        <p:nvSpPr>
          <p:cNvPr id="11" name="內容版面配置區 10">
            <a:extLst>
              <a:ext uri="{FF2B5EF4-FFF2-40B4-BE49-F238E27FC236}">
                <a16:creationId xmlns:a16="http://schemas.microsoft.com/office/drawing/2014/main" id="{921256D4-701F-D4F0-E1A1-117F8043F2F5}"/>
              </a:ext>
            </a:extLst>
          </p:cNvPr>
          <p:cNvSpPr>
            <a:spLocks noGrp="1"/>
          </p:cNvSpPr>
          <p:nvPr>
            <p:ph sz="quarter" idx="14"/>
          </p:nvPr>
        </p:nvSpPr>
        <p:spPr>
          <a:xfrm>
            <a:off x="0" y="6356353"/>
            <a:ext cx="11908715" cy="501648"/>
          </a:xfrm>
        </p:spPr>
        <p:txBody>
          <a:bodyPr/>
          <a:lstStyle/>
          <a:p>
            <a:r>
              <a:rPr lang="en-US" altLang="zh-TW" dirty="0"/>
              <a:t>[4] Caron, M., </a:t>
            </a:r>
            <a:r>
              <a:rPr lang="en-US" altLang="zh-TW" dirty="0" err="1"/>
              <a:t>Touvron</a:t>
            </a:r>
            <a:r>
              <a:rPr lang="en-US" altLang="zh-TW" dirty="0"/>
              <a:t>, H., Misra, I., </a:t>
            </a:r>
            <a:r>
              <a:rPr lang="en-US" altLang="zh-TW" dirty="0" err="1"/>
              <a:t>J´egou</a:t>
            </a:r>
            <a:r>
              <a:rPr lang="en-US" altLang="zh-TW" dirty="0"/>
              <a:t>, H., Mairal, J., Bojanowski, P., and </a:t>
            </a:r>
            <a:r>
              <a:rPr lang="en-US" altLang="zh-TW" dirty="0" err="1"/>
              <a:t>Joulin</a:t>
            </a:r>
            <a:r>
              <a:rPr lang="en-US" altLang="zh-TW" dirty="0"/>
              <a:t>, A. Emerging properties in self-supervised vision transformers. In ICCV, 2021.</a:t>
            </a:r>
          </a:p>
          <a:p>
            <a:r>
              <a:rPr lang="en-US" altLang="zh-TW" dirty="0"/>
              <a:t>[20] Gu, A. and Dao, T. Mamba: Linear-time sequence modeling with selective state spaces. </a:t>
            </a:r>
            <a:r>
              <a:rPr lang="en-US" altLang="zh-TW" dirty="0" err="1"/>
              <a:t>arXiv</a:t>
            </a:r>
            <a:r>
              <a:rPr lang="en-US" altLang="zh-TW" dirty="0"/>
              <a:t> preprint arXiv:2312.00752, 2023.</a:t>
            </a:r>
          </a:p>
        </p:txBody>
      </p:sp>
    </p:spTree>
    <p:extLst>
      <p:ext uri="{BB962C8B-B14F-4D97-AF65-F5344CB8AC3E}">
        <p14:creationId xmlns:p14="http://schemas.microsoft.com/office/powerpoint/2010/main" val="3089868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5AA83-9CE8-90D7-D624-0475EF8BDD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30CF84C-A15E-2EDC-3F35-F8A637EA9EC8}"/>
              </a:ext>
            </a:extLst>
          </p:cNvPr>
          <p:cNvSpPr>
            <a:spLocks noGrp="1"/>
          </p:cNvSpPr>
          <p:nvPr>
            <p:ph type="title"/>
          </p:nvPr>
        </p:nvSpPr>
        <p:spPr/>
        <p:txBody>
          <a:bodyPr/>
          <a:lstStyle/>
          <a:p>
            <a:r>
              <a:rPr lang="en-US" altLang="zh-TW" dirty="0"/>
              <a:t>I. Introduction </a:t>
            </a:r>
            <a:endParaRPr lang="zh-TW" altLang="en-US" dirty="0"/>
          </a:p>
        </p:txBody>
      </p:sp>
      <p:sp>
        <p:nvSpPr>
          <p:cNvPr id="3" name="投影片編號版面配置區 2">
            <a:extLst>
              <a:ext uri="{FF2B5EF4-FFF2-40B4-BE49-F238E27FC236}">
                <a16:creationId xmlns:a16="http://schemas.microsoft.com/office/drawing/2014/main" id="{E0022DD7-35DC-552E-3DD5-9A21E3B27AF5}"/>
              </a:ext>
            </a:extLst>
          </p:cNvPr>
          <p:cNvSpPr>
            <a:spLocks noGrp="1"/>
          </p:cNvSpPr>
          <p:nvPr>
            <p:ph type="sldNum" sz="quarter" idx="12"/>
          </p:nvPr>
        </p:nvSpPr>
        <p:spPr/>
        <p:txBody>
          <a:bodyPr/>
          <a:lstStyle/>
          <a:p>
            <a:fld id="{3E97B41F-AD73-4999-8C34-7D0FF5EF3CF5}" type="slidenum">
              <a:rPr lang="zh-TW" altLang="en-US" smtClean="0"/>
              <a:t>6</a:t>
            </a:fld>
            <a:endParaRPr lang="zh-TW" altLang="en-US"/>
          </a:p>
        </p:txBody>
      </p:sp>
      <p:sp>
        <p:nvSpPr>
          <p:cNvPr id="4" name="內容版面配置區 3">
            <a:extLst>
              <a:ext uri="{FF2B5EF4-FFF2-40B4-BE49-F238E27FC236}">
                <a16:creationId xmlns:a16="http://schemas.microsoft.com/office/drawing/2014/main" id="{3AB978F7-A4E2-5CD6-4C51-D5BE144A8410}"/>
              </a:ext>
            </a:extLst>
          </p:cNvPr>
          <p:cNvSpPr>
            <a:spLocks noGrp="1"/>
          </p:cNvSpPr>
          <p:nvPr>
            <p:ph sz="quarter" idx="13"/>
          </p:nvPr>
        </p:nvSpPr>
        <p:spPr/>
        <p:txBody>
          <a:bodyPr/>
          <a:lstStyle/>
          <a:p>
            <a:r>
              <a:rPr lang="en-US" altLang="zh-TW" sz="2200" dirty="0"/>
              <a:t>The contributions of this work are as follows:</a:t>
            </a:r>
          </a:p>
          <a:p>
            <a:pPr lvl="1"/>
            <a:r>
              <a:rPr lang="en-US" altLang="zh-TW" dirty="0"/>
              <a:t>This paper propose Vision Mamba (Vim), which incorporates </a:t>
            </a:r>
            <a:r>
              <a:rPr lang="en-US" altLang="zh-TW" b="1" dirty="0"/>
              <a:t>bidirectional SSM</a:t>
            </a:r>
            <a:r>
              <a:rPr lang="en-US" altLang="zh-TW" dirty="0"/>
              <a:t> for data-dependent </a:t>
            </a:r>
            <a:r>
              <a:rPr lang="en-US" altLang="zh-TW" b="1" dirty="0"/>
              <a:t>global visual context modeling </a:t>
            </a:r>
            <a:r>
              <a:rPr lang="en-US" altLang="zh-TW" dirty="0"/>
              <a:t>and </a:t>
            </a:r>
            <a:r>
              <a:rPr lang="en-US" altLang="zh-TW" b="1" dirty="0"/>
              <a:t>position embeddings </a:t>
            </a:r>
            <a:r>
              <a:rPr lang="en-US" altLang="zh-TW" dirty="0"/>
              <a:t>for </a:t>
            </a:r>
            <a:r>
              <a:rPr lang="en-US" altLang="zh-TW" b="1" dirty="0"/>
              <a:t>location aware visual understanding</a:t>
            </a:r>
            <a:r>
              <a:rPr lang="en-US" altLang="zh-TW" dirty="0"/>
              <a:t>. </a:t>
            </a:r>
          </a:p>
          <a:p>
            <a:pPr lvl="1"/>
            <a:r>
              <a:rPr lang="en-US" altLang="zh-TW" b="1" dirty="0"/>
              <a:t>Without the need of attention</a:t>
            </a:r>
            <a:r>
              <a:rPr lang="en-US" altLang="zh-TW" dirty="0"/>
              <a:t>, the proposed Vim has the same modeling power as </a:t>
            </a:r>
            <a:r>
              <a:rPr lang="en-US" altLang="zh-TW" dirty="0" err="1"/>
              <a:t>ViT</a:t>
            </a:r>
            <a:r>
              <a:rPr lang="en-US" altLang="zh-TW" dirty="0"/>
              <a:t> while it only has </a:t>
            </a:r>
            <a:r>
              <a:rPr lang="en-US" altLang="zh-TW" b="1" dirty="0"/>
              <a:t>linear complexity</a:t>
            </a:r>
            <a:r>
              <a:rPr lang="en-US" altLang="zh-TW" dirty="0"/>
              <a:t>. Specifically, Vim-Ti is faster than </a:t>
            </a:r>
            <a:r>
              <a:rPr lang="en-US" altLang="zh-TW" dirty="0" err="1"/>
              <a:t>DeiT</a:t>
            </a:r>
            <a:r>
              <a:rPr lang="en-US" altLang="zh-TW" dirty="0"/>
              <a:t>-Ti and saves 86.8% GPU memory when performing batch inference to extract features on images at the resolution of 1248×1248.  </a:t>
            </a:r>
          </a:p>
          <a:p>
            <a:endParaRPr lang="en-US" altLang="zh-TW" sz="2200" dirty="0"/>
          </a:p>
        </p:txBody>
      </p:sp>
      <p:sp>
        <p:nvSpPr>
          <p:cNvPr id="5" name="內容版面配置區 4">
            <a:extLst>
              <a:ext uri="{FF2B5EF4-FFF2-40B4-BE49-F238E27FC236}">
                <a16:creationId xmlns:a16="http://schemas.microsoft.com/office/drawing/2014/main" id="{BD23B45B-1BA6-EB56-7AD2-4D97ABE12A08}"/>
              </a:ext>
            </a:extLst>
          </p:cNvPr>
          <p:cNvSpPr>
            <a:spLocks noGrp="1"/>
          </p:cNvSpPr>
          <p:nvPr>
            <p:ph sz="quarter" idx="14"/>
          </p:nvPr>
        </p:nvSpPr>
        <p:spPr/>
        <p:txBody>
          <a:bodyPr/>
          <a:lstStyle/>
          <a:p>
            <a:endParaRPr lang="zh-TW" altLang="en-US" dirty="0"/>
          </a:p>
        </p:txBody>
      </p:sp>
    </p:spTree>
    <p:extLst>
      <p:ext uri="{BB962C8B-B14F-4D97-AF65-F5344CB8AC3E}">
        <p14:creationId xmlns:p14="http://schemas.microsoft.com/office/powerpoint/2010/main" val="1196656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26A83-D9A5-ECF3-C880-FECAD90E0DB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6858CFA-04FC-306A-2E4C-45665E15894C}"/>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AE824415-D122-087B-1C53-6FAACBE9BCB6}"/>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30CD9739-37D5-345C-0841-91E38F3BB26B}"/>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b="1"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98D44920-806C-8CBD-334C-8BFC64D02E98}"/>
              </a:ext>
            </a:extLst>
          </p:cNvPr>
          <p:cNvSpPr>
            <a:spLocks noGrp="1"/>
          </p:cNvSpPr>
          <p:nvPr>
            <p:ph type="sldNum" sz="quarter" idx="12"/>
          </p:nvPr>
        </p:nvSpPr>
        <p:spPr/>
        <p:txBody>
          <a:bodyPr/>
          <a:lstStyle/>
          <a:p>
            <a:fld id="{3E97B41F-AD73-4999-8C34-7D0FF5EF3CF5}" type="slidenum">
              <a:rPr lang="zh-TW" altLang="en-US" smtClean="0"/>
              <a:t>7</a:t>
            </a:fld>
            <a:endParaRPr lang="zh-TW" altLang="en-US"/>
          </a:p>
        </p:txBody>
      </p:sp>
    </p:spTree>
    <p:extLst>
      <p:ext uri="{BB962C8B-B14F-4D97-AF65-F5344CB8AC3E}">
        <p14:creationId xmlns:p14="http://schemas.microsoft.com/office/powerpoint/2010/main" val="1626011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DDDB5D-A062-FB6E-0A4C-33025603F520}"/>
              </a:ext>
            </a:extLst>
          </p:cNvPr>
          <p:cNvSpPr>
            <a:spLocks noGrp="1"/>
          </p:cNvSpPr>
          <p:nvPr>
            <p:ph type="title"/>
          </p:nvPr>
        </p:nvSpPr>
        <p:spPr>
          <a:xfrm>
            <a:off x="838200" y="88624"/>
            <a:ext cx="9753600" cy="856211"/>
          </a:xfrm>
        </p:spPr>
        <p:txBody>
          <a:bodyPr>
            <a:normAutofit/>
          </a:bodyPr>
          <a:lstStyle/>
          <a:p>
            <a:r>
              <a:rPr lang="en-US" altLang="zh-TW" dirty="0"/>
              <a:t>II. Related Work </a:t>
            </a:r>
            <a:endParaRPr lang="zh-TW" altLang="en-US" dirty="0"/>
          </a:p>
        </p:txBody>
      </p:sp>
      <p:sp>
        <p:nvSpPr>
          <p:cNvPr id="3" name="投影片編號版面配置區 2">
            <a:extLst>
              <a:ext uri="{FF2B5EF4-FFF2-40B4-BE49-F238E27FC236}">
                <a16:creationId xmlns:a16="http://schemas.microsoft.com/office/drawing/2014/main" id="{091AC2EC-CF46-1CD6-D34F-8CF08CB607CE}"/>
              </a:ext>
            </a:extLst>
          </p:cNvPr>
          <p:cNvSpPr>
            <a:spLocks noGrp="1"/>
          </p:cNvSpPr>
          <p:nvPr>
            <p:ph type="sldNum" sz="quarter" idx="12"/>
          </p:nvPr>
        </p:nvSpPr>
        <p:spPr/>
        <p:txBody>
          <a:bodyPr/>
          <a:lstStyle/>
          <a:p>
            <a:fld id="{3E97B41F-AD73-4999-8C34-7D0FF5EF3CF5}" type="slidenum">
              <a:rPr lang="zh-TW" altLang="en-US" smtClean="0"/>
              <a:t>8</a:t>
            </a:fld>
            <a:endParaRPr lang="zh-TW" altLang="en-US"/>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38BD66B8-D3CB-94D2-60EE-4F229AEC084D}"/>
                  </a:ext>
                </a:extLst>
              </p:cNvPr>
              <p:cNvSpPr>
                <a:spLocks noGrp="1"/>
              </p:cNvSpPr>
              <p:nvPr>
                <p:ph sz="quarter" idx="13"/>
              </p:nvPr>
            </p:nvSpPr>
            <p:spPr>
              <a:xfrm>
                <a:off x="838200" y="1298575"/>
                <a:ext cx="9753600" cy="4905375"/>
              </a:xfrm>
            </p:spPr>
            <p:txBody>
              <a:bodyPr>
                <a:normAutofit/>
              </a:bodyPr>
              <a:lstStyle/>
              <a:p>
                <a:pPr marL="457200" indent="-457200">
                  <a:buFont typeface="+mj-lt"/>
                  <a:buAutoNum type="alphaUcPeriod"/>
                </a:pPr>
                <a:r>
                  <a:rPr lang="en-US" altLang="zh-TW" sz="2200" b="1" dirty="0"/>
                  <a:t>Architectures for generic vision backbone.</a:t>
                </a:r>
                <a:r>
                  <a:rPr lang="en-US" altLang="zh-TW" dirty="0"/>
                  <a:t> 				             While </a:t>
                </a:r>
                <a:r>
                  <a:rPr lang="en-US" altLang="zh-TW" dirty="0" err="1"/>
                  <a:t>ViT</a:t>
                </a:r>
                <a:r>
                  <a:rPr lang="en-US" altLang="zh-TW" dirty="0"/>
                  <a:t> </a:t>
                </a:r>
                <a:r>
                  <a:rPr lang="en-US" altLang="zh-TW" b="1" dirty="0"/>
                  <a:t>dominates multi-modal tasks </a:t>
                </a:r>
                <a:r>
                  <a:rPr lang="en-US" altLang="zh-TW" dirty="0"/>
                  <a:t>with its </a:t>
                </a:r>
                <a:r>
                  <a:rPr lang="en-US" altLang="zh-TW" b="1" dirty="0"/>
                  <a:t>unified representation</a:t>
                </a:r>
                <a:r>
                  <a:rPr lang="en-US" altLang="zh-TW" dirty="0"/>
                  <a:t>, it suffers from an </a:t>
                </a:r>
                <a14:m>
                  <m:oMath xmlns:m="http://schemas.openxmlformats.org/officeDocument/2006/math">
                    <m:r>
                      <a:rPr lang="en-US" altLang="zh-TW" sz="1800" i="1" dirty="0" smtClean="0">
                        <a:latin typeface="Cambria Math" panose="02040503050406030204" pitchFamily="18" charset="0"/>
                      </a:rPr>
                      <m:t>𝑂</m:t>
                    </m:r>
                    <m:d>
                      <m:dPr>
                        <m:ctrlPr>
                          <a:rPr lang="en-US" altLang="zh-TW" sz="1800" i="1" dirty="0" smtClean="0">
                            <a:latin typeface="Cambria Math" panose="02040503050406030204" pitchFamily="18" charset="0"/>
                          </a:rPr>
                        </m:ctrlPr>
                      </m:dPr>
                      <m:e>
                        <m:sSup>
                          <m:sSupPr>
                            <m:ctrlPr>
                              <a:rPr lang="en-US" altLang="zh-TW" sz="1800" i="1" dirty="0" smtClean="0">
                                <a:latin typeface="Cambria Math" panose="02040503050406030204" pitchFamily="18" charset="0"/>
                              </a:rPr>
                            </m:ctrlPr>
                          </m:sSupPr>
                          <m:e>
                            <m:r>
                              <a:rPr lang="en-US" altLang="zh-TW" sz="1800" i="1" dirty="0" smtClean="0">
                                <a:latin typeface="Cambria Math" panose="02040503050406030204" pitchFamily="18" charset="0"/>
                              </a:rPr>
                              <m:t>𝑁</m:t>
                            </m:r>
                          </m:e>
                          <m:sup>
                            <m:r>
                              <a:rPr lang="en-US" altLang="zh-TW" sz="1800" i="1" dirty="0" smtClean="0">
                                <a:latin typeface="Cambria Math" panose="02040503050406030204" pitchFamily="18" charset="0"/>
                              </a:rPr>
                              <m:t>2</m:t>
                            </m:r>
                          </m:sup>
                        </m:sSup>
                      </m:e>
                    </m:d>
                    <m:r>
                      <a:rPr lang="en-US" altLang="zh-TW" sz="1800" b="0" i="1" dirty="0" smtClean="0">
                        <a:latin typeface="Cambria Math" panose="02040503050406030204" pitchFamily="18" charset="0"/>
                      </a:rPr>
                      <m:t> </m:t>
                    </m:r>
                  </m:oMath>
                </a14:m>
                <a:r>
                  <a:rPr lang="en-US" altLang="zh-TW" dirty="0"/>
                  <a:t>complexity bottleneck. To address this, variants like </a:t>
                </a:r>
                <a:r>
                  <a:rPr lang="en-US" altLang="zh-TW" dirty="0" err="1"/>
                  <a:t>LongViT</a:t>
                </a:r>
                <a:r>
                  <a:rPr lang="en-US" altLang="zh-TW" dirty="0"/>
                  <a:t>[48] achieve linear </a:t>
                </a:r>
                <a14:m>
                  <m:oMath xmlns:m="http://schemas.openxmlformats.org/officeDocument/2006/math">
                    <m:r>
                      <a:rPr lang="en-US" altLang="zh-TW" sz="1800" i="1" dirty="0" smtClean="0">
                        <a:latin typeface="Cambria Math" panose="02040503050406030204" pitchFamily="18" charset="0"/>
                      </a:rPr>
                      <m:t>𝑂</m:t>
                    </m:r>
                    <m:d>
                      <m:dPr>
                        <m:ctrlPr>
                          <a:rPr lang="en-US" altLang="zh-TW" sz="1800" i="1" dirty="0" smtClean="0">
                            <a:latin typeface="Cambria Math" panose="02040503050406030204" pitchFamily="18" charset="0"/>
                          </a:rPr>
                        </m:ctrlPr>
                      </m:dPr>
                      <m:e>
                        <m:r>
                          <a:rPr lang="en-US" altLang="zh-TW" sz="1800" i="1" dirty="0" smtClean="0">
                            <a:latin typeface="Cambria Math" panose="02040503050406030204" pitchFamily="18" charset="0"/>
                          </a:rPr>
                          <m:t>𝑁</m:t>
                        </m:r>
                      </m:e>
                    </m:d>
                  </m:oMath>
                </a14:m>
                <a:r>
                  <a:rPr lang="en-US" altLang="zh-TW" sz="1800" i="1" dirty="0">
                    <a:latin typeface="Cambria Math" panose="02040503050406030204" pitchFamily="18" charset="0"/>
                  </a:rPr>
                  <a:t> </a:t>
                </a:r>
                <a:r>
                  <a:rPr lang="en-US" altLang="zh-TW" dirty="0"/>
                  <a:t>complexity for extremely long sequences using dilated attention. Inspired by Mamba, Vim is proposed as a pure-SSM generic vision backbone that achieves linear complexity without attention.</a:t>
                </a:r>
                <a:endParaRPr lang="en-US" altLang="zh-TW" sz="2200" b="1" dirty="0"/>
              </a:p>
              <a:p>
                <a:pPr marL="457200" indent="-457200">
                  <a:buFont typeface="+mj-lt"/>
                  <a:buAutoNum type="alphaUcPeriod" startAt="2"/>
                </a:pPr>
                <a:r>
                  <a:rPr lang="en-US" altLang="zh-TW" sz="2200" b="1" dirty="0"/>
                  <a:t>State space models for visual applications.					</a:t>
                </a:r>
                <a:r>
                  <a:rPr lang="zh-TW" altLang="en-US" sz="2200" b="1" dirty="0"/>
                  <a:t>             </a:t>
                </a:r>
                <a:r>
                  <a:rPr lang="en-US" altLang="zh-TW" b="1" dirty="0"/>
                  <a:t>Vison Mamba</a:t>
                </a:r>
                <a:r>
                  <a:rPr lang="en-US" altLang="zh-TW" dirty="0"/>
                  <a:t> is a </a:t>
                </a:r>
                <a:r>
                  <a:rPr lang="en-US" altLang="zh-TW" b="1" dirty="0"/>
                  <a:t>pure-SSM generic backbone</a:t>
                </a:r>
                <a:r>
                  <a:rPr lang="en-US" altLang="zh-TW" dirty="0"/>
                  <a:t> that achieves </a:t>
                </a:r>
                <a:r>
                  <a:rPr lang="en-US" altLang="zh-TW" b="1" dirty="0"/>
                  <a:t>unified multi-modality representation</a:t>
                </a:r>
                <a:r>
                  <a:rPr lang="en-US" altLang="zh-TW" dirty="0"/>
                  <a:t> through </a:t>
                </a:r>
                <a:r>
                  <a:rPr lang="en-US" altLang="zh-TW" b="1" dirty="0"/>
                  <a:t>direct visual sequence learning</a:t>
                </a:r>
                <a:r>
                  <a:rPr lang="en-US" altLang="zh-TW" dirty="0"/>
                  <a:t>, offering a simpler and more efficient alternative to hierarchical designs like </a:t>
                </a:r>
                <a:r>
                  <a:rPr lang="en-US" altLang="zh-TW" dirty="0" err="1"/>
                  <a:t>Vmamba</a:t>
                </a:r>
                <a:r>
                  <a:rPr lang="en-US" altLang="zh-TW" dirty="0"/>
                  <a:t>[41] while remaining natively compatible with large-scale sequence modeling.</a:t>
                </a:r>
                <a:endParaRPr lang="en-US" altLang="zh-TW" sz="2200" b="1" dirty="0"/>
              </a:p>
            </p:txBody>
          </p:sp>
        </mc:Choice>
        <mc:Fallback xmlns="">
          <p:sp>
            <p:nvSpPr>
              <p:cNvPr id="4" name="內容版面配置區 3">
                <a:extLst>
                  <a:ext uri="{FF2B5EF4-FFF2-40B4-BE49-F238E27FC236}">
                    <a16:creationId xmlns:a16="http://schemas.microsoft.com/office/drawing/2014/main" id="{38BD66B8-D3CB-94D2-60EE-4F229AEC084D}"/>
                  </a:ext>
                </a:extLst>
              </p:cNvPr>
              <p:cNvSpPr>
                <a:spLocks noGrp="1" noRot="1" noChangeAspect="1" noMove="1" noResize="1" noEditPoints="1" noAdjustHandles="1" noChangeArrowheads="1" noChangeShapeType="1" noTextEdit="1"/>
              </p:cNvSpPr>
              <p:nvPr>
                <p:ph sz="quarter" idx="13"/>
              </p:nvPr>
            </p:nvSpPr>
            <p:spPr>
              <a:xfrm>
                <a:off x="838200" y="1298575"/>
                <a:ext cx="9753600" cy="4905375"/>
              </a:xfrm>
              <a:blipFill>
                <a:blip r:embed="rId3"/>
                <a:stretch>
                  <a:fillRect l="-688" t="-870" r="-625"/>
                </a:stretch>
              </a:blipFill>
            </p:spPr>
            <p:txBody>
              <a:bodyPr/>
              <a:lstStyle/>
              <a:p>
                <a:r>
                  <a:rPr lang="zh-TW" altLang="en-US">
                    <a:noFill/>
                  </a:rPr>
                  <a:t> </a:t>
                </a:r>
              </a:p>
            </p:txBody>
          </p:sp>
        </mc:Fallback>
      </mc:AlternateContent>
      <p:sp>
        <p:nvSpPr>
          <p:cNvPr id="5" name="內容版面配置區 4">
            <a:extLst>
              <a:ext uri="{FF2B5EF4-FFF2-40B4-BE49-F238E27FC236}">
                <a16:creationId xmlns:a16="http://schemas.microsoft.com/office/drawing/2014/main" id="{1B163A27-91EE-C736-0AC8-199B5E31C16B}"/>
              </a:ext>
            </a:extLst>
          </p:cNvPr>
          <p:cNvSpPr>
            <a:spLocks noGrp="1"/>
          </p:cNvSpPr>
          <p:nvPr>
            <p:ph sz="quarter" idx="14"/>
          </p:nvPr>
        </p:nvSpPr>
        <p:spPr/>
        <p:txBody>
          <a:bodyPr/>
          <a:lstStyle/>
          <a:p>
            <a:r>
              <a:rPr lang="en-US" altLang="zh-TW" dirty="0"/>
              <a:t>[48] Sun, Y., Dong, L., Huang, S., Ma, S., Xia, Y., Xue, J., Wang, J., and Wei, F. Retentive network: A successor to transformer for large language </a:t>
            </a:r>
            <a:r>
              <a:rPr lang="en-US" altLang="zh-TW" dirty="0" err="1"/>
              <a:t>modelss</a:t>
            </a:r>
            <a:r>
              <a:rPr lang="en-US" altLang="zh-TW" dirty="0"/>
              <a:t>. </a:t>
            </a:r>
            <a:r>
              <a:rPr lang="en-US" altLang="zh-TW" dirty="0" err="1"/>
              <a:t>arXiv</a:t>
            </a:r>
            <a:r>
              <a:rPr lang="en-US" altLang="zh-TW" dirty="0"/>
              <a:t> preprint arXiv:2307.08621, 2023.</a:t>
            </a:r>
          </a:p>
          <a:p>
            <a:r>
              <a:rPr lang="en-US" altLang="zh-TW" dirty="0"/>
              <a:t>[41] Liu, Y., Tian, Y., Zhao, Y., Yu, H., Xie, L., Wang, Y., Ye, Q., and Liu, Y. </a:t>
            </a:r>
            <a:r>
              <a:rPr lang="en-US" altLang="zh-TW" dirty="0" err="1"/>
              <a:t>Vmamba</a:t>
            </a:r>
            <a:r>
              <a:rPr lang="en-US" altLang="zh-TW" dirty="0"/>
              <a:t>: Visual state space model. </a:t>
            </a:r>
            <a:r>
              <a:rPr lang="en-US" altLang="zh-TW" dirty="0" err="1"/>
              <a:t>arXiv</a:t>
            </a:r>
            <a:r>
              <a:rPr lang="en-US" altLang="zh-TW" dirty="0"/>
              <a:t> preprint arXiv:2401.10166, 2024.</a:t>
            </a:r>
            <a:endParaRPr lang="zh-TW" altLang="en-US" dirty="0"/>
          </a:p>
        </p:txBody>
      </p:sp>
    </p:spTree>
    <p:extLst>
      <p:ext uri="{BB962C8B-B14F-4D97-AF65-F5344CB8AC3E}">
        <p14:creationId xmlns:p14="http://schemas.microsoft.com/office/powerpoint/2010/main" val="144010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FAE11-FC9A-96A3-1532-1B29E43813F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43D8760-EC2F-639A-912B-A0FD30F055BE}"/>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59555235-C38C-5DD8-328E-A8474BA5076D}"/>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4CAD4E0C-567D-0D84-09C2-4F12DF5DA248}"/>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b="1"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2725AD38-72A2-6375-A396-D7F0BA8D8B39}"/>
              </a:ext>
            </a:extLst>
          </p:cNvPr>
          <p:cNvSpPr>
            <a:spLocks noGrp="1"/>
          </p:cNvSpPr>
          <p:nvPr>
            <p:ph type="sldNum" sz="quarter" idx="12"/>
          </p:nvPr>
        </p:nvSpPr>
        <p:spPr/>
        <p:txBody>
          <a:bodyPr/>
          <a:lstStyle/>
          <a:p>
            <a:fld id="{3E97B41F-AD73-4999-8C34-7D0FF5EF3CF5}" type="slidenum">
              <a:rPr lang="zh-TW" altLang="en-US" smtClean="0"/>
              <a:t>9</a:t>
            </a:fld>
            <a:endParaRPr lang="zh-TW" altLang="en-US"/>
          </a:p>
        </p:txBody>
      </p:sp>
    </p:spTree>
    <p:extLst>
      <p:ext uri="{BB962C8B-B14F-4D97-AF65-F5344CB8AC3E}">
        <p14:creationId xmlns:p14="http://schemas.microsoft.com/office/powerpoint/2010/main" val="1783409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2C198-15A6-E5F4-95EA-CFF7BA48953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4423F21-DAE0-8604-787C-9127A787BC92}"/>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117853F1-52E2-CED6-ECA2-95C74528B455}"/>
              </a:ext>
            </a:extLst>
          </p:cNvPr>
          <p:cNvSpPr>
            <a:spLocks noGrp="1"/>
          </p:cNvSpPr>
          <p:nvPr>
            <p:ph type="sldNum" sz="quarter" idx="12"/>
          </p:nvPr>
        </p:nvSpPr>
        <p:spPr/>
        <p:txBody>
          <a:bodyPr/>
          <a:lstStyle/>
          <a:p>
            <a:fld id="{3E97B41F-AD73-4999-8C34-7D0FF5EF3CF5}" type="slidenum">
              <a:rPr lang="zh-TW" altLang="en-US" smtClean="0"/>
              <a:t>10</a:t>
            </a:fld>
            <a:endParaRPr lang="zh-TW" altLang="en-US"/>
          </a:p>
        </p:txBody>
      </p:sp>
      <p:sp>
        <p:nvSpPr>
          <p:cNvPr id="4" name="內容版面配置區 3">
            <a:extLst>
              <a:ext uri="{FF2B5EF4-FFF2-40B4-BE49-F238E27FC236}">
                <a16:creationId xmlns:a16="http://schemas.microsoft.com/office/drawing/2014/main" id="{813E5D85-E5DE-2CE3-71DB-2C154537BF62}"/>
              </a:ext>
            </a:extLst>
          </p:cNvPr>
          <p:cNvSpPr>
            <a:spLocks noGrp="1"/>
          </p:cNvSpPr>
          <p:nvPr>
            <p:ph sz="quarter" idx="13"/>
          </p:nvPr>
        </p:nvSpPr>
        <p:spPr>
          <a:xfrm>
            <a:off x="838199" y="1298575"/>
            <a:ext cx="9850419" cy="4905375"/>
          </a:xfrm>
        </p:spPr>
        <p:txBody>
          <a:bodyPr>
            <a:normAutofit/>
          </a:bodyPr>
          <a:lstStyle/>
          <a:p>
            <a:pPr marL="457200" indent="-457200">
              <a:buFont typeface="+mj-lt"/>
              <a:buAutoNum type="alphaUcPeriod"/>
            </a:pPr>
            <a:r>
              <a:rPr lang="en-US" altLang="zh-TW" sz="2200" b="1" dirty="0"/>
              <a:t>Vision Mamba										        </a:t>
            </a:r>
          </a:p>
          <a:p>
            <a:pPr marL="0" indent="0">
              <a:buNone/>
            </a:pPr>
            <a:r>
              <a:rPr lang="en-US" altLang="zh-TW" sz="1800" dirty="0"/>
              <a:t>An overview of the proposed Vim is shown in Fig. 1, since the standard Mamba is designed for 1-D sequences, Vim processes 2-D vision tasks by first transform the image into flattened patches and linearly projecting them into 1-D feature tokens. </a:t>
            </a:r>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altLang="zh-TW" sz="1800" dirty="0"/>
          </a:p>
          <a:p>
            <a:pPr marL="0" indent="0">
              <a:buNone/>
            </a:pPr>
            <a:r>
              <a:rPr lang="en-US" altLang="zh-TW" sz="1800" dirty="0"/>
              <a:t>To preserve the original spatial structure, </a:t>
            </a:r>
            <a:r>
              <a:rPr lang="en-US" altLang="zh-TW" sz="1800" b="1" dirty="0"/>
              <a:t>positional embeddings </a:t>
            </a:r>
            <a:r>
              <a:rPr lang="en-US" altLang="zh-TW" sz="1800" dirty="0"/>
              <a:t>are added to these tokens, and a Class Token is inserted into the middle of the sequence to bidirectional global information. </a:t>
            </a:r>
          </a:p>
          <a:p>
            <a:pPr marL="457200" indent="-457200">
              <a:buFont typeface="+mj-lt"/>
              <a:buAutoNum type="alphaUcPeriod" startAt="2"/>
            </a:pPr>
            <a:endParaRPr lang="en-US" sz="2200" b="1" dirty="0"/>
          </a:p>
        </p:txBody>
      </p:sp>
      <p:sp>
        <p:nvSpPr>
          <p:cNvPr id="9" name="內容版面配置區 8">
            <a:extLst>
              <a:ext uri="{FF2B5EF4-FFF2-40B4-BE49-F238E27FC236}">
                <a16:creationId xmlns:a16="http://schemas.microsoft.com/office/drawing/2014/main" id="{D6E0308E-72E1-DDEE-BBED-601DAB3F0F03}"/>
              </a:ext>
            </a:extLst>
          </p:cNvPr>
          <p:cNvSpPr>
            <a:spLocks noGrp="1"/>
          </p:cNvSpPr>
          <p:nvPr>
            <p:ph sz="quarter" idx="14"/>
          </p:nvPr>
        </p:nvSpPr>
        <p:spPr/>
        <p:txBody>
          <a:bodyPr/>
          <a:lstStyle/>
          <a:p>
            <a:endParaRPr lang="zh-TW" altLang="en-US" dirty="0"/>
          </a:p>
        </p:txBody>
      </p:sp>
      <p:pic>
        <p:nvPicPr>
          <p:cNvPr id="6" name="圖片 5">
            <a:extLst>
              <a:ext uri="{FF2B5EF4-FFF2-40B4-BE49-F238E27FC236}">
                <a16:creationId xmlns:a16="http://schemas.microsoft.com/office/drawing/2014/main" id="{A39A200D-D63E-0BDA-D04C-86862A0E98B2}"/>
              </a:ext>
            </a:extLst>
          </p:cNvPr>
          <p:cNvPicPr>
            <a:picLocks noChangeAspect="1"/>
          </p:cNvPicPr>
          <p:nvPr/>
        </p:nvPicPr>
        <p:blipFill>
          <a:blip r:embed="rId3"/>
          <a:srcRect l="-1" r="264"/>
          <a:stretch>
            <a:fillRect/>
          </a:stretch>
        </p:blipFill>
        <p:spPr>
          <a:xfrm>
            <a:off x="2440641" y="2923068"/>
            <a:ext cx="7310717" cy="1927214"/>
          </a:xfrm>
          <a:prstGeom prst="rect">
            <a:avLst/>
          </a:prstGeom>
        </p:spPr>
      </p:pic>
      <p:sp>
        <p:nvSpPr>
          <p:cNvPr id="7" name="文字方塊 6">
            <a:extLst>
              <a:ext uri="{FF2B5EF4-FFF2-40B4-BE49-F238E27FC236}">
                <a16:creationId xmlns:a16="http://schemas.microsoft.com/office/drawing/2014/main" id="{1C4E6D16-C990-BD9C-CDD9-A03C5B9F58C3}"/>
              </a:ext>
            </a:extLst>
          </p:cNvPr>
          <p:cNvSpPr txBox="1"/>
          <p:nvPr/>
        </p:nvSpPr>
        <p:spPr>
          <a:xfrm>
            <a:off x="2886801" y="5002685"/>
            <a:ext cx="6418396" cy="307777"/>
          </a:xfrm>
          <a:prstGeom prst="rect">
            <a:avLst/>
          </a:prstGeom>
          <a:noFill/>
        </p:spPr>
        <p:txBody>
          <a:bodyPr wrap="square">
            <a:spAutoFit/>
          </a:bodyPr>
          <a:lstStyle/>
          <a:p>
            <a:pPr algn="ctr"/>
            <a:r>
              <a:rPr lang="en-US" sz="1400" dirty="0"/>
              <a:t>Figure 1. </a:t>
            </a:r>
            <a:r>
              <a:rPr lang="en-US" altLang="zh-TW" sz="1400" dirty="0"/>
              <a:t>The overview of the proposed Vim model</a:t>
            </a:r>
            <a:endParaRPr lang="zh-TW" altLang="en-US" sz="1400" dirty="0"/>
          </a:p>
        </p:txBody>
      </p:sp>
    </p:spTree>
    <p:extLst>
      <p:ext uri="{BB962C8B-B14F-4D97-AF65-F5344CB8AC3E}">
        <p14:creationId xmlns:p14="http://schemas.microsoft.com/office/powerpoint/2010/main" val="2893642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9A0C9-62F2-0D8C-0211-196501C5E5D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DAEA26A-D73F-D969-925A-7E75F96A47B6}"/>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934FD064-1340-3509-C2DC-E2335D05D356}"/>
              </a:ext>
            </a:extLst>
          </p:cNvPr>
          <p:cNvSpPr>
            <a:spLocks noGrp="1"/>
          </p:cNvSpPr>
          <p:nvPr>
            <p:ph type="sldNum" sz="quarter" idx="12"/>
          </p:nvPr>
        </p:nvSpPr>
        <p:spPr/>
        <p:txBody>
          <a:bodyPr/>
          <a:lstStyle/>
          <a:p>
            <a:fld id="{3E97B41F-AD73-4999-8C34-7D0FF5EF3CF5}" type="slidenum">
              <a:rPr lang="zh-TW" altLang="en-US" smtClean="0"/>
              <a:t>11</a:t>
            </a:fld>
            <a:endParaRPr lang="zh-TW" altLang="en-US"/>
          </a:p>
        </p:txBody>
      </p:sp>
      <p:sp>
        <p:nvSpPr>
          <p:cNvPr id="4" name="內容版面配置區 3">
            <a:extLst>
              <a:ext uri="{FF2B5EF4-FFF2-40B4-BE49-F238E27FC236}">
                <a16:creationId xmlns:a16="http://schemas.microsoft.com/office/drawing/2014/main" id="{63647494-57A2-7FE3-267E-BFFD6D00F1CE}"/>
              </a:ext>
            </a:extLst>
          </p:cNvPr>
          <p:cNvSpPr>
            <a:spLocks noGrp="1"/>
          </p:cNvSpPr>
          <p:nvPr>
            <p:ph sz="quarter" idx="13"/>
          </p:nvPr>
        </p:nvSpPr>
        <p:spPr/>
        <p:txBody>
          <a:bodyPr>
            <a:normAutofit/>
          </a:bodyPr>
          <a:lstStyle/>
          <a:p>
            <a:pPr marL="457200" indent="-457200">
              <a:buFont typeface="+mj-lt"/>
              <a:buAutoNum type="alphaUcPeriod"/>
            </a:pPr>
            <a:r>
              <a:rPr lang="en-US" altLang="zh-TW" sz="2200" b="1" dirty="0"/>
              <a:t>Vision Mamba &amp; Vision Transformer</a:t>
            </a:r>
            <a:endParaRPr lang="en-US" sz="2200" b="1" dirty="0"/>
          </a:p>
        </p:txBody>
      </p:sp>
      <p:sp>
        <p:nvSpPr>
          <p:cNvPr id="9" name="內容版面配置區 8">
            <a:extLst>
              <a:ext uri="{FF2B5EF4-FFF2-40B4-BE49-F238E27FC236}">
                <a16:creationId xmlns:a16="http://schemas.microsoft.com/office/drawing/2014/main" id="{51366F5E-47C4-4929-7AA4-67C511D11259}"/>
              </a:ext>
            </a:extLst>
          </p:cNvPr>
          <p:cNvSpPr>
            <a:spLocks noGrp="1"/>
          </p:cNvSpPr>
          <p:nvPr>
            <p:ph sz="quarter" idx="14"/>
          </p:nvPr>
        </p:nvSpPr>
        <p:spPr/>
        <p:txBody>
          <a:bodyPr/>
          <a:lstStyle/>
          <a:p>
            <a:r>
              <a:rPr lang="en-US" altLang="zh-TW" dirty="0"/>
              <a:t>[14] </a:t>
            </a:r>
            <a:r>
              <a:rPr lang="en-US" altLang="zh-TW" dirty="0" err="1"/>
              <a:t>Dosovitskiy</a:t>
            </a:r>
            <a:r>
              <a:rPr lang="en-US" altLang="zh-TW" dirty="0"/>
              <a:t>, A., Beyer, L., Kolesnikov, A., Weissenborn, D., Zhai, X., </a:t>
            </a:r>
            <a:r>
              <a:rPr lang="en-US" altLang="zh-TW" dirty="0" err="1"/>
              <a:t>Unterthiner</a:t>
            </a:r>
            <a:r>
              <a:rPr lang="en-US" altLang="zh-TW" dirty="0"/>
              <a:t>, T., Dehghani, M., </a:t>
            </a:r>
            <a:r>
              <a:rPr lang="en-US" altLang="zh-TW" dirty="0" err="1"/>
              <a:t>Minderer</a:t>
            </a:r>
            <a:r>
              <a:rPr lang="en-US" altLang="zh-TW" dirty="0"/>
              <a:t>, M., </a:t>
            </a:r>
            <a:r>
              <a:rPr lang="en-US" altLang="zh-TW" dirty="0" err="1"/>
              <a:t>Heigold</a:t>
            </a:r>
            <a:r>
              <a:rPr lang="en-US" altLang="zh-TW" dirty="0"/>
              <a:t>, G., Gelly, S., et al. An image is worth 16x16 words: Transformers for image recognition at scale. In ICLR, 2020.</a:t>
            </a:r>
            <a:endParaRPr lang="zh-TW" altLang="en-US" dirty="0"/>
          </a:p>
        </p:txBody>
      </p:sp>
      <p:pic>
        <p:nvPicPr>
          <p:cNvPr id="6" name="圖片 5">
            <a:extLst>
              <a:ext uri="{FF2B5EF4-FFF2-40B4-BE49-F238E27FC236}">
                <a16:creationId xmlns:a16="http://schemas.microsoft.com/office/drawing/2014/main" id="{9B987C8F-89D6-E1C8-3842-14A87FA122DC}"/>
              </a:ext>
            </a:extLst>
          </p:cNvPr>
          <p:cNvPicPr>
            <a:picLocks noChangeAspect="1"/>
          </p:cNvPicPr>
          <p:nvPr/>
        </p:nvPicPr>
        <p:blipFill>
          <a:blip r:embed="rId3"/>
          <a:srcRect l="-1" r="62461"/>
          <a:stretch>
            <a:fillRect/>
          </a:stretch>
        </p:blipFill>
        <p:spPr>
          <a:xfrm>
            <a:off x="774494" y="2021145"/>
            <a:ext cx="4940506" cy="3460233"/>
          </a:xfrm>
          <a:prstGeom prst="rect">
            <a:avLst/>
          </a:prstGeom>
        </p:spPr>
      </p:pic>
      <p:pic>
        <p:nvPicPr>
          <p:cNvPr id="11" name="圖片 10">
            <a:extLst>
              <a:ext uri="{FF2B5EF4-FFF2-40B4-BE49-F238E27FC236}">
                <a16:creationId xmlns:a16="http://schemas.microsoft.com/office/drawing/2014/main" id="{FA30602C-F419-5170-EB79-AF2762DEA525}"/>
              </a:ext>
            </a:extLst>
          </p:cNvPr>
          <p:cNvPicPr>
            <a:picLocks noChangeAspect="1"/>
          </p:cNvPicPr>
          <p:nvPr/>
        </p:nvPicPr>
        <p:blipFill>
          <a:blip r:embed="rId4"/>
          <a:srcRect t="8120"/>
          <a:stretch>
            <a:fillRect/>
          </a:stretch>
        </p:blipFill>
        <p:spPr>
          <a:xfrm>
            <a:off x="6182062" y="2060973"/>
            <a:ext cx="4685387" cy="3179241"/>
          </a:xfrm>
          <a:prstGeom prst="rect">
            <a:avLst/>
          </a:prstGeom>
        </p:spPr>
      </p:pic>
      <p:sp>
        <p:nvSpPr>
          <p:cNvPr id="13" name="文字方塊 12">
            <a:extLst>
              <a:ext uri="{FF2B5EF4-FFF2-40B4-BE49-F238E27FC236}">
                <a16:creationId xmlns:a16="http://schemas.microsoft.com/office/drawing/2014/main" id="{FC3FD21B-3DA9-8185-CDE7-0FA7A4D1BEFC}"/>
              </a:ext>
            </a:extLst>
          </p:cNvPr>
          <p:cNvSpPr txBox="1"/>
          <p:nvPr/>
        </p:nvSpPr>
        <p:spPr>
          <a:xfrm>
            <a:off x="7034915" y="5165812"/>
            <a:ext cx="3618509" cy="369332"/>
          </a:xfrm>
          <a:prstGeom prst="rect">
            <a:avLst/>
          </a:prstGeom>
          <a:noFill/>
        </p:spPr>
        <p:txBody>
          <a:bodyPr wrap="square">
            <a:spAutoFit/>
          </a:bodyPr>
          <a:lstStyle/>
          <a:p>
            <a:pPr algn="ctr"/>
            <a:r>
              <a:rPr lang="en-US" altLang="zh-TW" b="1" dirty="0"/>
              <a:t>Vision Transformer (</a:t>
            </a:r>
            <a:r>
              <a:rPr lang="en-US" altLang="zh-TW" b="1" dirty="0" err="1"/>
              <a:t>ViT</a:t>
            </a:r>
            <a:r>
              <a:rPr lang="en-US" altLang="zh-TW" b="1" dirty="0"/>
              <a:t>) [14]</a:t>
            </a:r>
            <a:endParaRPr lang="zh-TW" altLang="en-US" b="1" dirty="0"/>
          </a:p>
        </p:txBody>
      </p:sp>
    </p:spTree>
    <p:extLst>
      <p:ext uri="{BB962C8B-B14F-4D97-AF65-F5344CB8AC3E}">
        <p14:creationId xmlns:p14="http://schemas.microsoft.com/office/powerpoint/2010/main" val="1734028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43961-D8BF-7B7E-9F50-798E7F9A914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6A1A36D-C30D-42B0-F6E7-98E5B70EFA40}"/>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2AD3E26D-C372-3FAB-D2E6-864897959BF6}"/>
              </a:ext>
            </a:extLst>
          </p:cNvPr>
          <p:cNvSpPr>
            <a:spLocks noGrp="1"/>
          </p:cNvSpPr>
          <p:nvPr>
            <p:ph type="sldNum" sz="quarter" idx="12"/>
          </p:nvPr>
        </p:nvSpPr>
        <p:spPr/>
        <p:txBody>
          <a:bodyPr/>
          <a:lstStyle/>
          <a:p>
            <a:fld id="{3E97B41F-AD73-4999-8C34-7D0FF5EF3CF5}" type="slidenum">
              <a:rPr lang="zh-TW" altLang="en-US" smtClean="0"/>
              <a:t>12</a:t>
            </a:fld>
            <a:endParaRPr lang="zh-TW" altLang="en-US"/>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B3823EA1-7148-183E-A4CA-447E2DD00E0C}"/>
                  </a:ext>
                </a:extLst>
              </p:cNvPr>
              <p:cNvSpPr>
                <a:spLocks noGrp="1"/>
              </p:cNvSpPr>
              <p:nvPr>
                <p:ph sz="quarter" idx="13"/>
              </p:nvPr>
            </p:nvSpPr>
            <p:spPr>
              <a:xfrm>
                <a:off x="838200" y="1298575"/>
                <a:ext cx="9940962" cy="4905375"/>
              </a:xfrm>
            </p:spPr>
            <p:txBody>
              <a:bodyPr>
                <a:normAutofit/>
              </a:bodyPr>
              <a:lstStyle/>
              <a:p>
                <a:pPr marL="457200" indent="-457200">
                  <a:buFont typeface="+mj-lt"/>
                  <a:buAutoNum type="alphaUcPeriod" startAt="2"/>
                </a:pPr>
                <a:r>
                  <a:rPr lang="en-US" altLang="zh-TW" sz="2200" b="1" dirty="0"/>
                  <a:t>Preliminaries</a:t>
                </a:r>
              </a:p>
              <a:p>
                <a:pPr marL="0" indent="0">
                  <a:buNone/>
                </a:pPr>
                <a:r>
                  <a:rPr lang="en-US" altLang="zh-TW" sz="1800" dirty="0"/>
                  <a:t>State Space Model (SSM) processes sequences through a recurrent formulation, avoiding the </a:t>
                </a:r>
                <a14:m>
                  <m:oMath xmlns:m="http://schemas.openxmlformats.org/officeDocument/2006/math">
                    <m:r>
                      <a:rPr lang="en-US" altLang="zh-TW" sz="1800" i="1" dirty="0" smtClean="0">
                        <a:latin typeface="Cambria Math" panose="02040503050406030204" pitchFamily="18" charset="0"/>
                      </a:rPr>
                      <m:t>𝑂</m:t>
                    </m:r>
                    <m:d>
                      <m:dPr>
                        <m:ctrlPr>
                          <a:rPr lang="en-US" altLang="zh-TW" sz="1800" i="1" dirty="0" smtClean="0">
                            <a:latin typeface="Cambria Math" panose="02040503050406030204" pitchFamily="18" charset="0"/>
                          </a:rPr>
                        </m:ctrlPr>
                      </m:dPr>
                      <m:e>
                        <m:sSup>
                          <m:sSupPr>
                            <m:ctrlPr>
                              <a:rPr lang="en-US" altLang="zh-TW" sz="1800" i="1" dirty="0" smtClean="0">
                                <a:latin typeface="Cambria Math" panose="02040503050406030204" pitchFamily="18" charset="0"/>
                              </a:rPr>
                            </m:ctrlPr>
                          </m:sSupPr>
                          <m:e>
                            <m:r>
                              <a:rPr lang="en-US" altLang="zh-TW" sz="1800" i="1" dirty="0" smtClean="0">
                                <a:latin typeface="Cambria Math" panose="02040503050406030204" pitchFamily="18" charset="0"/>
                              </a:rPr>
                              <m:t>𝑁</m:t>
                            </m:r>
                          </m:e>
                          <m:sup>
                            <m:r>
                              <a:rPr lang="en-US" altLang="zh-TW" sz="1800" i="1" dirty="0" smtClean="0">
                                <a:latin typeface="Cambria Math" panose="02040503050406030204" pitchFamily="18" charset="0"/>
                              </a:rPr>
                              <m:t>2</m:t>
                            </m:r>
                          </m:sup>
                        </m:sSup>
                      </m:e>
                    </m:d>
                  </m:oMath>
                </a14:m>
                <a:r>
                  <a:rPr lang="en-US" altLang="zh-TW" sz="1800" dirty="0"/>
                  <a:t> complexity of self-attention. This step-by-step recursive nature enables linear </a:t>
                </a:r>
                <a14:m>
                  <m:oMath xmlns:m="http://schemas.openxmlformats.org/officeDocument/2006/math">
                    <m:r>
                      <a:rPr lang="en-US" altLang="zh-TW" sz="1800" i="1" dirty="0">
                        <a:latin typeface="Cambria Math" panose="02040503050406030204" pitchFamily="18" charset="0"/>
                      </a:rPr>
                      <m:t>𝑂</m:t>
                    </m:r>
                    <m:r>
                      <a:rPr lang="en-US" altLang="zh-TW" sz="1800" i="1" dirty="0" smtClean="0">
                        <a:latin typeface="Cambria Math" panose="02040503050406030204" pitchFamily="18" charset="0"/>
                      </a:rPr>
                      <m:t>(</m:t>
                    </m:r>
                    <m:r>
                      <a:rPr lang="en-US" altLang="zh-TW" sz="1800" i="1" dirty="0" smtClean="0">
                        <a:latin typeface="Cambria Math" panose="02040503050406030204" pitchFamily="18" charset="0"/>
                      </a:rPr>
                      <m:t>𝑁</m:t>
                    </m:r>
                    <m:r>
                      <a:rPr lang="en-US" altLang="zh-TW" sz="1800" i="1" dirty="0">
                        <a:latin typeface="Cambria Math" panose="02040503050406030204" pitchFamily="18" charset="0"/>
                      </a:rPr>
                      <m:t>) </m:t>
                    </m:r>
                  </m:oMath>
                </a14:m>
                <a:r>
                  <a:rPr lang="en-US" altLang="zh-TW" sz="1800" dirty="0"/>
                  <a:t>scaling for long visual sequences. The equation is define as follow:</a:t>
                </a:r>
              </a:p>
            </p:txBody>
          </p:sp>
        </mc:Choice>
        <mc:Fallback xmlns="">
          <p:sp>
            <p:nvSpPr>
              <p:cNvPr id="4" name="內容版面配置區 3">
                <a:extLst>
                  <a:ext uri="{FF2B5EF4-FFF2-40B4-BE49-F238E27FC236}">
                    <a16:creationId xmlns:a16="http://schemas.microsoft.com/office/drawing/2014/main" id="{B3823EA1-7148-183E-A4CA-447E2DD00E0C}"/>
                  </a:ext>
                </a:extLst>
              </p:cNvPr>
              <p:cNvSpPr>
                <a:spLocks noGrp="1" noRot="1" noChangeAspect="1" noMove="1" noResize="1" noEditPoints="1" noAdjustHandles="1" noChangeArrowheads="1" noChangeShapeType="1" noTextEdit="1"/>
              </p:cNvSpPr>
              <p:nvPr>
                <p:ph sz="quarter" idx="13"/>
              </p:nvPr>
            </p:nvSpPr>
            <p:spPr>
              <a:xfrm>
                <a:off x="838200" y="1298575"/>
                <a:ext cx="9940962" cy="4905375"/>
              </a:xfrm>
              <a:blipFill>
                <a:blip r:embed="rId3"/>
                <a:stretch>
                  <a:fillRect l="-675" t="-870" r="-552"/>
                </a:stretch>
              </a:blipFill>
            </p:spPr>
            <p:txBody>
              <a:bodyPr/>
              <a:lstStyle/>
              <a:p>
                <a:r>
                  <a:rPr lang="zh-TW" altLang="en-US">
                    <a:noFill/>
                  </a:rPr>
                  <a:t> </a:t>
                </a:r>
              </a:p>
            </p:txBody>
          </p:sp>
        </mc:Fallback>
      </mc:AlternateContent>
      <p:pic>
        <p:nvPicPr>
          <p:cNvPr id="14" name="內容版面配置區 13">
            <a:extLst>
              <a:ext uri="{FF2B5EF4-FFF2-40B4-BE49-F238E27FC236}">
                <a16:creationId xmlns:a16="http://schemas.microsoft.com/office/drawing/2014/main" id="{24A54DEB-9AEA-4522-7681-E34199AE8BA3}"/>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rcRect t="50307"/>
          <a:stretch>
            <a:fillRect/>
          </a:stretch>
        </p:blipFill>
        <p:spPr>
          <a:xfrm>
            <a:off x="5351638" y="2724961"/>
            <a:ext cx="6580723" cy="2834464"/>
          </a:xfrm>
          <a:prstGeom prst="rect">
            <a:avLst/>
          </a:prstGeom>
        </p:spPr>
      </p:pic>
      <p:grpSp>
        <p:nvGrpSpPr>
          <p:cNvPr id="12" name="群組 11">
            <a:extLst>
              <a:ext uri="{FF2B5EF4-FFF2-40B4-BE49-F238E27FC236}">
                <a16:creationId xmlns:a16="http://schemas.microsoft.com/office/drawing/2014/main" id="{7362DDEF-3DA5-F28C-5BE7-8F31D2B33227}"/>
              </a:ext>
            </a:extLst>
          </p:cNvPr>
          <p:cNvGrpSpPr/>
          <p:nvPr/>
        </p:nvGrpSpPr>
        <p:grpSpPr>
          <a:xfrm>
            <a:off x="1531637" y="3919801"/>
            <a:ext cx="3126564" cy="662425"/>
            <a:chOff x="838200" y="3251678"/>
            <a:chExt cx="3046207" cy="662425"/>
          </a:xfrm>
        </p:grpSpPr>
        <mc:AlternateContent xmlns:mc="http://schemas.openxmlformats.org/markup-compatibility/2006" xmlns:a14="http://schemas.microsoft.com/office/drawing/2010/main">
          <mc:Choice Requires="a14">
            <p:sp>
              <p:nvSpPr>
                <p:cNvPr id="7" name="Rectangle 1">
                  <a:extLst>
                    <a:ext uri="{FF2B5EF4-FFF2-40B4-BE49-F238E27FC236}">
                      <a16:creationId xmlns:a16="http://schemas.microsoft.com/office/drawing/2014/main" id="{D0695B3E-1584-E736-064E-FB5FEA16ED40}"/>
                    </a:ext>
                  </a:extLst>
                </p:cNvPr>
                <p:cNvSpPr>
                  <a:spLocks noChangeArrowheads="1"/>
                </p:cNvSpPr>
                <p:nvPr/>
              </p:nvSpPr>
              <p:spPr bwMode="auto">
                <a:xfrm>
                  <a:off x="838200" y="3251678"/>
                  <a:ext cx="2796092" cy="6624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left"/>
                      </m:oMathParaPr>
                      <m:oMath xmlns:m="http://schemas.openxmlformats.org/officeDocument/2006/math">
                        <m:sSub>
                          <m:sSubPr>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sSub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h</m:t>
                            </m:r>
                          </m:e>
                          <m: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𝑡</m:t>
                            </m:r>
                          </m:sub>
                        </m:s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m:t>
                        </m:r>
                        <m:acc>
                          <m:accPr>
                            <m:chr m:val="̅"/>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acc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𝐴</m:t>
                            </m:r>
                          </m:e>
                        </m:acc>
                        <m:sSub>
                          <m:sSubPr>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sSub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h</m:t>
                            </m:r>
                          </m:e>
                          <m: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𝑡</m:t>
                            </m:r>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−1</m:t>
                            </m:r>
                          </m:sub>
                        </m:s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m:t>
                        </m:r>
                        <m:acc>
                          <m:accPr>
                            <m:chr m:val="̅"/>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acc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𝐵</m:t>
                            </m:r>
                          </m:e>
                        </m:acc>
                        <m:sSub>
                          <m:sSubPr>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sSub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𝑥</m:t>
                            </m:r>
                          </m:e>
                          <m: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𝑡</m:t>
                            </m:r>
                          </m:sub>
                        </m:sSub>
                      </m:oMath>
                    </m:oMathPara>
                  </a14:m>
                  <a:endParaRPr kumimoji="0" lang="en-US" altLang="zh-TW" sz="2000" b="0" i="1" u="none" strike="noStrike" cap="none" normalizeH="0" baseline="0" dirty="0">
                    <a:ln>
                      <a:noFill/>
                    </a:ln>
                    <a:solidFill>
                      <a:schemeClr val="tx1"/>
                    </a:solidFill>
                    <a:effectLst/>
                    <a:latin typeface="Cambria Math" panose="02040503050406030204" pitchFamily="18" charset="0"/>
                    <a:ea typeface="Google Sans Text"/>
                  </a:endParaRPr>
                </a:p>
                <a:p>
                  <a:pPr eaLnBrk="0" fontAlgn="base" hangingPunct="0">
                    <a:spcBef>
                      <a:spcPct val="0"/>
                    </a:spcBef>
                    <a:spcAft>
                      <a:spcPct val="0"/>
                    </a:spcAft>
                  </a:pPr>
                  <a14:m>
                    <m:oMathPara xmlns:m="http://schemas.openxmlformats.org/officeDocument/2006/math">
                      <m:oMathParaPr>
                        <m:jc m:val="left"/>
                      </m:oMathParaPr>
                      <m:oMath xmlns:m="http://schemas.openxmlformats.org/officeDocument/2006/math">
                        <m:sSub>
                          <m:sSubPr>
                            <m:ctrlPr>
                              <a:rPr lang="zh-TW" altLang="zh-TW" sz="2000" i="1" dirty="0" smtClean="0">
                                <a:latin typeface="Cambria Math" panose="02040503050406030204" pitchFamily="18" charset="0"/>
                                <a:ea typeface="Google Sans Text"/>
                              </a:rPr>
                            </m:ctrlPr>
                          </m:sSubPr>
                          <m:e>
                            <m:r>
                              <a:rPr lang="zh-TW" altLang="zh-TW" sz="2000" i="1" dirty="0">
                                <a:latin typeface="Cambria Math" panose="02040503050406030204" pitchFamily="18" charset="0"/>
                                <a:ea typeface="Google Sans Text"/>
                              </a:rPr>
                              <m:t>𝑦</m:t>
                            </m:r>
                          </m:e>
                          <m:sub>
                            <m:r>
                              <a:rPr lang="zh-TW" altLang="zh-TW" sz="2000" i="1" dirty="0">
                                <a:latin typeface="Cambria Math" panose="02040503050406030204" pitchFamily="18" charset="0"/>
                                <a:ea typeface="Google Sans Text"/>
                              </a:rPr>
                              <m:t>𝑡</m:t>
                            </m:r>
                          </m:sub>
                        </m:sSub>
                        <m:r>
                          <a:rPr lang="zh-TW" altLang="zh-TW" sz="2000" dirty="0">
                            <a:latin typeface="Cambria Math" panose="02040503050406030204" pitchFamily="18" charset="0"/>
                            <a:ea typeface="Google Sans Text"/>
                          </a:rPr>
                          <m:t>=</m:t>
                        </m:r>
                        <m:r>
                          <a:rPr lang="zh-TW" altLang="zh-TW" sz="2000" i="1" dirty="0">
                            <a:latin typeface="Cambria Math" panose="02040503050406030204" pitchFamily="18" charset="0"/>
                            <a:ea typeface="Google Sans Text"/>
                          </a:rPr>
                          <m:t>𝐶</m:t>
                        </m:r>
                        <m:sSub>
                          <m:sSubPr>
                            <m:ctrlPr>
                              <a:rPr lang="zh-TW" altLang="zh-TW" sz="2000" i="1" dirty="0">
                                <a:latin typeface="Cambria Math" panose="02040503050406030204" pitchFamily="18" charset="0"/>
                                <a:ea typeface="Google Sans Text"/>
                              </a:rPr>
                            </m:ctrlPr>
                          </m:sSubPr>
                          <m:e>
                            <m:r>
                              <a:rPr lang="zh-TW" altLang="zh-TW" sz="2000" i="1" dirty="0">
                                <a:latin typeface="Cambria Math" panose="02040503050406030204" pitchFamily="18" charset="0"/>
                                <a:ea typeface="Google Sans Text"/>
                              </a:rPr>
                              <m:t>h</m:t>
                            </m:r>
                          </m:e>
                          <m:sub>
                            <m:r>
                              <a:rPr lang="zh-TW" altLang="zh-TW" sz="2000" i="1" dirty="0">
                                <a:latin typeface="Cambria Math" panose="02040503050406030204" pitchFamily="18" charset="0"/>
                                <a:ea typeface="Google Sans Text"/>
                              </a:rPr>
                              <m:t>𝑡</m:t>
                            </m:r>
                          </m:sub>
                        </m:sSub>
                      </m:oMath>
                    </m:oMathPara>
                  </a14:m>
                  <a:endParaRPr lang="zh-TW" altLang="zh-TW" sz="2000" dirty="0">
                    <a:latin typeface="Cambria Math" panose="02040503050406030204" pitchFamily="18" charset="0"/>
                    <a:ea typeface="Google Sans Text"/>
                  </a:endParaRPr>
                </a:p>
              </p:txBody>
            </p:sp>
          </mc:Choice>
          <mc:Fallback xmlns="">
            <p:sp>
              <p:nvSpPr>
                <p:cNvPr id="7" name="Rectangle 1">
                  <a:extLst>
                    <a:ext uri="{FF2B5EF4-FFF2-40B4-BE49-F238E27FC236}">
                      <a16:creationId xmlns:a16="http://schemas.microsoft.com/office/drawing/2014/main" id="{D0695B3E-1584-E736-064E-FB5FEA16ED40}"/>
                    </a:ext>
                  </a:extLst>
                </p:cNvPr>
                <p:cNvSpPr>
                  <a:spLocks noRot="1" noChangeAspect="1" noMove="1" noResize="1" noEditPoints="1" noAdjustHandles="1" noChangeArrowheads="1" noChangeShapeType="1" noTextEdit="1"/>
                </p:cNvSpPr>
                <p:nvPr/>
              </p:nvSpPr>
              <p:spPr bwMode="auto">
                <a:xfrm>
                  <a:off x="838200" y="3251678"/>
                  <a:ext cx="2796092" cy="662425"/>
                </a:xfrm>
                <a:prstGeom prst="rect">
                  <a:avLst/>
                </a:prstGeom>
                <a:blipFill>
                  <a:blip r:embed="rId5"/>
                  <a:stretch>
                    <a:fillRect b="-64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31651200-EF1C-A86A-593C-943344270522}"/>
                </a:ext>
              </a:extLst>
            </p:cNvPr>
            <p:cNvSpPr txBox="1"/>
            <p:nvPr/>
          </p:nvSpPr>
          <p:spPr>
            <a:xfrm>
              <a:off x="3384176" y="3398224"/>
              <a:ext cx="500231" cy="369332"/>
            </a:xfrm>
            <a:prstGeom prst="rect">
              <a:avLst/>
            </a:prstGeom>
            <a:noFill/>
          </p:spPr>
          <p:txBody>
            <a:bodyPr wrap="square">
              <a:spAutoFit/>
            </a:bodyPr>
            <a:lstStyle/>
            <a:p>
              <a:r>
                <a:rPr lang="en-US" altLang="zh-TW" dirty="0">
                  <a:latin typeface="Cambria Math" panose="02040503050406030204" pitchFamily="18" charset="0"/>
                  <a:ea typeface="Google Sans Text"/>
                </a:rPr>
                <a:t>(2)</a:t>
              </a:r>
              <a:endParaRPr lang="zh-TW" altLang="en-US" dirty="0"/>
            </a:p>
          </p:txBody>
        </p:sp>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AD387F3-968A-912B-6CAF-5257FE854E68}"/>
                  </a:ext>
                </a:extLst>
              </p:cNvPr>
              <p:cNvSpPr txBox="1"/>
              <p:nvPr/>
            </p:nvSpPr>
            <p:spPr>
              <a:xfrm>
                <a:off x="418651" y="4779905"/>
                <a:ext cx="6299200" cy="1600887"/>
              </a:xfrm>
              <a:prstGeom prst="rect">
                <a:avLst/>
              </a:prstGeom>
              <a:noFill/>
            </p:spPr>
            <p:txBody>
              <a:bodyPr wrap="square">
                <a:spAutoFit/>
              </a:bodyPr>
              <a:lstStyle/>
              <a:p>
                <a:pPr marL="285750" indent="-285750" algn="just">
                  <a:buFont typeface="Arial" panose="020B0604020202020204" pitchFamily="34" charset="0"/>
                  <a:buChar char="•"/>
                </a:pPr>
                <a14:m>
                  <m:oMath xmlns:m="http://schemas.openxmlformats.org/officeDocument/2006/math">
                    <m:r>
                      <m:rPr>
                        <m:sty m:val="p"/>
                      </m:rPr>
                      <a:rPr lang="zh-TW" altLang="zh-TW" sz="1400" dirty="0" smtClean="0">
                        <a:latin typeface="Cambria Math" panose="02040503050406030204" pitchFamily="18" charset="0"/>
                        <a:ea typeface="Google Sans Text"/>
                      </a:rPr>
                      <m:t>Δ</m:t>
                    </m:r>
                    <m:r>
                      <a:rPr lang="en-US" altLang="zh-TW" sz="1400" b="0" i="0" dirty="0" smtClean="0">
                        <a:latin typeface="Cambria Math" panose="02040503050406030204" pitchFamily="18" charset="0"/>
                        <a:ea typeface="Google Sans Text"/>
                      </a:rPr>
                      <m:t> </m:t>
                    </m:r>
                  </m:oMath>
                </a14:m>
                <a:r>
                  <a:rPr lang="en-US" altLang="zh-TW" sz="1400" dirty="0">
                    <a:latin typeface="Cambria Math" panose="02040503050406030204" pitchFamily="18" charset="0"/>
                  </a:rPr>
                  <a:t>: Important of the </a:t>
                </a:r>
                <a14:m>
                  <m:oMath xmlns:m="http://schemas.openxmlformats.org/officeDocument/2006/math">
                    <m:sSub>
                      <m:sSubPr>
                        <m:ctrlPr>
                          <a:rPr lang="en-US" altLang="zh-TW" sz="1400" i="1" dirty="0">
                            <a:latin typeface="Cambria Math" panose="02040503050406030204" pitchFamily="18" charset="0"/>
                          </a:rPr>
                        </m:ctrlPr>
                      </m:sSubPr>
                      <m:e>
                        <m:r>
                          <a:rPr lang="en-US" altLang="zh-TW" sz="1400" i="1" dirty="0" err="1">
                            <a:latin typeface="Cambria Math" panose="02040503050406030204" pitchFamily="18" charset="0"/>
                          </a:rPr>
                          <m:t>𝑥</m:t>
                        </m:r>
                      </m:e>
                      <m:sub>
                        <m:r>
                          <a:rPr lang="en-US" altLang="zh-TW" sz="1400" i="1" dirty="0" err="1">
                            <a:latin typeface="Cambria Math" panose="02040503050406030204" pitchFamily="18" charset="0"/>
                          </a:rPr>
                          <m:t>𝑡</m:t>
                        </m:r>
                      </m:sub>
                    </m:sSub>
                  </m:oMath>
                </a14:m>
                <a:r>
                  <a:rPr lang="zh-TW" altLang="en-US" sz="1400" i="1" dirty="0">
                    <a:latin typeface="Cambria Math" panose="02040503050406030204" pitchFamily="18" charset="0"/>
                  </a:rPr>
                  <a:t> </a:t>
                </a:r>
                <a:endParaRPr lang="en-US" altLang="zh-TW" sz="1400" dirty="0">
                  <a:latin typeface="Cambria Math" panose="02040503050406030204" pitchFamily="18" charset="0"/>
                </a:endParaRPr>
              </a:p>
              <a:p>
                <a:pPr marL="285750" indent="-285750" algn="just">
                  <a:buFont typeface="Arial" panose="020B0604020202020204" pitchFamily="34" charset="0"/>
                  <a:buChar char="•"/>
                </a:pPr>
                <a14:m>
                  <m:oMath xmlns:m="http://schemas.openxmlformats.org/officeDocument/2006/math">
                    <m:sSub>
                      <m:sSubPr>
                        <m:ctrlPr>
                          <a:rPr lang="en-US" altLang="zh-TW" sz="1400" i="1" dirty="0" smtClean="0">
                            <a:latin typeface="Cambria Math" panose="02040503050406030204" pitchFamily="18" charset="0"/>
                          </a:rPr>
                        </m:ctrlPr>
                      </m:sSubPr>
                      <m:e>
                        <m:r>
                          <a:rPr lang="en-US" altLang="zh-TW" sz="1400" i="1" dirty="0" err="1">
                            <a:latin typeface="Cambria Math" panose="02040503050406030204" pitchFamily="18" charset="0"/>
                          </a:rPr>
                          <m:t>𝑥</m:t>
                        </m:r>
                      </m:e>
                      <m:sub>
                        <m:r>
                          <a:rPr lang="en-US" altLang="zh-TW" sz="1400" i="1" dirty="0" err="1">
                            <a:latin typeface="Cambria Math" panose="02040503050406030204" pitchFamily="18" charset="0"/>
                          </a:rPr>
                          <m:t>𝑡</m:t>
                        </m:r>
                      </m:sub>
                    </m:sSub>
                  </m:oMath>
                </a14:m>
                <a:r>
                  <a:rPr lang="zh-TW" altLang="en-US" sz="1400" i="1" dirty="0">
                    <a:latin typeface="Cambria Math" panose="02040503050406030204" pitchFamily="18" charset="0"/>
                  </a:rPr>
                  <a:t> </a:t>
                </a:r>
                <a:r>
                  <a:rPr lang="en-US" altLang="zh-TW" sz="1400" dirty="0">
                    <a:latin typeface="Cambria Math" panose="02040503050406030204" pitchFamily="18" charset="0"/>
                  </a:rPr>
                  <a:t>:</a:t>
                </a:r>
                <a:r>
                  <a:rPr lang="en-US" altLang="zh-TW" sz="1400" i="1" dirty="0">
                    <a:latin typeface="Cambria Math" panose="02040503050406030204" pitchFamily="18" charset="0"/>
                  </a:rPr>
                  <a:t> </a:t>
                </a:r>
                <a:r>
                  <a:rPr lang="en-US" altLang="zh-TW" sz="1400" dirty="0"/>
                  <a:t>Current input token.</a:t>
                </a:r>
              </a:p>
              <a:p>
                <a:pPr marL="285750" indent="-285750" algn="just">
                  <a:buFont typeface="Arial" panose="020B0604020202020204" pitchFamily="34" charset="0"/>
                  <a:buChar char="•"/>
                </a:pPr>
                <a14:m>
                  <m:oMath xmlns:m="http://schemas.openxmlformats.org/officeDocument/2006/math">
                    <m:sSub>
                      <m:sSubPr>
                        <m:ctrlPr>
                          <a:rPr lang="en-US" altLang="zh-TW" sz="1400" i="1" dirty="0" smtClean="0">
                            <a:latin typeface="Cambria Math" panose="02040503050406030204" pitchFamily="18" charset="0"/>
                          </a:rPr>
                        </m:ctrlPr>
                      </m:sSubPr>
                      <m:e>
                        <m:r>
                          <a:rPr lang="en-US" altLang="zh-TW" sz="1400" i="1" dirty="0" smtClean="0">
                            <a:latin typeface="Cambria Math" panose="02040503050406030204" pitchFamily="18" charset="0"/>
                          </a:rPr>
                          <m:t>h</m:t>
                        </m:r>
                      </m:e>
                      <m:sub>
                        <m:r>
                          <a:rPr lang="en-US" altLang="zh-TW" sz="1400" i="1" dirty="0" smtClean="0">
                            <a:latin typeface="Cambria Math" panose="02040503050406030204" pitchFamily="18" charset="0"/>
                          </a:rPr>
                          <m:t>𝑡</m:t>
                        </m:r>
                        <m:r>
                          <a:rPr lang="en-US" altLang="zh-TW" sz="1400" i="1" dirty="0" smtClean="0">
                            <a:latin typeface="Cambria Math" panose="02040503050406030204" pitchFamily="18" charset="0"/>
                          </a:rPr>
                          <m:t>−1</m:t>
                        </m:r>
                      </m:sub>
                    </m:sSub>
                  </m:oMath>
                </a14:m>
                <a:r>
                  <a:rPr lang="zh-TW" altLang="en-US" sz="1400" i="1" dirty="0">
                    <a:latin typeface="Cambria Math" panose="02040503050406030204" pitchFamily="18" charset="0"/>
                  </a:rPr>
                  <a:t> </a:t>
                </a:r>
                <a:r>
                  <a:rPr lang="en-US" altLang="zh-TW" sz="1400" dirty="0"/>
                  <a:t>: Previous hidden state (historical memory).</a:t>
                </a:r>
              </a:p>
              <a:p>
                <a:pPr marL="285750" indent="-285750" algn="just">
                  <a:buFont typeface="Arial" panose="020B0604020202020204" pitchFamily="34" charset="0"/>
                  <a:buChar char="•"/>
                </a:pPr>
                <a14:m>
                  <m:oMath xmlns:m="http://schemas.openxmlformats.org/officeDocument/2006/math">
                    <m:acc>
                      <m:accPr>
                        <m:chr m:val="̅"/>
                        <m:ctrlPr>
                          <a:rPr lang="en-US" altLang="zh-TW" sz="1400" i="1" dirty="0" smtClean="0">
                            <a:latin typeface="Cambria Math" panose="02040503050406030204" pitchFamily="18" charset="0"/>
                          </a:rPr>
                        </m:ctrlPr>
                      </m:accPr>
                      <m:e>
                        <m:r>
                          <a:rPr lang="en-US" altLang="zh-TW" sz="1400" i="1" dirty="0" smtClean="0">
                            <a:latin typeface="Cambria Math" panose="02040503050406030204" pitchFamily="18" charset="0"/>
                          </a:rPr>
                          <m:t>𝐴</m:t>
                        </m:r>
                      </m:e>
                    </m:acc>
                  </m:oMath>
                </a14:m>
                <a:r>
                  <a:rPr lang="zh-TW" altLang="en-US" sz="1400" i="1" dirty="0">
                    <a:latin typeface="Cambria Math" panose="02040503050406030204" pitchFamily="18" charset="0"/>
                  </a:rPr>
                  <a:t> </a:t>
                </a:r>
                <a:r>
                  <a:rPr lang="en-US" altLang="zh-TW" sz="1400" dirty="0"/>
                  <a:t>: Controls memory </a:t>
                </a:r>
                <a14:m>
                  <m:oMath xmlns:m="http://schemas.openxmlformats.org/officeDocument/2006/math">
                    <m:sSub>
                      <m:sSubPr>
                        <m:ctrlPr>
                          <a:rPr lang="en-US" altLang="zh-TW" sz="1400" i="1" dirty="0">
                            <a:latin typeface="Cambria Math" panose="02040503050406030204" pitchFamily="18" charset="0"/>
                          </a:rPr>
                        </m:ctrlPr>
                      </m:sSubPr>
                      <m:e>
                        <m:r>
                          <a:rPr lang="en-US" altLang="zh-TW" sz="1400" i="1" dirty="0">
                            <a:latin typeface="Cambria Math" panose="02040503050406030204" pitchFamily="18" charset="0"/>
                          </a:rPr>
                          <m:t>h</m:t>
                        </m:r>
                      </m:e>
                      <m:sub>
                        <m:r>
                          <a:rPr lang="en-US" altLang="zh-TW" sz="1400" i="1" dirty="0">
                            <a:latin typeface="Cambria Math" panose="02040503050406030204" pitchFamily="18" charset="0"/>
                          </a:rPr>
                          <m:t>𝑡</m:t>
                        </m:r>
                        <m:r>
                          <a:rPr lang="en-US" altLang="zh-TW" sz="1400" i="1" dirty="0">
                            <a:latin typeface="Cambria Math" panose="02040503050406030204" pitchFamily="18" charset="0"/>
                          </a:rPr>
                          <m:t>−1</m:t>
                        </m:r>
                      </m:sub>
                    </m:sSub>
                  </m:oMath>
                </a14:m>
                <a:r>
                  <a:rPr lang="zh-TW" altLang="en-US" sz="1400" i="1" dirty="0">
                    <a:latin typeface="Cambria Math" panose="02040503050406030204" pitchFamily="18" charset="0"/>
                  </a:rPr>
                  <a:t> </a:t>
                </a:r>
                <a:r>
                  <a:rPr lang="en-US" altLang="zh-TW" sz="1400" dirty="0"/>
                  <a:t>retention/forgetting.</a:t>
                </a:r>
              </a:p>
              <a:p>
                <a:pPr marL="285750" indent="-285750" algn="just">
                  <a:buFont typeface="Arial" panose="020B0604020202020204" pitchFamily="34" charset="0"/>
                  <a:buChar char="•"/>
                </a:pPr>
                <a14:m>
                  <m:oMath xmlns:m="http://schemas.openxmlformats.org/officeDocument/2006/math">
                    <m:acc>
                      <m:accPr>
                        <m:chr m:val="̅"/>
                        <m:ctrlPr>
                          <a:rPr lang="en-US" altLang="zh-TW" sz="1400" i="1" dirty="0" smtClean="0">
                            <a:latin typeface="Cambria Math" panose="02040503050406030204" pitchFamily="18" charset="0"/>
                          </a:rPr>
                        </m:ctrlPr>
                      </m:accPr>
                      <m:e>
                        <m:r>
                          <a:rPr lang="en-US" altLang="zh-TW" sz="1400" i="1" dirty="0" smtClean="0">
                            <a:latin typeface="Cambria Math" panose="02040503050406030204" pitchFamily="18" charset="0"/>
                          </a:rPr>
                          <m:t>𝐵</m:t>
                        </m:r>
                      </m:e>
                    </m:acc>
                  </m:oMath>
                </a14:m>
                <a:r>
                  <a:rPr lang="zh-TW" altLang="en-US" sz="1400" i="1" dirty="0">
                    <a:latin typeface="Cambria Math" panose="02040503050406030204" pitchFamily="18" charset="0"/>
                  </a:rPr>
                  <a:t> </a:t>
                </a:r>
                <a:r>
                  <a:rPr lang="en-US" altLang="zh-TW" sz="1400" dirty="0"/>
                  <a:t>: Input projection matrix.</a:t>
                </a:r>
              </a:p>
              <a:p>
                <a:pPr marL="285750" indent="-285750" algn="just">
                  <a:buFont typeface="Arial" panose="020B0604020202020204" pitchFamily="34" charset="0"/>
                  <a:buChar char="•"/>
                </a:pPr>
                <a:r>
                  <a:rPr lang="en-US" altLang="zh-TW" sz="1400" dirty="0"/>
                  <a:t>C : Dynamic filter</a:t>
                </a:r>
              </a:p>
              <a:p>
                <a:pPr marL="285750" indent="-285750" algn="just">
                  <a:buFont typeface="Arial" panose="020B0604020202020204" pitchFamily="34" charset="0"/>
                  <a:buChar char="•"/>
                </a:pPr>
                <a14:m>
                  <m:oMath xmlns:m="http://schemas.openxmlformats.org/officeDocument/2006/math">
                    <m:sSub>
                      <m:sSubPr>
                        <m:ctrlPr>
                          <a:rPr lang="zh-TW" altLang="en-US" sz="1400" i="1" dirty="0" smtClean="0">
                            <a:latin typeface="Cambria Math" panose="02040503050406030204" pitchFamily="18" charset="0"/>
                          </a:rPr>
                        </m:ctrlPr>
                      </m:sSubPr>
                      <m:e>
                        <m:r>
                          <a:rPr lang="zh-TW" altLang="en-US" sz="1400" i="1" dirty="0" smtClean="0">
                            <a:latin typeface="Cambria Math" panose="02040503050406030204" pitchFamily="18" charset="0"/>
                          </a:rPr>
                          <m:t>𝑦</m:t>
                        </m:r>
                      </m:e>
                      <m:sub>
                        <m:r>
                          <a:rPr lang="zh-TW" altLang="en-US" sz="1400" i="1" dirty="0" smtClean="0">
                            <a:latin typeface="Cambria Math" panose="02040503050406030204" pitchFamily="18" charset="0"/>
                          </a:rPr>
                          <m:t>𝑡</m:t>
                        </m:r>
                      </m:sub>
                    </m:sSub>
                    <m:r>
                      <a:rPr lang="zh-TW" altLang="en-US" sz="1400" i="1" dirty="0">
                        <a:latin typeface="Cambria Math" panose="02040503050406030204" pitchFamily="18" charset="0"/>
                      </a:rPr>
                      <m:t> </m:t>
                    </m:r>
                  </m:oMath>
                </a14:m>
                <a:r>
                  <a:rPr lang="zh-TW" altLang="en-US" sz="1400" dirty="0"/>
                  <a:t>: The output </a:t>
                </a:r>
                <a:r>
                  <a:rPr lang="en-US" altLang="zh-TW" sz="1400" dirty="0"/>
                  <a:t>of</a:t>
                </a:r>
                <a:r>
                  <a:rPr lang="zh-TW" altLang="en-US" sz="1400" dirty="0"/>
                  <a:t> the current step.</a:t>
                </a:r>
                <a:endParaRPr lang="en-US" altLang="zh-TW" sz="1400" dirty="0"/>
              </a:p>
            </p:txBody>
          </p:sp>
        </mc:Choice>
        <mc:Fallback xmlns="">
          <p:sp>
            <p:nvSpPr>
              <p:cNvPr id="17" name="文字方塊 16">
                <a:extLst>
                  <a:ext uri="{FF2B5EF4-FFF2-40B4-BE49-F238E27FC236}">
                    <a16:creationId xmlns:a16="http://schemas.microsoft.com/office/drawing/2014/main" id="{0AD387F3-968A-912B-6CAF-5257FE854E68}"/>
                  </a:ext>
                </a:extLst>
              </p:cNvPr>
              <p:cNvSpPr txBox="1">
                <a:spLocks noRot="1" noChangeAspect="1" noMove="1" noResize="1" noEditPoints="1" noAdjustHandles="1" noChangeArrowheads="1" noChangeShapeType="1" noTextEdit="1"/>
              </p:cNvSpPr>
              <p:nvPr/>
            </p:nvSpPr>
            <p:spPr>
              <a:xfrm>
                <a:off x="418651" y="4779905"/>
                <a:ext cx="6299200" cy="1600887"/>
              </a:xfrm>
              <a:prstGeom prst="rect">
                <a:avLst/>
              </a:prstGeom>
              <a:blipFill>
                <a:blip r:embed="rId6"/>
                <a:stretch>
                  <a:fillRect l="-194" t="-1141" b="-3042"/>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6B9EAEAB-DEBC-7841-5348-A21864E74FA8}"/>
              </a:ext>
            </a:extLst>
          </p:cNvPr>
          <p:cNvGrpSpPr/>
          <p:nvPr/>
        </p:nvGrpSpPr>
        <p:grpSpPr>
          <a:xfrm>
            <a:off x="1531637" y="3088839"/>
            <a:ext cx="3126564" cy="662425"/>
            <a:chOff x="838200" y="3251680"/>
            <a:chExt cx="3046207" cy="662425"/>
          </a:xfrm>
        </p:grpSpPr>
        <mc:AlternateContent xmlns:mc="http://schemas.openxmlformats.org/markup-compatibility/2006" xmlns:a14="http://schemas.microsoft.com/office/drawing/2010/main">
          <mc:Choice Requires="a14">
            <p:sp>
              <p:nvSpPr>
                <p:cNvPr id="9" name="Rectangle 1">
                  <a:extLst>
                    <a:ext uri="{FF2B5EF4-FFF2-40B4-BE49-F238E27FC236}">
                      <a16:creationId xmlns:a16="http://schemas.microsoft.com/office/drawing/2014/main" id="{36DA8BD0-378C-FADD-1631-23FD75776431}"/>
                    </a:ext>
                  </a:extLst>
                </p:cNvPr>
                <p:cNvSpPr>
                  <a:spLocks noChangeArrowheads="1"/>
                </p:cNvSpPr>
                <p:nvPr/>
              </p:nvSpPr>
              <p:spPr bwMode="auto">
                <a:xfrm>
                  <a:off x="838200" y="3251680"/>
                  <a:ext cx="2796092" cy="6624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pPr>
                  <a14:m>
                    <m:oMathPara xmlns:m="http://schemas.openxmlformats.org/officeDocument/2006/math">
                      <m:oMathParaPr>
                        <m:jc m:val="left"/>
                      </m:oMathParaPr>
                      <m:oMath xmlns:m="http://schemas.openxmlformats.org/officeDocument/2006/math">
                        <m:acc>
                          <m:accPr>
                            <m:chr m:val="̅"/>
                            <m:ctrlPr>
                              <a:rPr lang="zh-TW" altLang="zh-TW" sz="2000" i="1" dirty="0">
                                <a:latin typeface="Cambria Math" panose="02040503050406030204" pitchFamily="18" charset="0"/>
                                <a:ea typeface="Google Sans Text"/>
                              </a:rPr>
                            </m:ctrlPr>
                          </m:accPr>
                          <m:e>
                            <m:r>
                              <a:rPr lang="zh-TW" altLang="zh-TW" sz="2000" i="1" dirty="0">
                                <a:latin typeface="Cambria Math" panose="02040503050406030204" pitchFamily="18" charset="0"/>
                                <a:ea typeface="Google Sans Text"/>
                              </a:rPr>
                              <m:t>𝐴</m:t>
                            </m:r>
                          </m:e>
                        </m:acc>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m:t>
                        </m:r>
                        <m:r>
                          <m:rPr>
                            <m:sty m:val="p"/>
                          </m:rPr>
                          <a:rPr kumimoji="0" lang="en-US" altLang="zh-TW" sz="2000" b="0" i="0" u="none" strike="noStrike" cap="none" normalizeH="0" baseline="0" dirty="0" smtClean="0">
                            <a:ln>
                              <a:noFill/>
                            </a:ln>
                            <a:solidFill>
                              <a:schemeClr val="tx1"/>
                            </a:solidFill>
                            <a:effectLst/>
                            <a:latin typeface="Cambria Math" panose="02040503050406030204" pitchFamily="18" charset="0"/>
                            <a:ea typeface="Google Sans Text"/>
                          </a:rPr>
                          <m:t>exp</m:t>
                        </m:r>
                        <m:d>
                          <m:dPr>
                            <m:ctrlPr>
                              <a:rPr kumimoji="0" lang="en-US"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dPr>
                          <m:e>
                            <m:r>
                              <m:rPr>
                                <m:sty m:val="p"/>
                              </m:rPr>
                              <a:rPr lang="zh-TW" altLang="zh-TW" sz="2000" i="0" dirty="0">
                                <a:latin typeface="Cambria Math" panose="02040503050406030204" pitchFamily="18" charset="0"/>
                                <a:ea typeface="Google Sans Text"/>
                              </a:rPr>
                              <m:t>Δ</m:t>
                            </m:r>
                            <m:r>
                              <a:rPr lang="en-US" altLang="zh-TW" sz="2000" b="0" i="1" dirty="0" smtClean="0">
                                <a:latin typeface="Cambria Math" panose="02040503050406030204" pitchFamily="18" charset="0"/>
                                <a:ea typeface="Google Sans Text"/>
                              </a:rPr>
                              <m:t>𝐴</m:t>
                            </m:r>
                          </m:e>
                        </m:d>
                      </m:oMath>
                    </m:oMathPara>
                  </a14:m>
                  <a:endParaRPr lang="en-US" sz="2000" dirty="0"/>
                </a:p>
                <a:p>
                  <a:pPr eaLnBrk="0" fontAlgn="base" hangingPunct="0">
                    <a:spcBef>
                      <a:spcPct val="0"/>
                    </a:spcBef>
                    <a:spcAft>
                      <a:spcPct val="0"/>
                    </a:spcAft>
                  </a:pPr>
                  <a14:m>
                    <m:oMathPara xmlns:m="http://schemas.openxmlformats.org/officeDocument/2006/math">
                      <m:oMathParaPr>
                        <m:jc m:val="left"/>
                      </m:oMathParaPr>
                      <m:oMath xmlns:m="http://schemas.openxmlformats.org/officeDocument/2006/math">
                        <m:acc>
                          <m:accPr>
                            <m:chr m:val="̅"/>
                            <m:ctrlPr>
                              <a:rPr lang="zh-TW" altLang="zh-TW" sz="2000" i="1" dirty="0">
                                <a:latin typeface="Cambria Math" panose="02040503050406030204" pitchFamily="18" charset="0"/>
                                <a:ea typeface="Google Sans Text"/>
                              </a:rPr>
                            </m:ctrlPr>
                          </m:accPr>
                          <m:e>
                            <m:r>
                              <a:rPr lang="zh-TW" altLang="zh-TW" sz="2000" i="1" dirty="0">
                                <a:latin typeface="Cambria Math" panose="02040503050406030204" pitchFamily="18" charset="0"/>
                                <a:ea typeface="Google Sans Text"/>
                              </a:rPr>
                              <m:t>𝐵</m:t>
                            </m:r>
                          </m:e>
                        </m:acc>
                        <m:r>
                          <a:rPr lang="zh-TW" altLang="zh-TW" sz="2000" dirty="0">
                            <a:latin typeface="Cambria Math" panose="02040503050406030204" pitchFamily="18" charset="0"/>
                            <a:ea typeface="Google Sans Text"/>
                          </a:rPr>
                          <m:t>=</m:t>
                        </m:r>
                        <m:r>
                          <m:rPr>
                            <m:sty m:val="p"/>
                          </m:rPr>
                          <a:rPr lang="zh-TW" altLang="zh-TW" sz="2000" dirty="0">
                            <a:latin typeface="Cambria Math" panose="02040503050406030204" pitchFamily="18" charset="0"/>
                            <a:ea typeface="Google Sans Text"/>
                          </a:rPr>
                          <m:t>Δ</m:t>
                        </m:r>
                        <m:r>
                          <a:rPr lang="en-US" altLang="zh-TW" sz="2000" i="1" dirty="0">
                            <a:latin typeface="Cambria Math" panose="02040503050406030204" pitchFamily="18" charset="0"/>
                            <a:ea typeface="Google Sans Text"/>
                          </a:rPr>
                          <m:t>𝐵</m:t>
                        </m:r>
                      </m:oMath>
                    </m:oMathPara>
                  </a14:m>
                  <a:endParaRPr lang="en-US" altLang="zh-TW" sz="2000" i="1" dirty="0">
                    <a:latin typeface="Cambria Math" panose="02040503050406030204" pitchFamily="18" charset="0"/>
                    <a:ea typeface="Google Sans Text"/>
                  </a:endParaRPr>
                </a:p>
              </p:txBody>
            </p:sp>
          </mc:Choice>
          <mc:Fallback xmlns="">
            <p:sp>
              <p:nvSpPr>
                <p:cNvPr id="9" name="Rectangle 1">
                  <a:extLst>
                    <a:ext uri="{FF2B5EF4-FFF2-40B4-BE49-F238E27FC236}">
                      <a16:creationId xmlns:a16="http://schemas.microsoft.com/office/drawing/2014/main" id="{36DA8BD0-378C-FADD-1631-23FD75776431}"/>
                    </a:ext>
                  </a:extLst>
                </p:cNvPr>
                <p:cNvSpPr>
                  <a:spLocks noRot="1" noChangeAspect="1" noMove="1" noResize="1" noEditPoints="1" noAdjustHandles="1" noChangeArrowheads="1" noChangeShapeType="1" noTextEdit="1"/>
                </p:cNvSpPr>
                <p:nvPr/>
              </p:nvSpPr>
              <p:spPr bwMode="auto">
                <a:xfrm>
                  <a:off x="838200" y="3251680"/>
                  <a:ext cx="2796092" cy="662425"/>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F928079D-F910-8042-7B65-04863684B76B}"/>
                </a:ext>
              </a:extLst>
            </p:cNvPr>
            <p:cNvSpPr txBox="1"/>
            <p:nvPr/>
          </p:nvSpPr>
          <p:spPr>
            <a:xfrm>
              <a:off x="3384176" y="3398224"/>
              <a:ext cx="500231" cy="369332"/>
            </a:xfrm>
            <a:prstGeom prst="rect">
              <a:avLst/>
            </a:prstGeom>
            <a:noFill/>
          </p:spPr>
          <p:txBody>
            <a:bodyPr wrap="square">
              <a:spAutoFit/>
            </a:bodyPr>
            <a:lstStyle/>
            <a:p>
              <a:r>
                <a:rPr lang="en-US" altLang="zh-TW" dirty="0">
                  <a:latin typeface="Cambria Math" panose="02040503050406030204" pitchFamily="18" charset="0"/>
                  <a:ea typeface="Google Sans Text"/>
                </a:rPr>
                <a:t>(1)</a:t>
              </a:r>
              <a:endParaRPr lang="zh-TW" altLang="en-US" dirty="0"/>
            </a:p>
          </p:txBody>
        </p:sp>
      </p:grpSp>
      <p:sp>
        <p:nvSpPr>
          <p:cNvPr id="18" name="文字方塊 17">
            <a:extLst>
              <a:ext uri="{FF2B5EF4-FFF2-40B4-BE49-F238E27FC236}">
                <a16:creationId xmlns:a16="http://schemas.microsoft.com/office/drawing/2014/main" id="{8A312D24-BD0A-C075-1C02-384A17DC079B}"/>
              </a:ext>
            </a:extLst>
          </p:cNvPr>
          <p:cNvSpPr txBox="1"/>
          <p:nvPr/>
        </p:nvSpPr>
        <p:spPr>
          <a:xfrm>
            <a:off x="5454128" y="5668770"/>
            <a:ext cx="6131858" cy="307777"/>
          </a:xfrm>
          <a:prstGeom prst="rect">
            <a:avLst/>
          </a:prstGeom>
          <a:noFill/>
        </p:spPr>
        <p:txBody>
          <a:bodyPr wrap="square">
            <a:spAutoFit/>
          </a:bodyPr>
          <a:lstStyle/>
          <a:p>
            <a:pPr algn="ctr"/>
            <a:r>
              <a:rPr lang="en-US" altLang="zh-TW" sz="1400" dirty="0"/>
              <a:t>Figure 2. State space model</a:t>
            </a:r>
            <a:endParaRPr lang="zh-TW" altLang="en-US" sz="1400" dirty="0"/>
          </a:p>
        </p:txBody>
      </p:sp>
    </p:spTree>
    <p:extLst>
      <p:ext uri="{BB962C8B-B14F-4D97-AF65-F5344CB8AC3E}">
        <p14:creationId xmlns:p14="http://schemas.microsoft.com/office/powerpoint/2010/main" val="26126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E5E58-588E-CDA2-BACD-3CF4E4CCC56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63AC92D-0211-BC8D-74AC-812FE1562E95}"/>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E865B601-8DAE-04D4-1D4A-2480F54BBA7A}"/>
              </a:ext>
            </a:extLst>
          </p:cNvPr>
          <p:cNvSpPr>
            <a:spLocks noGrp="1"/>
          </p:cNvSpPr>
          <p:nvPr>
            <p:ph type="sldNum" sz="quarter" idx="12"/>
          </p:nvPr>
        </p:nvSpPr>
        <p:spPr/>
        <p:txBody>
          <a:bodyPr/>
          <a:lstStyle/>
          <a:p>
            <a:fld id="{3E97B41F-AD73-4999-8C34-7D0FF5EF3CF5}" type="slidenum">
              <a:rPr lang="zh-TW" altLang="en-US" smtClean="0"/>
              <a:t>13</a:t>
            </a:fld>
            <a:endParaRPr lang="zh-TW" altLang="en-US"/>
          </a:p>
        </p:txBody>
      </p:sp>
      <p:sp>
        <p:nvSpPr>
          <p:cNvPr id="4" name="內容版面配置區 3">
            <a:extLst>
              <a:ext uri="{FF2B5EF4-FFF2-40B4-BE49-F238E27FC236}">
                <a16:creationId xmlns:a16="http://schemas.microsoft.com/office/drawing/2014/main" id="{B7C759B6-BE16-315B-38A4-A3CD4ADF429E}"/>
              </a:ext>
            </a:extLst>
          </p:cNvPr>
          <p:cNvSpPr>
            <a:spLocks noGrp="1"/>
          </p:cNvSpPr>
          <p:nvPr>
            <p:ph sz="quarter" idx="13"/>
          </p:nvPr>
        </p:nvSpPr>
        <p:spPr/>
        <p:txBody>
          <a:bodyPr>
            <a:normAutofit/>
          </a:bodyPr>
          <a:lstStyle/>
          <a:p>
            <a:pPr marL="457200" indent="-457200">
              <a:buFont typeface="+mj-lt"/>
              <a:buAutoNum type="alphaUcPeriod" startAt="3"/>
            </a:pPr>
            <a:r>
              <a:rPr lang="en-US" altLang="zh-TW" sz="2200" b="1" dirty="0"/>
              <a:t>Vim Block</a:t>
            </a:r>
          </a:p>
          <a:p>
            <a:r>
              <a:rPr lang="en-US" altLang="zh-TW" sz="1800" dirty="0"/>
              <a:t>The original Mamba block is designed for the 1-D sequence, which is </a:t>
            </a:r>
            <a:r>
              <a:rPr lang="en-US" altLang="zh-TW" sz="1800" b="1" dirty="0"/>
              <a:t>not suitable for vision tasks requiring spatial-aware understanding</a:t>
            </a:r>
            <a:r>
              <a:rPr lang="en-US" altLang="zh-TW" sz="1800" dirty="0"/>
              <a:t>. This paper introduce the Vim block, which incorporates the </a:t>
            </a:r>
            <a:r>
              <a:rPr lang="en-US" altLang="zh-TW" sz="1800" b="1" dirty="0"/>
              <a:t>bidirectional</a:t>
            </a:r>
            <a:r>
              <a:rPr lang="en-US" altLang="zh-TW" sz="1800" dirty="0"/>
              <a:t> sequence modeling for the vision tasks.</a:t>
            </a:r>
            <a:endParaRPr lang="zh-TW" altLang="en-US" sz="1800" dirty="0"/>
          </a:p>
        </p:txBody>
      </p:sp>
      <p:sp>
        <p:nvSpPr>
          <p:cNvPr id="9" name="內容版面配置區 8">
            <a:extLst>
              <a:ext uri="{FF2B5EF4-FFF2-40B4-BE49-F238E27FC236}">
                <a16:creationId xmlns:a16="http://schemas.microsoft.com/office/drawing/2014/main" id="{122161A4-6F77-D85E-9A2D-5D03C08D1803}"/>
              </a:ext>
            </a:extLst>
          </p:cNvPr>
          <p:cNvSpPr>
            <a:spLocks noGrp="1"/>
          </p:cNvSpPr>
          <p:nvPr>
            <p:ph sz="quarter" idx="14"/>
          </p:nvPr>
        </p:nvSpPr>
        <p:spPr/>
        <p:txBody>
          <a:bodyPr/>
          <a:lstStyle/>
          <a:p>
            <a:endParaRPr lang="zh-TW" altLang="en-US" dirty="0"/>
          </a:p>
        </p:txBody>
      </p:sp>
      <p:pic>
        <p:nvPicPr>
          <p:cNvPr id="5" name="圖片 4">
            <a:extLst>
              <a:ext uri="{FF2B5EF4-FFF2-40B4-BE49-F238E27FC236}">
                <a16:creationId xmlns:a16="http://schemas.microsoft.com/office/drawing/2014/main" id="{FA3130B7-3F88-B5A9-06EA-482E31B47A8D}"/>
              </a:ext>
            </a:extLst>
          </p:cNvPr>
          <p:cNvPicPr>
            <a:picLocks noChangeAspect="1"/>
          </p:cNvPicPr>
          <p:nvPr/>
        </p:nvPicPr>
        <p:blipFill>
          <a:blip r:embed="rId3"/>
          <a:srcRect l="38713"/>
          <a:stretch>
            <a:fillRect/>
          </a:stretch>
        </p:blipFill>
        <p:spPr>
          <a:xfrm>
            <a:off x="2987061" y="3074873"/>
            <a:ext cx="6217877" cy="2667432"/>
          </a:xfrm>
          <a:prstGeom prst="rect">
            <a:avLst/>
          </a:prstGeom>
        </p:spPr>
      </p:pic>
    </p:spTree>
    <p:extLst>
      <p:ext uri="{BB962C8B-B14F-4D97-AF65-F5344CB8AC3E}">
        <p14:creationId xmlns:p14="http://schemas.microsoft.com/office/powerpoint/2010/main" val="1045766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9C95-3B52-573B-AEBA-7DB223CAFC4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CC9F9BB-FA6B-D6D9-DD27-254D34423FF3}"/>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8616CC0C-5F7B-CC87-8093-6BFE0B6F2642}"/>
              </a:ext>
            </a:extLst>
          </p:cNvPr>
          <p:cNvSpPr>
            <a:spLocks noGrp="1"/>
          </p:cNvSpPr>
          <p:nvPr>
            <p:ph type="sldNum" sz="quarter" idx="12"/>
          </p:nvPr>
        </p:nvSpPr>
        <p:spPr/>
        <p:txBody>
          <a:bodyPr/>
          <a:lstStyle/>
          <a:p>
            <a:fld id="{3E97B41F-AD73-4999-8C34-7D0FF5EF3CF5}" type="slidenum">
              <a:rPr lang="zh-TW" altLang="en-US" smtClean="0"/>
              <a:t>14</a:t>
            </a:fld>
            <a:endParaRPr lang="zh-TW" altLang="en-US"/>
          </a:p>
        </p:txBody>
      </p:sp>
      <p:sp>
        <p:nvSpPr>
          <p:cNvPr id="4" name="內容版面配置區 3">
            <a:extLst>
              <a:ext uri="{FF2B5EF4-FFF2-40B4-BE49-F238E27FC236}">
                <a16:creationId xmlns:a16="http://schemas.microsoft.com/office/drawing/2014/main" id="{79E2A3D3-83CC-FDD8-C305-87EC2F8D960B}"/>
              </a:ext>
            </a:extLst>
          </p:cNvPr>
          <p:cNvSpPr>
            <a:spLocks noGrp="1"/>
          </p:cNvSpPr>
          <p:nvPr>
            <p:ph sz="quarter" idx="13"/>
          </p:nvPr>
        </p:nvSpPr>
        <p:spPr/>
        <p:txBody>
          <a:bodyPr>
            <a:normAutofit/>
          </a:bodyPr>
          <a:lstStyle/>
          <a:p>
            <a:pPr marL="457200" indent="-457200">
              <a:buFont typeface="+mj-lt"/>
              <a:buAutoNum type="alphaUcPeriod" startAt="4"/>
            </a:pPr>
            <a:r>
              <a:rPr lang="en-US" altLang="zh-TW" sz="2200" b="1" dirty="0"/>
              <a:t>Architecture Details</a:t>
            </a:r>
            <a:endParaRPr lang="en-US" altLang="zh-TW" sz="1800" dirty="0"/>
          </a:p>
        </p:txBody>
      </p:sp>
      <p:sp>
        <p:nvSpPr>
          <p:cNvPr id="9" name="內容版面配置區 8">
            <a:extLst>
              <a:ext uri="{FF2B5EF4-FFF2-40B4-BE49-F238E27FC236}">
                <a16:creationId xmlns:a16="http://schemas.microsoft.com/office/drawing/2014/main" id="{00EDA451-D1F0-4760-464E-3F5774751146}"/>
              </a:ext>
            </a:extLst>
          </p:cNvPr>
          <p:cNvSpPr>
            <a:spLocks noGrp="1"/>
          </p:cNvSpPr>
          <p:nvPr>
            <p:ph sz="quarter" idx="14"/>
          </p:nvPr>
        </p:nvSpPr>
        <p:spPr/>
        <p:txBody>
          <a:bodyPr/>
          <a:lstStyle/>
          <a:p>
            <a:endParaRPr lang="zh-TW" altLang="en-US" dirty="0"/>
          </a:p>
        </p:txBody>
      </p:sp>
      <p:pic>
        <p:nvPicPr>
          <p:cNvPr id="6" name="圖片 5">
            <a:extLst>
              <a:ext uri="{FF2B5EF4-FFF2-40B4-BE49-F238E27FC236}">
                <a16:creationId xmlns:a16="http://schemas.microsoft.com/office/drawing/2014/main" id="{79BA7722-551F-D84D-4B4C-C43E7919054D}"/>
              </a:ext>
            </a:extLst>
          </p:cNvPr>
          <p:cNvPicPr>
            <a:picLocks noChangeAspect="1"/>
          </p:cNvPicPr>
          <p:nvPr/>
        </p:nvPicPr>
        <p:blipFill>
          <a:blip r:embed="rId3"/>
          <a:stretch>
            <a:fillRect/>
          </a:stretch>
        </p:blipFill>
        <p:spPr>
          <a:xfrm>
            <a:off x="6627753" y="1076516"/>
            <a:ext cx="3940885" cy="5781484"/>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CEEDA2-13EB-D6AD-2735-E1EF84CB9B95}"/>
                  </a:ext>
                </a:extLst>
              </p:cNvPr>
              <p:cNvSpPr txBox="1"/>
              <p:nvPr/>
            </p:nvSpPr>
            <p:spPr>
              <a:xfrm>
                <a:off x="414818" y="2125213"/>
                <a:ext cx="6148316" cy="2607573"/>
              </a:xfrm>
              <a:prstGeom prst="rect">
                <a:avLst/>
              </a:prstGeom>
              <a:noFill/>
            </p:spPr>
            <p:txBody>
              <a:bodyPr wrap="square">
                <a:spAutoFit/>
              </a:bodyPr>
              <a:lstStyle/>
              <a:p>
                <a:pPr marL="457200" indent="-457200">
                  <a:buFont typeface="Wingdings" pitchFamily="2" charset="2"/>
                  <a:buChar char="Ø"/>
                </a:pPr>
                <a:r>
                  <a:rPr lang="en-US" altLang="zh-TW" sz="1800" b="1" dirty="0"/>
                  <a:t>Bidirectional Feature Extraction</a:t>
                </a:r>
              </a:p>
              <a:p>
                <a:pPr marL="914400" lvl="1" indent="-457200">
                  <a:buFont typeface="Arial" panose="020B0604020202020204" pitchFamily="34" charset="0"/>
                  <a:buChar char="•"/>
                </a:pPr>
                <a:r>
                  <a:rPr lang="en-US" altLang="zh-TW" dirty="0"/>
                  <a:t>Process </a:t>
                </a:r>
                <a14:m>
                  <m:oMath xmlns:m="http://schemas.openxmlformats.org/officeDocument/2006/math">
                    <m:r>
                      <a:rPr lang="en-US" altLang="zh-TW" b="0" i="1" dirty="0" smtClean="0">
                        <a:latin typeface="Cambria Math" panose="02040503050406030204" pitchFamily="18" charset="0"/>
                      </a:rPr>
                      <m:t>𝑥</m:t>
                    </m:r>
                  </m:oMath>
                </a14:m>
                <a:r>
                  <a:rPr lang="en-US" altLang="zh-TW" i="1" dirty="0">
                    <a:latin typeface="Cambria Math" panose="02040503050406030204" pitchFamily="18" charset="0"/>
                  </a:rPr>
                  <a:t> </a:t>
                </a:r>
                <a:r>
                  <a:rPr lang="en-US" altLang="zh-TW" dirty="0"/>
                  <a:t>from both forward and backward directions.</a:t>
                </a:r>
              </a:p>
              <a:p>
                <a:pPr marL="914400" lvl="1" indent="-457200">
                  <a:buFont typeface="Arial" panose="020B0604020202020204" pitchFamily="34" charset="0"/>
                  <a:buChar char="•"/>
                </a:pPr>
                <a:r>
                  <a:rPr lang="en-US" altLang="zh-TW" dirty="0"/>
                  <a:t>Apply 1-D Convolution to each direction to obtain local features </a:t>
                </a:r>
                <a14:m>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err="1">
                            <a:latin typeface="Cambria Math" panose="02040503050406030204" pitchFamily="18" charset="0"/>
                          </a:rPr>
                          <m:t>𝑥</m:t>
                        </m:r>
                      </m:e>
                      <m:sub>
                        <m:r>
                          <a:rPr lang="en-US" altLang="zh-TW" i="1" dirty="0" err="1">
                            <a:latin typeface="Cambria Math" panose="02040503050406030204" pitchFamily="18" charset="0"/>
                          </a:rPr>
                          <m:t>𝑜</m:t>
                        </m:r>
                      </m:sub>
                      <m:sup>
                        <m:r>
                          <a:rPr lang="en-US" altLang="zh-TW" i="1" dirty="0" err="1">
                            <a:latin typeface="Cambria Math" panose="02040503050406030204" pitchFamily="18" charset="0"/>
                          </a:rPr>
                          <m:t>′</m:t>
                        </m:r>
                      </m:sup>
                    </m:sSubSup>
                    <m:r>
                      <a:rPr lang="en-US" altLang="zh-TW" b="0" i="1" dirty="0" smtClean="0">
                        <a:latin typeface="Cambria Math" panose="02040503050406030204" pitchFamily="18" charset="0"/>
                      </a:rPr>
                      <m:t> .</m:t>
                    </m:r>
                  </m:oMath>
                </a14:m>
                <a:endParaRPr lang="en-US" altLang="zh-TW" dirty="0"/>
              </a:p>
              <a:p>
                <a:pPr lvl="1"/>
                <a:endParaRPr lang="en-US" altLang="zh-TW" dirty="0"/>
              </a:p>
              <a:p>
                <a:pPr marL="457200" indent="-457200">
                  <a:buFont typeface="Wingdings" pitchFamily="2" charset="2"/>
                  <a:buChar char="Ø"/>
                </a:pPr>
                <a:r>
                  <a:rPr lang="en-US" altLang="zh-TW" sz="1800" b="1" dirty="0"/>
                  <a:t>SSM Recurrence &amp; Fusion</a:t>
                </a:r>
                <a:endParaRPr lang="en-US" altLang="zh-TW" b="1" dirty="0"/>
              </a:p>
              <a:p>
                <a:pPr marL="914400" lvl="1" indent="-457200">
                  <a:buFont typeface="Arial" panose="020B0604020202020204" pitchFamily="34" charset="0"/>
                  <a:buChar char="•"/>
                </a:pPr>
                <a:r>
                  <a:rPr lang="en-US" altLang="zh-TW" dirty="0"/>
                  <a:t>Compute </a:t>
                </a:r>
                <a14:m>
                  <m:oMath xmlns:m="http://schemas.openxmlformats.org/officeDocument/2006/math">
                    <m:sSub>
                      <m:sSubPr>
                        <m:ctrlPr>
                          <a:rPr lang="en-US" altLang="zh-TW" i="1" dirty="0" smtClean="0">
                            <a:latin typeface="Cambria Math" panose="02040503050406030204" pitchFamily="18" charset="0"/>
                          </a:rPr>
                        </m:ctrlPr>
                      </m:sSubPr>
                      <m:e>
                        <m:r>
                          <a:rPr lang="en-US" altLang="zh-TW" i="1" dirty="0" smtClean="0">
                            <a:latin typeface="Cambria Math" panose="02040503050406030204" pitchFamily="18" charset="0"/>
                          </a:rPr>
                          <m:t>𝑦</m:t>
                        </m:r>
                      </m:e>
                      <m:sub>
                        <m:r>
                          <a:rPr lang="en-US" altLang="zh-TW" i="1" dirty="0" smtClean="0">
                            <a:latin typeface="Cambria Math" panose="02040503050406030204" pitchFamily="18" charset="0"/>
                          </a:rPr>
                          <m:t>𝑓𝑜𝑟𝑤𝑎𝑟𝑑</m:t>
                        </m:r>
                      </m:sub>
                    </m:sSub>
                    <m:r>
                      <a:rPr lang="en-US" altLang="zh-TW" b="0" i="1" dirty="0" smtClean="0">
                        <a:latin typeface="Cambria Math" panose="02040503050406030204" pitchFamily="18" charset="0"/>
                      </a:rPr>
                      <m:t> </m:t>
                    </m:r>
                  </m:oMath>
                </a14:m>
                <a:r>
                  <a:rPr lang="en-US" altLang="zh-TW" dirty="0"/>
                  <a:t>and </a:t>
                </a:r>
                <a14:m>
                  <m:oMath xmlns:m="http://schemas.openxmlformats.org/officeDocument/2006/math">
                    <m:sSub>
                      <m:sSubPr>
                        <m:ctrlPr>
                          <a:rPr lang="en-US" altLang="zh-TW" i="1" dirty="0" smtClean="0">
                            <a:latin typeface="Cambria Math" panose="02040503050406030204" pitchFamily="18" charset="0"/>
                          </a:rPr>
                        </m:ctrlPr>
                      </m:sSubPr>
                      <m:e>
                        <m:r>
                          <a:rPr lang="en-US" altLang="zh-TW" i="1" dirty="0" smtClean="0">
                            <a:latin typeface="Cambria Math" panose="02040503050406030204" pitchFamily="18" charset="0"/>
                          </a:rPr>
                          <m:t>𝑦</m:t>
                        </m:r>
                      </m:e>
                      <m:sub>
                        <m:r>
                          <a:rPr lang="en-US" altLang="zh-TW" i="1" dirty="0" smtClean="0">
                            <a:latin typeface="Cambria Math" panose="02040503050406030204" pitchFamily="18" charset="0"/>
                          </a:rPr>
                          <m:t>𝑏𝑎𝑐𝑘𝑤𝑎𝑟𝑑</m:t>
                        </m:r>
                      </m:sub>
                    </m:sSub>
                    <m:r>
                      <a:rPr lang="en-US" altLang="zh-TW" b="0" i="1" dirty="0" smtClean="0">
                        <a:latin typeface="Cambria Math" panose="02040503050406030204" pitchFamily="18" charset="0"/>
                      </a:rPr>
                      <m:t> </m:t>
                    </m:r>
                  </m:oMath>
                </a14:m>
                <a:r>
                  <a:rPr lang="en-US" altLang="zh-TW" dirty="0"/>
                  <a:t>through the SSM.</a:t>
                </a:r>
              </a:p>
              <a:p>
                <a:pPr marL="914400" lvl="1" indent="-457200">
                  <a:buFont typeface="Arial" panose="020B0604020202020204" pitchFamily="34" charset="0"/>
                  <a:buChar char="•"/>
                </a:pPr>
                <a:r>
                  <a:rPr lang="en-US" altLang="zh-TW" dirty="0"/>
                  <a:t>Gate both directional outputs using </a:t>
                </a:r>
                <a14:m>
                  <m:oMath xmlns:m="http://schemas.openxmlformats.org/officeDocument/2006/math">
                    <m:r>
                      <a:rPr lang="en-US" altLang="zh-TW" b="0" i="1" smtClean="0">
                        <a:latin typeface="Cambria Math" panose="02040503050406030204" pitchFamily="18" charset="0"/>
                      </a:rPr>
                      <m:t>𝑧</m:t>
                    </m:r>
                  </m:oMath>
                </a14:m>
                <a:r>
                  <a:rPr lang="en-US" altLang="zh-TW" dirty="0"/>
                  <a:t>, and sum them together to produce the final token sequence </a:t>
                </a:r>
                <a14:m>
                  <m:oMath xmlns:m="http://schemas.openxmlformats.org/officeDocument/2006/math">
                    <m:sSub>
                      <m:sSubPr>
                        <m:ctrlPr>
                          <a:rPr lang="en-US" altLang="zh-TW" i="1" dirty="0" smtClean="0">
                            <a:latin typeface="Cambria Math" panose="02040503050406030204" pitchFamily="18" charset="0"/>
                          </a:rPr>
                        </m:ctrlPr>
                      </m:sSubPr>
                      <m:e>
                        <m:r>
                          <a:rPr lang="en-US" altLang="zh-TW" i="1" dirty="0" err="1">
                            <a:latin typeface="Cambria Math" panose="02040503050406030204" pitchFamily="18" charset="0"/>
                          </a:rPr>
                          <m:t>𝑇</m:t>
                        </m:r>
                      </m:e>
                      <m:sub>
                        <m:r>
                          <a:rPr lang="en-US" altLang="zh-TW" i="1" dirty="0" err="1" smtClean="0">
                            <a:latin typeface="Cambria Math" panose="02040503050406030204" pitchFamily="18" charset="0"/>
                          </a:rPr>
                          <m:t>𝑙</m:t>
                        </m:r>
                      </m:sub>
                    </m:sSub>
                    <m:r>
                      <a:rPr lang="en-US" altLang="zh-TW" b="0" i="1" dirty="0" smtClean="0">
                        <a:latin typeface="Cambria Math" panose="02040503050406030204" pitchFamily="18" charset="0"/>
                      </a:rPr>
                      <m:t> </m:t>
                    </m:r>
                    <m:r>
                      <a:rPr lang="en-US" altLang="zh-TW" i="1" dirty="0" smtClean="0">
                        <a:latin typeface="Cambria Math" panose="02040503050406030204" pitchFamily="18" charset="0"/>
                      </a:rPr>
                      <m:t>.</m:t>
                    </m:r>
                  </m:oMath>
                </a14:m>
                <a:endParaRPr lang="en-US" altLang="zh-TW" dirty="0"/>
              </a:p>
            </p:txBody>
          </p:sp>
        </mc:Choice>
        <mc:Fallback xmlns="">
          <p:sp>
            <p:nvSpPr>
              <p:cNvPr id="8" name="TextBox 7">
                <a:extLst>
                  <a:ext uri="{FF2B5EF4-FFF2-40B4-BE49-F238E27FC236}">
                    <a16:creationId xmlns:a16="http://schemas.microsoft.com/office/drawing/2014/main" id="{42CEEDA2-13EB-D6AD-2735-E1EF84CB9B95}"/>
                  </a:ext>
                </a:extLst>
              </p:cNvPr>
              <p:cNvSpPr txBox="1">
                <a:spLocks noRot="1" noChangeAspect="1" noMove="1" noResize="1" noEditPoints="1" noAdjustHandles="1" noChangeArrowheads="1" noChangeShapeType="1" noTextEdit="1"/>
              </p:cNvSpPr>
              <p:nvPr/>
            </p:nvSpPr>
            <p:spPr>
              <a:xfrm>
                <a:off x="414818" y="2125213"/>
                <a:ext cx="6148316" cy="2607573"/>
              </a:xfrm>
              <a:prstGeom prst="rect">
                <a:avLst/>
              </a:prstGeom>
              <a:blipFill>
                <a:blip r:embed="rId4"/>
                <a:stretch>
                  <a:fillRect l="-595" t="-1405" b="-304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5909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5FF30-8104-972A-9949-2EF3BD09CD4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1A8C27E-B9FA-8D02-13A5-4C3625C6CE04}"/>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809EC927-A220-54EC-FF8F-21F754038C44}"/>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A23CD6D9-03A7-4995-E87A-0895EEB9FC14}"/>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b="1"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207032BB-F29D-ABA6-4A63-53692C0E2B8A}"/>
              </a:ext>
            </a:extLst>
          </p:cNvPr>
          <p:cNvSpPr>
            <a:spLocks noGrp="1"/>
          </p:cNvSpPr>
          <p:nvPr>
            <p:ph type="sldNum" sz="quarter" idx="12"/>
          </p:nvPr>
        </p:nvSpPr>
        <p:spPr/>
        <p:txBody>
          <a:bodyPr/>
          <a:lstStyle/>
          <a:p>
            <a:fld id="{3E97B41F-AD73-4999-8C34-7D0FF5EF3CF5}" type="slidenum">
              <a:rPr lang="zh-TW" altLang="en-US" smtClean="0"/>
              <a:t>15</a:t>
            </a:fld>
            <a:endParaRPr lang="zh-TW" altLang="en-US"/>
          </a:p>
        </p:txBody>
      </p:sp>
    </p:spTree>
    <p:extLst>
      <p:ext uri="{BB962C8B-B14F-4D97-AF65-F5344CB8AC3E}">
        <p14:creationId xmlns:p14="http://schemas.microsoft.com/office/powerpoint/2010/main" val="3530625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E1A3F-CCA0-88D5-A5E6-D5EC42D6F11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338C39-D86D-EBF3-EB3E-90C86E8F558A}"/>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8A9CA7D2-9B63-49C6-3465-07BF79F6F92A}"/>
              </a:ext>
            </a:extLst>
          </p:cNvPr>
          <p:cNvSpPr>
            <a:spLocks noGrp="1"/>
          </p:cNvSpPr>
          <p:nvPr>
            <p:ph type="sldNum" sz="quarter" idx="12"/>
          </p:nvPr>
        </p:nvSpPr>
        <p:spPr/>
        <p:txBody>
          <a:bodyPr/>
          <a:lstStyle/>
          <a:p>
            <a:fld id="{3E97B41F-AD73-4999-8C34-7D0FF5EF3CF5}" type="slidenum">
              <a:rPr lang="zh-TW" altLang="en-US" smtClean="0"/>
              <a:t>16</a:t>
            </a:fld>
            <a:endParaRPr lang="zh-TW" altLang="en-US"/>
          </a:p>
        </p:txBody>
      </p:sp>
      <p:sp>
        <p:nvSpPr>
          <p:cNvPr id="4" name="內容版面配置區 3">
            <a:extLst>
              <a:ext uri="{FF2B5EF4-FFF2-40B4-BE49-F238E27FC236}">
                <a16:creationId xmlns:a16="http://schemas.microsoft.com/office/drawing/2014/main" id="{7D6E6A4E-7318-CA74-C180-C0DDD0656140}"/>
              </a:ext>
            </a:extLst>
          </p:cNvPr>
          <p:cNvSpPr>
            <a:spLocks noGrp="1"/>
          </p:cNvSpPr>
          <p:nvPr>
            <p:ph sz="quarter" idx="13"/>
          </p:nvPr>
        </p:nvSpPr>
        <p:spPr/>
        <p:txBody>
          <a:bodyPr>
            <a:normAutofit/>
          </a:bodyPr>
          <a:lstStyle/>
          <a:p>
            <a:pPr marL="457200" indent="-457200">
              <a:buFont typeface="+mj-lt"/>
              <a:buAutoNum type="alphaUcPeriod"/>
            </a:pPr>
            <a:r>
              <a:rPr lang="en-US" sz="2200" b="1" dirty="0"/>
              <a:t>Performance and efficiency comparisons</a:t>
            </a:r>
            <a:endParaRPr lang="en-US" altLang="zh-TW" sz="2200" b="1" dirty="0"/>
          </a:p>
        </p:txBody>
      </p:sp>
      <p:sp>
        <p:nvSpPr>
          <p:cNvPr id="12" name="內容版面配置區 11">
            <a:extLst>
              <a:ext uri="{FF2B5EF4-FFF2-40B4-BE49-F238E27FC236}">
                <a16:creationId xmlns:a16="http://schemas.microsoft.com/office/drawing/2014/main" id="{1DA2060B-68DF-4F6F-C6C7-2B07851DA2A9}"/>
              </a:ext>
            </a:extLst>
          </p:cNvPr>
          <p:cNvSpPr>
            <a:spLocks noGrp="1"/>
          </p:cNvSpPr>
          <p:nvPr>
            <p:ph sz="quarter" idx="14"/>
          </p:nvPr>
        </p:nvSpPr>
        <p:spPr>
          <a:xfrm>
            <a:off x="0" y="6356352"/>
            <a:ext cx="11533517" cy="501648"/>
          </a:xfrm>
        </p:spPr>
        <p:txBody>
          <a:bodyPr/>
          <a:lstStyle/>
          <a:p>
            <a:endParaRPr lang="zh-TW" altLang="en-US" dirty="0"/>
          </a:p>
        </p:txBody>
      </p:sp>
      <p:pic>
        <p:nvPicPr>
          <p:cNvPr id="6" name="圖片 5">
            <a:extLst>
              <a:ext uri="{FF2B5EF4-FFF2-40B4-BE49-F238E27FC236}">
                <a16:creationId xmlns:a16="http://schemas.microsoft.com/office/drawing/2014/main" id="{7CA06FD7-CAD9-C341-2A1E-8626AFEB3E79}"/>
              </a:ext>
            </a:extLst>
          </p:cNvPr>
          <p:cNvPicPr>
            <a:picLocks noChangeAspect="1"/>
          </p:cNvPicPr>
          <p:nvPr/>
        </p:nvPicPr>
        <p:blipFill>
          <a:blip r:embed="rId3"/>
          <a:srcRect r="67922"/>
          <a:stretch>
            <a:fillRect/>
          </a:stretch>
        </p:blipFill>
        <p:spPr>
          <a:xfrm>
            <a:off x="449893" y="1967586"/>
            <a:ext cx="4448743" cy="3591839"/>
          </a:xfrm>
          <a:prstGeom prst="rect">
            <a:avLst/>
          </a:prstGeom>
        </p:spPr>
      </p:pic>
      <p:sp>
        <p:nvSpPr>
          <p:cNvPr id="9" name="TextBox 8">
            <a:extLst>
              <a:ext uri="{FF2B5EF4-FFF2-40B4-BE49-F238E27FC236}">
                <a16:creationId xmlns:a16="http://schemas.microsoft.com/office/drawing/2014/main" id="{C4F4D633-5CB9-4EDB-E8EB-D785671559C3}"/>
              </a:ext>
            </a:extLst>
          </p:cNvPr>
          <p:cNvSpPr txBox="1"/>
          <p:nvPr/>
        </p:nvSpPr>
        <p:spPr>
          <a:xfrm>
            <a:off x="5074000" y="2828835"/>
            <a:ext cx="6144016" cy="1200329"/>
          </a:xfrm>
          <a:prstGeom prst="rect">
            <a:avLst/>
          </a:prstGeom>
          <a:noFill/>
        </p:spPr>
        <p:txBody>
          <a:bodyPr wrap="square">
            <a:spAutoFit/>
          </a:bodyPr>
          <a:lstStyle/>
          <a:p>
            <a:pPr marL="285750" indent="-285750" algn="just">
              <a:buFont typeface="Wingdings" pitchFamily="2" charset="2"/>
              <a:buChar char="Ø"/>
            </a:pPr>
            <a:r>
              <a:rPr lang="en-TW" b="1" dirty="0"/>
              <a:t>Superior Accuracy: </a:t>
            </a:r>
            <a:r>
              <a:rPr lang="en-TW" dirty="0"/>
              <a:t>			    Outperforms traditional Vision Transformers (DeiT</a:t>
            </a:r>
            <a:r>
              <a:rPr lang="en-US" dirty="0"/>
              <a:t>-Ti</a:t>
            </a:r>
            <a:r>
              <a:rPr lang="en-TW" dirty="0"/>
              <a:t>) across all major vision tasks, including classification, detection, and segmentation.</a:t>
            </a:r>
          </a:p>
        </p:txBody>
      </p:sp>
    </p:spTree>
    <p:extLst>
      <p:ext uri="{BB962C8B-B14F-4D97-AF65-F5344CB8AC3E}">
        <p14:creationId xmlns:p14="http://schemas.microsoft.com/office/powerpoint/2010/main" val="2184700395"/>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EBFF-7861-C2B3-396A-60F8F6AABFF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BF677F4-FC4A-E2D2-D606-0BB168291C74}"/>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303784B7-4BAE-1151-F526-B377EFF81E11}"/>
              </a:ext>
            </a:extLst>
          </p:cNvPr>
          <p:cNvSpPr>
            <a:spLocks noGrp="1"/>
          </p:cNvSpPr>
          <p:nvPr>
            <p:ph type="sldNum" sz="quarter" idx="12"/>
          </p:nvPr>
        </p:nvSpPr>
        <p:spPr/>
        <p:txBody>
          <a:bodyPr/>
          <a:lstStyle/>
          <a:p>
            <a:fld id="{3E97B41F-AD73-4999-8C34-7D0FF5EF3CF5}" type="slidenum">
              <a:rPr lang="zh-TW" altLang="en-US" smtClean="0"/>
              <a:t>17</a:t>
            </a:fld>
            <a:endParaRPr lang="zh-TW" altLang="en-US"/>
          </a:p>
        </p:txBody>
      </p:sp>
      <p:sp>
        <p:nvSpPr>
          <p:cNvPr id="4" name="內容版面配置區 3">
            <a:extLst>
              <a:ext uri="{FF2B5EF4-FFF2-40B4-BE49-F238E27FC236}">
                <a16:creationId xmlns:a16="http://schemas.microsoft.com/office/drawing/2014/main" id="{87AA37C8-01B2-1899-C01E-CFBCD32D6C3E}"/>
              </a:ext>
            </a:extLst>
          </p:cNvPr>
          <p:cNvSpPr>
            <a:spLocks noGrp="1"/>
          </p:cNvSpPr>
          <p:nvPr>
            <p:ph sz="quarter" idx="13"/>
          </p:nvPr>
        </p:nvSpPr>
        <p:spPr/>
        <p:txBody>
          <a:bodyPr>
            <a:normAutofit/>
          </a:bodyPr>
          <a:lstStyle/>
          <a:p>
            <a:pPr marL="457200" indent="-457200">
              <a:buFont typeface="+mj-lt"/>
              <a:buAutoNum type="alphaUcPeriod"/>
            </a:pPr>
            <a:r>
              <a:rPr lang="en-US" sz="2200" b="1" dirty="0"/>
              <a:t>Performance and efficiency comparisons</a:t>
            </a:r>
          </a:p>
          <a:p>
            <a:pPr marL="0" indent="0">
              <a:buNone/>
            </a:pPr>
            <a:r>
              <a:rPr lang="en-US" altLang="zh-TW" sz="1800" dirty="0"/>
              <a:t>Vim is </a:t>
            </a:r>
            <a:r>
              <a:rPr lang="en-US" altLang="zh-TW" sz="1800" b="1" dirty="0"/>
              <a:t>2.8× faster </a:t>
            </a:r>
            <a:r>
              <a:rPr lang="en-US" altLang="zh-TW" sz="1800" dirty="0"/>
              <a:t>than </a:t>
            </a:r>
            <a:r>
              <a:rPr lang="en-US" altLang="zh-TW" sz="1800" dirty="0" err="1"/>
              <a:t>DeiT</a:t>
            </a:r>
            <a:r>
              <a:rPr lang="en-US" altLang="zh-TW" sz="1800" dirty="0"/>
              <a:t> and </a:t>
            </a:r>
            <a:r>
              <a:rPr lang="en-US" altLang="zh-TW" sz="1800" b="1" dirty="0"/>
              <a:t>saves</a:t>
            </a:r>
            <a:r>
              <a:rPr lang="en-US" altLang="zh-TW" sz="1800" dirty="0"/>
              <a:t> </a:t>
            </a:r>
            <a:r>
              <a:rPr lang="en-US" altLang="zh-TW" sz="1800" b="1" dirty="0"/>
              <a:t>86.8% GPU memory </a:t>
            </a:r>
            <a:r>
              <a:rPr lang="en-US" altLang="zh-TW" sz="1800" dirty="0"/>
              <a:t>when performing </a:t>
            </a:r>
            <a:r>
              <a:rPr lang="en-US" altLang="zh-TW" sz="1800" b="1" dirty="0"/>
              <a:t>batch inference </a:t>
            </a:r>
            <a:r>
              <a:rPr lang="en-US" altLang="zh-TW" sz="1800" dirty="0"/>
              <a:t>to extract features on images with a resolution of 1248×1248, i.e., 6084 tokens per image.</a:t>
            </a:r>
            <a:endParaRPr lang="en-US" altLang="zh-TW" sz="1800" b="1" dirty="0"/>
          </a:p>
        </p:txBody>
      </p:sp>
      <p:sp>
        <p:nvSpPr>
          <p:cNvPr id="12" name="內容版面配置區 11">
            <a:extLst>
              <a:ext uri="{FF2B5EF4-FFF2-40B4-BE49-F238E27FC236}">
                <a16:creationId xmlns:a16="http://schemas.microsoft.com/office/drawing/2014/main" id="{808075EC-FFAA-EAA3-74EE-2B80CDBE374D}"/>
              </a:ext>
            </a:extLst>
          </p:cNvPr>
          <p:cNvSpPr>
            <a:spLocks noGrp="1"/>
          </p:cNvSpPr>
          <p:nvPr>
            <p:ph sz="quarter" idx="14"/>
          </p:nvPr>
        </p:nvSpPr>
        <p:spPr>
          <a:xfrm>
            <a:off x="0" y="6356352"/>
            <a:ext cx="11533517" cy="501648"/>
          </a:xfrm>
        </p:spPr>
        <p:txBody>
          <a:bodyPr/>
          <a:lstStyle/>
          <a:p>
            <a:endParaRPr lang="zh-TW" altLang="en-US" dirty="0"/>
          </a:p>
        </p:txBody>
      </p:sp>
      <p:pic>
        <p:nvPicPr>
          <p:cNvPr id="7" name="圖片 5">
            <a:extLst>
              <a:ext uri="{FF2B5EF4-FFF2-40B4-BE49-F238E27FC236}">
                <a16:creationId xmlns:a16="http://schemas.microsoft.com/office/drawing/2014/main" id="{5795874D-12EE-8A3A-E792-7DA65EFD2EF0}"/>
              </a:ext>
            </a:extLst>
          </p:cNvPr>
          <p:cNvPicPr>
            <a:picLocks noChangeAspect="1"/>
          </p:cNvPicPr>
          <p:nvPr/>
        </p:nvPicPr>
        <p:blipFill>
          <a:blip r:embed="rId3"/>
          <a:srcRect l="32813" r="33908"/>
          <a:stretch>
            <a:fillRect/>
          </a:stretch>
        </p:blipFill>
        <p:spPr>
          <a:xfrm>
            <a:off x="5943600" y="2568483"/>
            <a:ext cx="4495800" cy="3498830"/>
          </a:xfrm>
          <a:prstGeom prst="rect">
            <a:avLst/>
          </a:prstGeom>
        </p:spPr>
      </p:pic>
      <p:pic>
        <p:nvPicPr>
          <p:cNvPr id="5" name="圖片 5">
            <a:extLst>
              <a:ext uri="{FF2B5EF4-FFF2-40B4-BE49-F238E27FC236}">
                <a16:creationId xmlns:a16="http://schemas.microsoft.com/office/drawing/2014/main" id="{8DF5F4EC-9AA2-2D2D-A2C2-DB9325D2BF7B}"/>
              </a:ext>
            </a:extLst>
          </p:cNvPr>
          <p:cNvPicPr>
            <a:picLocks noChangeAspect="1"/>
          </p:cNvPicPr>
          <p:nvPr/>
        </p:nvPicPr>
        <p:blipFill>
          <a:blip r:embed="rId3"/>
          <a:srcRect l="66399"/>
          <a:stretch>
            <a:fillRect/>
          </a:stretch>
        </p:blipFill>
        <p:spPr>
          <a:xfrm>
            <a:off x="838200" y="2568483"/>
            <a:ext cx="4539286" cy="3498830"/>
          </a:xfrm>
          <a:prstGeom prst="rect">
            <a:avLst/>
          </a:prstGeom>
        </p:spPr>
      </p:pic>
    </p:spTree>
    <p:extLst>
      <p:ext uri="{BB962C8B-B14F-4D97-AF65-F5344CB8AC3E}">
        <p14:creationId xmlns:p14="http://schemas.microsoft.com/office/powerpoint/2010/main" val="832675162"/>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3461E-36C7-EF80-0C57-D2D67D93192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C723B0E-5118-F452-03E7-FAC499110E0C}"/>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1952DFE1-92AD-A6D2-C3BA-EC452F3EDB13}"/>
              </a:ext>
            </a:extLst>
          </p:cNvPr>
          <p:cNvSpPr>
            <a:spLocks noGrp="1"/>
          </p:cNvSpPr>
          <p:nvPr>
            <p:ph type="sldNum" sz="quarter" idx="12"/>
          </p:nvPr>
        </p:nvSpPr>
        <p:spPr/>
        <p:txBody>
          <a:bodyPr/>
          <a:lstStyle/>
          <a:p>
            <a:fld id="{3E97B41F-AD73-4999-8C34-7D0FF5EF3CF5}" type="slidenum">
              <a:rPr lang="zh-TW" altLang="en-US" smtClean="0"/>
              <a:t>18</a:t>
            </a:fld>
            <a:endParaRPr lang="zh-TW" altLang="en-US"/>
          </a:p>
        </p:txBody>
      </p:sp>
      <p:sp>
        <p:nvSpPr>
          <p:cNvPr id="4" name="內容版面配置區 3">
            <a:extLst>
              <a:ext uri="{FF2B5EF4-FFF2-40B4-BE49-F238E27FC236}">
                <a16:creationId xmlns:a16="http://schemas.microsoft.com/office/drawing/2014/main" id="{27346108-B93C-6883-518B-0414A6C5B2F7}"/>
              </a:ext>
            </a:extLst>
          </p:cNvPr>
          <p:cNvSpPr>
            <a:spLocks noGrp="1"/>
          </p:cNvSpPr>
          <p:nvPr>
            <p:ph sz="quarter" idx="13"/>
          </p:nvPr>
        </p:nvSpPr>
        <p:spPr/>
        <p:txBody>
          <a:bodyPr>
            <a:normAutofit/>
          </a:bodyPr>
          <a:lstStyle/>
          <a:p>
            <a:pPr>
              <a:buFont typeface="+mj-lt"/>
              <a:buAutoNum type="alphaUcPeriod" startAt="2"/>
            </a:pPr>
            <a:r>
              <a:rPr lang="en-US" altLang="zh-TW" sz="2200" b="1" dirty="0"/>
              <a:t>Image Classification</a:t>
            </a:r>
          </a:p>
        </p:txBody>
      </p:sp>
      <p:sp>
        <p:nvSpPr>
          <p:cNvPr id="6" name="內容版面配置區 5">
            <a:extLst>
              <a:ext uri="{FF2B5EF4-FFF2-40B4-BE49-F238E27FC236}">
                <a16:creationId xmlns:a16="http://schemas.microsoft.com/office/drawing/2014/main" id="{7A737838-6F8C-E841-F7FF-4ACC33770109}"/>
              </a:ext>
            </a:extLst>
          </p:cNvPr>
          <p:cNvSpPr>
            <a:spLocks noGrp="1"/>
          </p:cNvSpPr>
          <p:nvPr>
            <p:ph sz="quarter" idx="14"/>
          </p:nvPr>
        </p:nvSpPr>
        <p:spPr>
          <a:xfrm>
            <a:off x="0" y="6356224"/>
            <a:ext cx="11533517" cy="501648"/>
          </a:xfrm>
        </p:spPr>
        <p:txBody>
          <a:bodyPr/>
          <a:lstStyle/>
          <a:p>
            <a:endParaRPr lang="zh-TW" altLang="en-US" dirty="0"/>
          </a:p>
        </p:txBody>
      </p:sp>
      <p:pic>
        <p:nvPicPr>
          <p:cNvPr id="8" name="圖片 7">
            <a:extLst>
              <a:ext uri="{FF2B5EF4-FFF2-40B4-BE49-F238E27FC236}">
                <a16:creationId xmlns:a16="http://schemas.microsoft.com/office/drawing/2014/main" id="{F11DC97D-DD69-5E53-CD3C-7CBD98B2BC0A}"/>
              </a:ext>
            </a:extLst>
          </p:cNvPr>
          <p:cNvPicPr>
            <a:picLocks noChangeAspect="1"/>
          </p:cNvPicPr>
          <p:nvPr/>
        </p:nvPicPr>
        <p:blipFill>
          <a:blip r:embed="rId3"/>
          <a:stretch>
            <a:fillRect/>
          </a:stretch>
        </p:blipFill>
        <p:spPr>
          <a:xfrm>
            <a:off x="6958921" y="1036605"/>
            <a:ext cx="3618510" cy="5322186"/>
          </a:xfrm>
          <a:prstGeom prst="rect">
            <a:avLst/>
          </a:prstGeom>
        </p:spPr>
      </p:pic>
      <p:sp>
        <p:nvSpPr>
          <p:cNvPr id="14" name="文字方塊 13">
            <a:extLst>
              <a:ext uri="{FF2B5EF4-FFF2-40B4-BE49-F238E27FC236}">
                <a16:creationId xmlns:a16="http://schemas.microsoft.com/office/drawing/2014/main" id="{8686FAC3-6DC8-FE1C-26D6-9636040EDCDC}"/>
              </a:ext>
            </a:extLst>
          </p:cNvPr>
          <p:cNvSpPr txBox="1"/>
          <p:nvPr/>
        </p:nvSpPr>
        <p:spPr>
          <a:xfrm>
            <a:off x="7073024" y="6361357"/>
            <a:ext cx="3618509" cy="523220"/>
          </a:xfrm>
          <a:prstGeom prst="rect">
            <a:avLst/>
          </a:prstGeom>
          <a:noFill/>
        </p:spPr>
        <p:txBody>
          <a:bodyPr wrap="square">
            <a:spAutoFit/>
          </a:bodyPr>
          <a:lstStyle/>
          <a:p>
            <a:pPr algn="just"/>
            <a:r>
              <a:rPr lang="en-US" sz="1400" dirty="0"/>
              <a:t>Table 1. Comparison with different backbones on ImageNet1K validation set. </a:t>
            </a:r>
            <a:endParaRPr lang="zh-TW" altLang="en-US" sz="1400" dirty="0"/>
          </a:p>
        </p:txBody>
      </p:sp>
      <p:sp>
        <p:nvSpPr>
          <p:cNvPr id="9" name="Rectangle 8">
            <a:extLst>
              <a:ext uri="{FF2B5EF4-FFF2-40B4-BE49-F238E27FC236}">
                <a16:creationId xmlns:a16="http://schemas.microsoft.com/office/drawing/2014/main" id="{8E7721D8-B36D-C61D-34DB-BFA3A4A64B3D}"/>
              </a:ext>
            </a:extLst>
          </p:cNvPr>
          <p:cNvSpPr/>
          <p:nvPr/>
        </p:nvSpPr>
        <p:spPr>
          <a:xfrm>
            <a:off x="7023541" y="4952978"/>
            <a:ext cx="3553890" cy="134274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 name="文字方塊 9">
            <a:extLst>
              <a:ext uri="{FF2B5EF4-FFF2-40B4-BE49-F238E27FC236}">
                <a16:creationId xmlns:a16="http://schemas.microsoft.com/office/drawing/2014/main" id="{A8C7C967-1A78-CE68-F4E7-A0A5F0B00050}"/>
              </a:ext>
            </a:extLst>
          </p:cNvPr>
          <p:cNvSpPr txBox="1"/>
          <p:nvPr/>
        </p:nvSpPr>
        <p:spPr>
          <a:xfrm>
            <a:off x="556556" y="2242554"/>
            <a:ext cx="6047309" cy="1754326"/>
          </a:xfrm>
          <a:prstGeom prst="rect">
            <a:avLst/>
          </a:prstGeom>
          <a:noFill/>
        </p:spPr>
        <p:txBody>
          <a:bodyPr wrap="square">
            <a:spAutoFit/>
          </a:bodyPr>
          <a:lstStyle/>
          <a:p>
            <a:pPr marL="285750" indent="-285750" algn="just">
              <a:buFont typeface="Wingdings" panose="05000000000000000000" pitchFamily="2" charset="2"/>
              <a:buChar char="Ø"/>
            </a:pPr>
            <a:r>
              <a:rPr lang="en-US" altLang="zh-TW" b="1" dirty="0"/>
              <a:t>Surpassing Classic </a:t>
            </a:r>
            <a:r>
              <a:rPr lang="en-US" altLang="zh-TW" b="1" dirty="0" err="1"/>
              <a:t>ConvNets</a:t>
            </a:r>
            <a:r>
              <a:rPr lang="en-US" altLang="zh-TW" b="1" dirty="0"/>
              <a:t> :</a:t>
            </a:r>
            <a:r>
              <a:rPr lang="en-US" altLang="zh-TW" dirty="0"/>
              <a:t>		   	 Significantly higher accuracy with similar parameter counts.</a:t>
            </a:r>
          </a:p>
          <a:p>
            <a:pPr marL="285750" indent="-285750" algn="just">
              <a:buFont typeface="Wingdings" panose="05000000000000000000" pitchFamily="2" charset="2"/>
              <a:buChar char="Ø"/>
            </a:pPr>
            <a:endParaRPr lang="en-US" altLang="zh-TW" dirty="0"/>
          </a:p>
          <a:p>
            <a:pPr marL="285750" indent="-285750" algn="just">
              <a:buFont typeface="Wingdings" panose="05000000000000000000" pitchFamily="2" charset="2"/>
              <a:buChar char="Ø"/>
            </a:pPr>
            <a:r>
              <a:rPr lang="en-US" altLang="zh-TW" b="1" dirty="0"/>
              <a:t>Competitive with </a:t>
            </a:r>
            <a:r>
              <a:rPr lang="en-US" altLang="zh-TW" b="1" dirty="0" err="1"/>
              <a:t>DeiT</a:t>
            </a:r>
            <a:r>
              <a:rPr lang="en-US" altLang="zh-TW" b="1" dirty="0"/>
              <a:t> :    		        </a:t>
            </a:r>
            <a:r>
              <a:rPr lang="en-US" altLang="zh-TW" dirty="0"/>
              <a:t>Achieves </a:t>
            </a:r>
            <a:r>
              <a:rPr lang="en-US" altLang="zh-TW" b="1" dirty="0"/>
              <a:t>comparable or slightly better accuracy </a:t>
            </a:r>
            <a:r>
              <a:rPr lang="en-US" altLang="zh-TW" dirty="0"/>
              <a:t>across scales. Substantial accuracy boost for Vim-Ti (+3.9%). </a:t>
            </a:r>
          </a:p>
        </p:txBody>
      </p:sp>
      <p:sp>
        <p:nvSpPr>
          <p:cNvPr id="7" name="TextBox 6">
            <a:extLst>
              <a:ext uri="{FF2B5EF4-FFF2-40B4-BE49-F238E27FC236}">
                <a16:creationId xmlns:a16="http://schemas.microsoft.com/office/drawing/2014/main" id="{FE0135B3-F737-7F50-1B7B-8D7B89FFB2E9}"/>
              </a:ext>
            </a:extLst>
          </p:cNvPr>
          <p:cNvSpPr txBox="1"/>
          <p:nvPr/>
        </p:nvSpPr>
        <p:spPr>
          <a:xfrm>
            <a:off x="4700215" y="6064366"/>
            <a:ext cx="6146156" cy="307777"/>
          </a:xfrm>
          <a:prstGeom prst="rect">
            <a:avLst/>
          </a:prstGeom>
          <a:noFill/>
        </p:spPr>
        <p:txBody>
          <a:bodyPr wrap="square">
            <a:spAutoFit/>
          </a:bodyPr>
          <a:lstStyle/>
          <a:p>
            <a:r>
              <a:rPr lang="en-US" altLang="zh-TW" sz="1400" b="0" i="0" kern="1200" dirty="0">
                <a:solidFill>
                  <a:schemeClr val="tx1"/>
                </a:solidFill>
                <a:effectLst/>
                <a:latin typeface="+mn-lt"/>
                <a:ea typeface="+mn-ea"/>
                <a:cs typeface="+mn-cs"/>
              </a:rPr>
              <a:t>† is long sequence fine-tuning</a:t>
            </a:r>
            <a:endParaRPr lang="en-TW" sz="1400" dirty="0"/>
          </a:p>
        </p:txBody>
      </p:sp>
    </p:spTree>
    <p:extLst>
      <p:ext uri="{BB962C8B-B14F-4D97-AF65-F5344CB8AC3E}">
        <p14:creationId xmlns:p14="http://schemas.microsoft.com/office/powerpoint/2010/main" val="2874561061"/>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3404D-4E52-97B1-7700-D1D8F99448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BA86F66-6ABA-588D-87AA-6E39BEE32F6F}"/>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30D0FE38-6FCA-C9CA-2795-2EA920D1DEF8}"/>
              </a:ext>
            </a:extLst>
          </p:cNvPr>
          <p:cNvSpPr>
            <a:spLocks noGrp="1"/>
          </p:cNvSpPr>
          <p:nvPr>
            <p:ph type="sldNum" sz="quarter" idx="12"/>
          </p:nvPr>
        </p:nvSpPr>
        <p:spPr/>
        <p:txBody>
          <a:bodyPr/>
          <a:lstStyle/>
          <a:p>
            <a:fld id="{3E97B41F-AD73-4999-8C34-7D0FF5EF3CF5}" type="slidenum">
              <a:rPr lang="zh-TW" altLang="en-US" smtClean="0"/>
              <a:t>19</a:t>
            </a:fld>
            <a:endParaRPr lang="zh-TW" altLang="en-US"/>
          </a:p>
        </p:txBody>
      </p:sp>
      <p:sp>
        <p:nvSpPr>
          <p:cNvPr id="4" name="內容版面配置區 3">
            <a:extLst>
              <a:ext uri="{FF2B5EF4-FFF2-40B4-BE49-F238E27FC236}">
                <a16:creationId xmlns:a16="http://schemas.microsoft.com/office/drawing/2014/main" id="{ED5811EF-C650-E101-A13B-4004EF48E73B}"/>
              </a:ext>
            </a:extLst>
          </p:cNvPr>
          <p:cNvSpPr>
            <a:spLocks noGrp="1"/>
          </p:cNvSpPr>
          <p:nvPr>
            <p:ph sz="quarter" idx="13"/>
          </p:nvPr>
        </p:nvSpPr>
        <p:spPr/>
        <p:txBody>
          <a:bodyPr>
            <a:normAutofit/>
          </a:bodyPr>
          <a:lstStyle/>
          <a:p>
            <a:pPr marL="457200" indent="-457200">
              <a:buFont typeface="+mj-lt"/>
              <a:buAutoNum type="alphaUcPeriod" startAt="3"/>
            </a:pPr>
            <a:r>
              <a:rPr lang="en-US" altLang="zh-TW" sz="2200" b="1" dirty="0"/>
              <a:t>Semantic Segmentation</a:t>
            </a:r>
          </a:p>
        </p:txBody>
      </p:sp>
      <p:sp>
        <p:nvSpPr>
          <p:cNvPr id="14" name="文字方塊 13">
            <a:extLst>
              <a:ext uri="{FF2B5EF4-FFF2-40B4-BE49-F238E27FC236}">
                <a16:creationId xmlns:a16="http://schemas.microsoft.com/office/drawing/2014/main" id="{704761F4-E966-C7AB-930B-70D02A61B363}"/>
              </a:ext>
            </a:extLst>
          </p:cNvPr>
          <p:cNvSpPr txBox="1"/>
          <p:nvPr/>
        </p:nvSpPr>
        <p:spPr>
          <a:xfrm>
            <a:off x="1563778" y="4857321"/>
            <a:ext cx="3706570" cy="523220"/>
          </a:xfrm>
          <a:prstGeom prst="rect">
            <a:avLst/>
          </a:prstGeom>
          <a:noFill/>
        </p:spPr>
        <p:txBody>
          <a:bodyPr wrap="square">
            <a:spAutoFit/>
          </a:bodyPr>
          <a:lstStyle/>
          <a:p>
            <a:pPr algn="just"/>
            <a:r>
              <a:rPr lang="en-US" sz="1400" dirty="0"/>
              <a:t>Table 2. Results of semantic segmentation on the ADE20K </a:t>
            </a:r>
            <a:r>
              <a:rPr lang="en-US" sz="1400" i="1" dirty="0" err="1"/>
              <a:t>val</a:t>
            </a:r>
            <a:r>
              <a:rPr lang="en-US" sz="1400" dirty="0"/>
              <a:t> set.</a:t>
            </a:r>
            <a:endParaRPr lang="zh-TW" altLang="en-US" sz="1400" dirty="0"/>
          </a:p>
        </p:txBody>
      </p:sp>
      <p:sp>
        <p:nvSpPr>
          <p:cNvPr id="6" name="內容版面配置區 5">
            <a:extLst>
              <a:ext uri="{FF2B5EF4-FFF2-40B4-BE49-F238E27FC236}">
                <a16:creationId xmlns:a16="http://schemas.microsoft.com/office/drawing/2014/main" id="{8CD3858F-0614-40B2-B338-7F16B9FCDA3F}"/>
              </a:ext>
            </a:extLst>
          </p:cNvPr>
          <p:cNvSpPr>
            <a:spLocks noGrp="1"/>
          </p:cNvSpPr>
          <p:nvPr>
            <p:ph sz="quarter" idx="14"/>
          </p:nvPr>
        </p:nvSpPr>
        <p:spPr>
          <a:xfrm>
            <a:off x="0" y="6356224"/>
            <a:ext cx="11533517" cy="501648"/>
          </a:xfrm>
        </p:spPr>
        <p:txBody>
          <a:bodyPr/>
          <a:lstStyle/>
          <a:p>
            <a:endParaRPr lang="zh-TW" altLang="en-US" dirty="0"/>
          </a:p>
        </p:txBody>
      </p:sp>
      <p:pic>
        <p:nvPicPr>
          <p:cNvPr id="11" name="圖片 10">
            <a:extLst>
              <a:ext uri="{FF2B5EF4-FFF2-40B4-BE49-F238E27FC236}">
                <a16:creationId xmlns:a16="http://schemas.microsoft.com/office/drawing/2014/main" id="{D9E4B20B-C729-283E-B962-7B6992008BA3}"/>
              </a:ext>
            </a:extLst>
          </p:cNvPr>
          <p:cNvPicPr>
            <a:picLocks noChangeAspect="1"/>
          </p:cNvPicPr>
          <p:nvPr/>
        </p:nvPicPr>
        <p:blipFill>
          <a:blip r:embed="rId3"/>
          <a:stretch>
            <a:fillRect/>
          </a:stretch>
        </p:blipFill>
        <p:spPr>
          <a:xfrm>
            <a:off x="838199" y="2092809"/>
            <a:ext cx="5067175" cy="2672382"/>
          </a:xfrm>
          <a:prstGeom prst="rect">
            <a:avLst/>
          </a:prstGeom>
        </p:spPr>
      </p:pic>
      <p:sp>
        <p:nvSpPr>
          <p:cNvPr id="7" name="TextBox 6">
            <a:extLst>
              <a:ext uri="{FF2B5EF4-FFF2-40B4-BE49-F238E27FC236}">
                <a16:creationId xmlns:a16="http://schemas.microsoft.com/office/drawing/2014/main" id="{1C229083-035D-7448-C039-1DB88F2D9CB8}"/>
              </a:ext>
            </a:extLst>
          </p:cNvPr>
          <p:cNvSpPr txBox="1"/>
          <p:nvPr/>
        </p:nvSpPr>
        <p:spPr>
          <a:xfrm>
            <a:off x="5995928" y="2092809"/>
            <a:ext cx="5312596" cy="2031325"/>
          </a:xfrm>
          <a:prstGeom prst="rect">
            <a:avLst/>
          </a:prstGeom>
          <a:noFill/>
        </p:spPr>
        <p:txBody>
          <a:bodyPr wrap="square">
            <a:spAutoFit/>
          </a:bodyPr>
          <a:lstStyle/>
          <a:p>
            <a:pPr marL="285750" indent="-285750" algn="just">
              <a:buFont typeface="Wingdings" pitchFamily="2" charset="2"/>
              <a:buChar char="Ø"/>
            </a:pPr>
            <a:r>
              <a:rPr lang="en-US" dirty="0"/>
              <a:t>Vim better than </a:t>
            </a:r>
            <a:r>
              <a:rPr lang="en-US" dirty="0" err="1"/>
              <a:t>DeiT</a:t>
            </a:r>
            <a:r>
              <a:rPr lang="en-US" dirty="0"/>
              <a:t> across different scales: </a:t>
            </a:r>
            <a:r>
              <a:rPr lang="en-US" b="1" dirty="0"/>
              <a:t>1.8 </a:t>
            </a:r>
            <a:r>
              <a:rPr lang="en-US" b="1" dirty="0" err="1"/>
              <a:t>mIoU</a:t>
            </a:r>
            <a:r>
              <a:rPr lang="en-US" b="1" dirty="0"/>
              <a:t> higher </a:t>
            </a:r>
            <a:r>
              <a:rPr lang="en-US" dirty="0"/>
              <a:t>for Vim-Ti over </a:t>
            </a:r>
            <a:r>
              <a:rPr lang="en-US" dirty="0" err="1"/>
              <a:t>DeiT</a:t>
            </a:r>
            <a:r>
              <a:rPr lang="en-US" dirty="0"/>
              <a:t>-Ti, and </a:t>
            </a:r>
            <a:r>
              <a:rPr lang="en-US" b="1" dirty="0"/>
              <a:t>0.9 </a:t>
            </a:r>
            <a:r>
              <a:rPr lang="en-US" b="1" dirty="0" err="1"/>
              <a:t>mIoU</a:t>
            </a:r>
            <a:r>
              <a:rPr lang="en-US" b="1" dirty="0"/>
              <a:t> higher </a:t>
            </a:r>
            <a:r>
              <a:rPr lang="en-US" dirty="0"/>
              <a:t>for Vim-S over </a:t>
            </a:r>
            <a:r>
              <a:rPr lang="en-US" dirty="0" err="1"/>
              <a:t>DeiT</a:t>
            </a:r>
            <a:r>
              <a:rPr lang="en-US" dirty="0"/>
              <a:t>-S. </a:t>
            </a:r>
          </a:p>
          <a:p>
            <a:pPr marL="285750" indent="-285750" algn="just">
              <a:buFont typeface="Wingdings" pitchFamily="2" charset="2"/>
              <a:buChar char="Ø"/>
            </a:pPr>
            <a:endParaRPr lang="en-US" dirty="0"/>
          </a:p>
          <a:p>
            <a:pPr marL="285750" indent="-285750" algn="just">
              <a:buFont typeface="Wingdings" pitchFamily="2" charset="2"/>
              <a:buChar char="Ø"/>
            </a:pPr>
            <a:r>
              <a:rPr lang="en-US" dirty="0"/>
              <a:t>Compared to the ResNet-101 backbone, our Vim-S achieves the same segmentation performance with </a:t>
            </a:r>
            <a:r>
              <a:rPr lang="en-US" b="1" dirty="0"/>
              <a:t>nearly 2 x fewer parameters</a:t>
            </a:r>
            <a:r>
              <a:rPr lang="en-US" dirty="0"/>
              <a:t>.</a:t>
            </a:r>
            <a:endParaRPr lang="en-TW" dirty="0"/>
          </a:p>
        </p:txBody>
      </p:sp>
      <p:sp>
        <p:nvSpPr>
          <p:cNvPr id="8" name="Rectangle 7">
            <a:extLst>
              <a:ext uri="{FF2B5EF4-FFF2-40B4-BE49-F238E27FC236}">
                <a16:creationId xmlns:a16="http://schemas.microsoft.com/office/drawing/2014/main" id="{FE2DBC80-533C-6C2D-0C08-9AE2D9F89BED}"/>
              </a:ext>
            </a:extLst>
          </p:cNvPr>
          <p:cNvSpPr/>
          <p:nvPr/>
        </p:nvSpPr>
        <p:spPr>
          <a:xfrm>
            <a:off x="883476" y="4124134"/>
            <a:ext cx="5067175" cy="641057"/>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Tree>
    <p:extLst>
      <p:ext uri="{BB962C8B-B14F-4D97-AF65-F5344CB8AC3E}">
        <p14:creationId xmlns:p14="http://schemas.microsoft.com/office/powerpoint/2010/main" val="167730034"/>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EDC21-576A-49BA-93C5-AB991AA82EE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EEE2FEC-F33F-7DBB-442A-632D925089E0}"/>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4BF072B1-18F9-F9D8-8B5F-9D4AD549E3BE}"/>
              </a:ext>
            </a:extLst>
          </p:cNvPr>
          <p:cNvSpPr>
            <a:spLocks noGrp="1"/>
          </p:cNvSpPr>
          <p:nvPr>
            <p:ph type="sldNum" sz="quarter" idx="12"/>
          </p:nvPr>
        </p:nvSpPr>
        <p:spPr/>
        <p:txBody>
          <a:bodyPr/>
          <a:lstStyle/>
          <a:p>
            <a:fld id="{3E97B41F-AD73-4999-8C34-7D0FF5EF3CF5}" type="slidenum">
              <a:rPr lang="zh-TW" altLang="en-US" smtClean="0"/>
              <a:t>20</a:t>
            </a:fld>
            <a:endParaRPr lang="zh-TW" altLang="en-US"/>
          </a:p>
        </p:txBody>
      </p:sp>
      <p:sp>
        <p:nvSpPr>
          <p:cNvPr id="4" name="內容版面配置區 3">
            <a:extLst>
              <a:ext uri="{FF2B5EF4-FFF2-40B4-BE49-F238E27FC236}">
                <a16:creationId xmlns:a16="http://schemas.microsoft.com/office/drawing/2014/main" id="{A15EF671-0B71-03EE-CAB3-1201C24A09B2}"/>
              </a:ext>
            </a:extLst>
          </p:cNvPr>
          <p:cNvSpPr>
            <a:spLocks noGrp="1"/>
          </p:cNvSpPr>
          <p:nvPr>
            <p:ph sz="quarter" idx="13"/>
          </p:nvPr>
        </p:nvSpPr>
        <p:spPr/>
        <p:txBody>
          <a:bodyPr>
            <a:normAutofit/>
          </a:bodyPr>
          <a:lstStyle/>
          <a:p>
            <a:pPr marL="457200" indent="-457200">
              <a:buFont typeface="+mj-lt"/>
              <a:buAutoNum type="alphaUcPeriod" startAt="4"/>
            </a:pPr>
            <a:r>
              <a:rPr lang="en-US" altLang="zh-TW" sz="2200" b="1" dirty="0"/>
              <a:t>Object Detection and Instance Segmentation</a:t>
            </a:r>
          </a:p>
        </p:txBody>
      </p:sp>
      <p:sp>
        <p:nvSpPr>
          <p:cNvPr id="14" name="文字方塊 13">
            <a:extLst>
              <a:ext uri="{FF2B5EF4-FFF2-40B4-BE49-F238E27FC236}">
                <a16:creationId xmlns:a16="http://schemas.microsoft.com/office/drawing/2014/main" id="{A9EA6BBD-1E78-9525-98C7-5FC4BA2DF280}"/>
              </a:ext>
            </a:extLst>
          </p:cNvPr>
          <p:cNvSpPr txBox="1"/>
          <p:nvPr/>
        </p:nvSpPr>
        <p:spPr>
          <a:xfrm>
            <a:off x="1297958" y="4486187"/>
            <a:ext cx="3817447" cy="523220"/>
          </a:xfrm>
          <a:prstGeom prst="rect">
            <a:avLst/>
          </a:prstGeom>
          <a:noFill/>
        </p:spPr>
        <p:txBody>
          <a:bodyPr wrap="square">
            <a:spAutoFit/>
          </a:bodyPr>
          <a:lstStyle/>
          <a:p>
            <a:pPr algn="just"/>
            <a:r>
              <a:rPr lang="en-US" sz="1400" dirty="0"/>
              <a:t>Table 3. Results of object detection and instance segmentation on the COCO </a:t>
            </a:r>
            <a:r>
              <a:rPr lang="en-US" sz="1400" dirty="0" err="1"/>
              <a:t>val</a:t>
            </a:r>
            <a:r>
              <a:rPr lang="en-US" sz="1400" dirty="0"/>
              <a:t> set</a:t>
            </a:r>
            <a:endParaRPr lang="zh-TW" altLang="en-US" sz="1400" dirty="0"/>
          </a:p>
        </p:txBody>
      </p:sp>
      <p:sp>
        <p:nvSpPr>
          <p:cNvPr id="6" name="內容版面配置區 5">
            <a:extLst>
              <a:ext uri="{FF2B5EF4-FFF2-40B4-BE49-F238E27FC236}">
                <a16:creationId xmlns:a16="http://schemas.microsoft.com/office/drawing/2014/main" id="{E5CC274B-66AA-E142-246B-53AF0CFB6FB0}"/>
              </a:ext>
            </a:extLst>
          </p:cNvPr>
          <p:cNvSpPr>
            <a:spLocks noGrp="1"/>
          </p:cNvSpPr>
          <p:nvPr>
            <p:ph sz="quarter" idx="14"/>
          </p:nvPr>
        </p:nvSpPr>
        <p:spPr>
          <a:xfrm>
            <a:off x="0" y="6356224"/>
            <a:ext cx="11533517" cy="501648"/>
          </a:xfrm>
        </p:spPr>
        <p:txBody>
          <a:bodyPr/>
          <a:lstStyle/>
          <a:p>
            <a:endParaRPr lang="zh-TW" altLang="en-US" dirty="0"/>
          </a:p>
        </p:txBody>
      </p:sp>
      <p:pic>
        <p:nvPicPr>
          <p:cNvPr id="11" name="圖片 10">
            <a:extLst>
              <a:ext uri="{FF2B5EF4-FFF2-40B4-BE49-F238E27FC236}">
                <a16:creationId xmlns:a16="http://schemas.microsoft.com/office/drawing/2014/main" id="{ADA5CD5D-2A5B-3BF8-3BBD-E091F08AFD7D}"/>
              </a:ext>
            </a:extLst>
          </p:cNvPr>
          <p:cNvPicPr>
            <a:picLocks noChangeAspect="1"/>
          </p:cNvPicPr>
          <p:nvPr/>
        </p:nvPicPr>
        <p:blipFill>
          <a:blip r:embed="rId3"/>
          <a:stretch>
            <a:fillRect/>
          </a:stretch>
        </p:blipFill>
        <p:spPr>
          <a:xfrm>
            <a:off x="186847" y="2383782"/>
            <a:ext cx="5528873" cy="2010275"/>
          </a:xfrm>
          <a:prstGeom prst="rect">
            <a:avLst/>
          </a:prstGeom>
        </p:spPr>
      </p:pic>
      <p:sp>
        <p:nvSpPr>
          <p:cNvPr id="5" name="Rectangle 4">
            <a:extLst>
              <a:ext uri="{FF2B5EF4-FFF2-40B4-BE49-F238E27FC236}">
                <a16:creationId xmlns:a16="http://schemas.microsoft.com/office/drawing/2014/main" id="{D7E1A781-43FD-9BE1-9113-2EA89D6E8684}"/>
              </a:ext>
            </a:extLst>
          </p:cNvPr>
          <p:cNvSpPr/>
          <p:nvPr/>
        </p:nvSpPr>
        <p:spPr>
          <a:xfrm>
            <a:off x="186847" y="3993301"/>
            <a:ext cx="5528873" cy="34061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 name="Rectangle 6">
            <a:extLst>
              <a:ext uri="{FF2B5EF4-FFF2-40B4-BE49-F238E27FC236}">
                <a16:creationId xmlns:a16="http://schemas.microsoft.com/office/drawing/2014/main" id="{6D63FFAF-5EF1-A279-DFBE-D55D4B83CD1D}"/>
              </a:ext>
            </a:extLst>
          </p:cNvPr>
          <p:cNvSpPr/>
          <p:nvPr/>
        </p:nvSpPr>
        <p:spPr>
          <a:xfrm>
            <a:off x="186847" y="3078850"/>
            <a:ext cx="5528873" cy="34061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5CC7949-29EC-D60C-8263-64BF0F2F0361}"/>
                  </a:ext>
                </a:extLst>
              </p:cNvPr>
              <p:cNvSpPr txBox="1"/>
              <p:nvPr/>
            </p:nvSpPr>
            <p:spPr>
              <a:xfrm>
                <a:off x="5897907" y="2451793"/>
                <a:ext cx="5074893" cy="2318199"/>
              </a:xfrm>
              <a:prstGeom prst="rect">
                <a:avLst/>
              </a:prstGeom>
              <a:noFill/>
            </p:spPr>
            <p:txBody>
              <a:bodyPr wrap="square">
                <a:spAutoFit/>
              </a:bodyPr>
              <a:lstStyle/>
              <a:p>
                <a:pPr marL="285750" indent="-285750" algn="just">
                  <a:buFont typeface="Wingdings" pitchFamily="2" charset="2"/>
                  <a:buChar char="Ø"/>
                </a:pPr>
                <a:r>
                  <a:rPr lang="en-TW" dirty="0"/>
                  <a:t>Higher Overall Accuracy:			                   Vim-Ti outperforms DeiT-Ti by </a:t>
                </a:r>
                <a:r>
                  <a:rPr lang="en-TW" b="1" dirty="0"/>
                  <a:t>+1.3 </a:t>
                </a:r>
                <a14:m>
                  <m:oMath xmlns:m="http://schemas.openxmlformats.org/officeDocument/2006/math">
                    <m:r>
                      <a:rPr lang="en-TW" b="1" i="1" dirty="0" smtClean="0">
                        <a:latin typeface="Cambria Math" panose="02040503050406030204" pitchFamily="18" charset="0"/>
                      </a:rPr>
                      <m:t>𝑨</m:t>
                    </m:r>
                    <m:sSup>
                      <m:sSupPr>
                        <m:ctrlPr>
                          <a:rPr lang="en-TW" b="1" i="1" dirty="0" smtClean="0">
                            <a:latin typeface="Cambria Math" panose="02040503050406030204" pitchFamily="18" charset="0"/>
                          </a:rPr>
                        </m:ctrlPr>
                      </m:sSupPr>
                      <m:e>
                        <m:r>
                          <a:rPr lang="en-TW" b="1" i="1" dirty="0" smtClean="0">
                            <a:latin typeface="Cambria Math" panose="02040503050406030204" pitchFamily="18" charset="0"/>
                          </a:rPr>
                          <m:t>𝑷</m:t>
                        </m:r>
                      </m:e>
                      <m:sup>
                        <m:r>
                          <a:rPr lang="en-TW" b="1" i="1" dirty="0" smtClean="0">
                            <a:latin typeface="Cambria Math" panose="02040503050406030204" pitchFamily="18" charset="0"/>
                          </a:rPr>
                          <m:t>𝒃𝒐𝒙</m:t>
                        </m:r>
                      </m:sup>
                    </m:sSup>
                  </m:oMath>
                </a14:m>
                <a:r>
                  <a:rPr lang="en-TW" dirty="0"/>
                  <a:t> and </a:t>
                </a:r>
                <a:r>
                  <a:rPr lang="en-TW" b="1" dirty="0"/>
                  <a:t>+1.1 </a:t>
                </a:r>
                <a14:m>
                  <m:oMath xmlns:m="http://schemas.openxmlformats.org/officeDocument/2006/math">
                    <m:r>
                      <a:rPr lang="en-TW" b="1" i="1" dirty="0" smtClean="0">
                        <a:latin typeface="Cambria Math" panose="02040503050406030204" pitchFamily="18" charset="0"/>
                      </a:rPr>
                      <m:t>𝑨</m:t>
                    </m:r>
                    <m:sSup>
                      <m:sSupPr>
                        <m:ctrlPr>
                          <a:rPr lang="en-TW" b="1" i="1" dirty="0" smtClean="0">
                            <a:latin typeface="Cambria Math" panose="02040503050406030204" pitchFamily="18" charset="0"/>
                          </a:rPr>
                        </m:ctrlPr>
                      </m:sSupPr>
                      <m:e>
                        <m:r>
                          <a:rPr lang="en-TW" b="1" i="1" dirty="0" smtClean="0">
                            <a:latin typeface="Cambria Math" panose="02040503050406030204" pitchFamily="18" charset="0"/>
                          </a:rPr>
                          <m:t>𝑷</m:t>
                        </m:r>
                      </m:e>
                      <m:sup>
                        <m:r>
                          <a:rPr lang="en-TW" b="1" i="1" dirty="0" smtClean="0">
                            <a:latin typeface="Cambria Math" panose="02040503050406030204" pitchFamily="18" charset="0"/>
                          </a:rPr>
                          <m:t>𝒎𝒂𝒔𝒌</m:t>
                        </m:r>
                      </m:sup>
                    </m:sSup>
                  </m:oMath>
                </a14:m>
                <a:r>
                  <a:rPr lang="en-TW" dirty="0"/>
                  <a:t>.</a:t>
                </a:r>
                <a:endParaRPr lang="en-US" dirty="0"/>
              </a:p>
              <a:p>
                <a:pPr marL="285750" indent="-285750" algn="just">
                  <a:buFont typeface="Wingdings" pitchFamily="2" charset="2"/>
                  <a:buChar char="Ø"/>
                </a:pPr>
                <a:endParaRPr lang="en-TW" dirty="0"/>
              </a:p>
              <a:p>
                <a:pPr marL="285750" indent="-285750" algn="just">
                  <a:buFont typeface="Wingdings" pitchFamily="2" charset="2"/>
                  <a:buChar char="Ø"/>
                </a:pPr>
                <a:r>
                  <a:rPr lang="en-TW" dirty="0"/>
                  <a:t>Exceptional on Medium &amp; Large Objects:	</a:t>
                </a:r>
                <a:r>
                  <a:rPr lang="zh-TW" altLang="en-US" dirty="0"/>
                  <a:t>  </a:t>
                </a:r>
                <a:r>
                  <a:rPr lang="en-TW" dirty="0"/>
                  <a:t>While performance on small objects (</a:t>
                </a:r>
                <a14:m>
                  <m:oMath xmlns:m="http://schemas.openxmlformats.org/officeDocument/2006/math">
                    <m:r>
                      <a:rPr lang="en-TW" i="1" dirty="0">
                        <a:latin typeface="Cambria Math" panose="02040503050406030204" pitchFamily="18" charset="0"/>
                      </a:rPr>
                      <m:t>𝐴</m:t>
                    </m:r>
                    <m:sSub>
                      <m:sSubPr>
                        <m:ctrlPr>
                          <a:rPr lang="en-TW" i="1" dirty="0">
                            <a:latin typeface="Cambria Math" panose="02040503050406030204" pitchFamily="18" charset="0"/>
                          </a:rPr>
                        </m:ctrlPr>
                      </m:sSubPr>
                      <m:e>
                        <m:r>
                          <a:rPr lang="en-TW" i="1" dirty="0">
                            <a:latin typeface="Cambria Math" panose="02040503050406030204" pitchFamily="18" charset="0"/>
                          </a:rPr>
                          <m:t>𝑃</m:t>
                        </m:r>
                      </m:e>
                      <m:sub>
                        <m:r>
                          <a:rPr lang="en-US" b="0" i="1" dirty="0" smtClean="0">
                            <a:latin typeface="Cambria Math" panose="02040503050406030204" pitchFamily="18" charset="0"/>
                          </a:rPr>
                          <m:t>𝑠</m:t>
                        </m:r>
                      </m:sub>
                    </m:sSub>
                    <m:r>
                      <a:rPr lang="en-US" b="0" i="1" dirty="0" smtClean="0">
                        <a:latin typeface="Cambria Math" panose="02040503050406030204" pitchFamily="18" charset="0"/>
                      </a:rPr>
                      <m:t>)</m:t>
                    </m:r>
                    <m:r>
                      <a:rPr lang="en-US" i="1" dirty="0">
                        <a:latin typeface="Cambria Math" panose="02040503050406030204" pitchFamily="18" charset="0"/>
                      </a:rPr>
                      <m:t> </m:t>
                    </m:r>
                  </m:oMath>
                </a14:m>
                <a:r>
                  <a:rPr lang="en-TW" dirty="0"/>
                  <a:t>is identical, Vim </a:t>
                </a:r>
                <a:r>
                  <a:rPr lang="en-US" dirty="0"/>
                  <a:t>outperforms </a:t>
                </a:r>
                <a:r>
                  <a:rPr lang="en-TW" dirty="0"/>
                  <a:t>DeiT on medium </a:t>
                </a:r>
                <a14:m>
                  <m:oMath xmlns:m="http://schemas.openxmlformats.org/officeDocument/2006/math">
                    <m:d>
                      <m:dPr>
                        <m:ctrlPr>
                          <a:rPr lang="en-TW" i="1" dirty="0" smtClean="0">
                            <a:latin typeface="Cambria Math" panose="02040503050406030204" pitchFamily="18" charset="0"/>
                          </a:rPr>
                        </m:ctrlPr>
                      </m:dPr>
                      <m:e>
                        <m:r>
                          <a:rPr lang="en-TW" i="1" dirty="0" smtClean="0">
                            <a:latin typeface="Cambria Math" panose="02040503050406030204" pitchFamily="18" charset="0"/>
                          </a:rPr>
                          <m:t>𝐴</m:t>
                        </m:r>
                        <m:sSub>
                          <m:sSubPr>
                            <m:ctrlPr>
                              <a:rPr lang="en-TW" i="1" dirty="0" smtClean="0">
                                <a:latin typeface="Cambria Math" panose="02040503050406030204" pitchFamily="18" charset="0"/>
                              </a:rPr>
                            </m:ctrlPr>
                          </m:sSubPr>
                          <m:e>
                            <m:r>
                              <a:rPr lang="en-TW" i="1" dirty="0" smtClean="0">
                                <a:latin typeface="Cambria Math" panose="02040503050406030204" pitchFamily="18" charset="0"/>
                              </a:rPr>
                              <m:t>𝑃</m:t>
                            </m:r>
                          </m:e>
                          <m:sub>
                            <m:r>
                              <a:rPr lang="en-US" b="0" i="1" dirty="0" smtClean="0">
                                <a:latin typeface="Cambria Math" panose="02040503050406030204" pitchFamily="18" charset="0"/>
                              </a:rPr>
                              <m:t>𝑚</m:t>
                            </m:r>
                          </m:sub>
                        </m:sSub>
                      </m:e>
                    </m:d>
                  </m:oMath>
                </a14:m>
                <a:r>
                  <a:rPr lang="en-US" dirty="0"/>
                  <a:t> </a:t>
                </a:r>
                <a:r>
                  <a:rPr lang="en-TW" dirty="0"/>
                  <a:t>and large objects</a:t>
                </a:r>
                <a:r>
                  <a:rPr lang="en-TW" altLang="zh-TW" dirty="0"/>
                  <a:t> </a:t>
                </a:r>
                <a14:m>
                  <m:oMath xmlns:m="http://schemas.openxmlformats.org/officeDocument/2006/math">
                    <m:d>
                      <m:dPr>
                        <m:ctrlPr>
                          <a:rPr lang="en-TW" altLang="zh-TW" i="1" dirty="0">
                            <a:latin typeface="Cambria Math" panose="02040503050406030204" pitchFamily="18" charset="0"/>
                          </a:rPr>
                        </m:ctrlPr>
                      </m:dPr>
                      <m:e>
                        <m:r>
                          <a:rPr lang="en-TW" altLang="zh-TW" i="1" dirty="0">
                            <a:latin typeface="Cambria Math" panose="02040503050406030204" pitchFamily="18" charset="0"/>
                          </a:rPr>
                          <m:t>𝐴</m:t>
                        </m:r>
                        <m:sSub>
                          <m:sSubPr>
                            <m:ctrlPr>
                              <a:rPr lang="en-TW" altLang="zh-TW" i="1" dirty="0">
                                <a:latin typeface="Cambria Math" panose="02040503050406030204" pitchFamily="18" charset="0"/>
                              </a:rPr>
                            </m:ctrlPr>
                          </m:sSubPr>
                          <m:e>
                            <m:r>
                              <a:rPr lang="en-TW" altLang="zh-TW" i="1" dirty="0">
                                <a:latin typeface="Cambria Math" panose="02040503050406030204" pitchFamily="18" charset="0"/>
                              </a:rPr>
                              <m:t>𝑃</m:t>
                            </m:r>
                          </m:e>
                          <m:sub>
                            <m:r>
                              <a:rPr lang="en-US" altLang="zh-TW" i="1" dirty="0">
                                <a:latin typeface="Cambria Math" panose="02040503050406030204" pitchFamily="18" charset="0"/>
                              </a:rPr>
                              <m:t>𝑙</m:t>
                            </m:r>
                          </m:sub>
                        </m:sSub>
                      </m:e>
                    </m:d>
                  </m:oMath>
                </a14:m>
                <a:r>
                  <a:rPr lang="en-TW" dirty="0"/>
                  <a:t>.</a:t>
                </a:r>
              </a:p>
            </p:txBody>
          </p:sp>
        </mc:Choice>
        <mc:Fallback xmlns="">
          <p:sp>
            <p:nvSpPr>
              <p:cNvPr id="12" name="TextBox 11">
                <a:extLst>
                  <a:ext uri="{FF2B5EF4-FFF2-40B4-BE49-F238E27FC236}">
                    <a16:creationId xmlns:a16="http://schemas.microsoft.com/office/drawing/2014/main" id="{D5CC7949-29EC-D60C-8263-64BF0F2F0361}"/>
                  </a:ext>
                </a:extLst>
              </p:cNvPr>
              <p:cNvSpPr txBox="1">
                <a:spLocks noRot="1" noChangeAspect="1" noMove="1" noResize="1" noEditPoints="1" noAdjustHandles="1" noChangeArrowheads="1" noChangeShapeType="1" noTextEdit="1"/>
              </p:cNvSpPr>
              <p:nvPr/>
            </p:nvSpPr>
            <p:spPr>
              <a:xfrm>
                <a:off x="5897907" y="2451793"/>
                <a:ext cx="5074893" cy="2318199"/>
              </a:xfrm>
              <a:prstGeom prst="rect">
                <a:avLst/>
              </a:prstGeom>
              <a:blipFill>
                <a:blip r:embed="rId4"/>
                <a:stretch>
                  <a:fillRect l="-841" t="-1316" r="-962" b="-3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17534999"/>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0AD6A-BEF6-6375-582A-22AFEEEE0D5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8E4C96C-B60B-16B6-EA3E-ED359CF40FB7}"/>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E1E00E80-300E-5B5B-B5D6-DBA042AF1956}"/>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FC4EF91E-A7EE-1C90-AA9D-88641133A250}"/>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b="1" dirty="0"/>
              <a:t>Conclusion</a:t>
            </a:r>
          </a:p>
        </p:txBody>
      </p:sp>
      <p:sp>
        <p:nvSpPr>
          <p:cNvPr id="8" name="投影片編號版面配置區 7">
            <a:extLst>
              <a:ext uri="{FF2B5EF4-FFF2-40B4-BE49-F238E27FC236}">
                <a16:creationId xmlns:a16="http://schemas.microsoft.com/office/drawing/2014/main" id="{1AC26E18-99E8-8C67-8DEC-483B5EA2F873}"/>
              </a:ext>
            </a:extLst>
          </p:cNvPr>
          <p:cNvSpPr>
            <a:spLocks noGrp="1"/>
          </p:cNvSpPr>
          <p:nvPr>
            <p:ph type="sldNum" sz="quarter" idx="12"/>
          </p:nvPr>
        </p:nvSpPr>
        <p:spPr/>
        <p:txBody>
          <a:bodyPr/>
          <a:lstStyle/>
          <a:p>
            <a:fld id="{3E97B41F-AD73-4999-8C34-7D0FF5EF3CF5}" type="slidenum">
              <a:rPr lang="zh-TW" altLang="en-US" smtClean="0"/>
              <a:t>21</a:t>
            </a:fld>
            <a:endParaRPr lang="zh-TW" altLang="en-US"/>
          </a:p>
        </p:txBody>
      </p:sp>
    </p:spTree>
    <p:extLst>
      <p:ext uri="{BB962C8B-B14F-4D97-AF65-F5344CB8AC3E}">
        <p14:creationId xmlns:p14="http://schemas.microsoft.com/office/powerpoint/2010/main" val="2584757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55CDA4-24DB-27D9-D872-D15E21205B4C}"/>
              </a:ext>
            </a:extLst>
          </p:cNvPr>
          <p:cNvSpPr>
            <a:spLocks noGrp="1"/>
          </p:cNvSpPr>
          <p:nvPr>
            <p:ph type="title"/>
          </p:nvPr>
        </p:nvSpPr>
        <p:spPr/>
        <p:txBody>
          <a:bodyPr/>
          <a:lstStyle/>
          <a:p>
            <a:r>
              <a:rPr lang="en-US" altLang="zh-TW" dirty="0"/>
              <a:t>V. Conclusion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1BB83462-DE88-93EE-2206-7D8324FDF017}"/>
              </a:ext>
            </a:extLst>
          </p:cNvPr>
          <p:cNvSpPr>
            <a:spLocks noGrp="1"/>
          </p:cNvSpPr>
          <p:nvPr>
            <p:ph type="sldNum" sz="quarter" idx="12"/>
          </p:nvPr>
        </p:nvSpPr>
        <p:spPr/>
        <p:txBody>
          <a:bodyPr/>
          <a:lstStyle/>
          <a:p>
            <a:fld id="{3E97B41F-AD73-4999-8C34-7D0FF5EF3CF5}" type="slidenum">
              <a:rPr lang="zh-TW" altLang="en-US" smtClean="0"/>
              <a:t>22</a:t>
            </a:fld>
            <a:endParaRPr lang="zh-TW" altLang="en-US"/>
          </a:p>
        </p:txBody>
      </p:sp>
      <p:sp>
        <p:nvSpPr>
          <p:cNvPr id="4" name="內容版面配置區 3">
            <a:extLst>
              <a:ext uri="{FF2B5EF4-FFF2-40B4-BE49-F238E27FC236}">
                <a16:creationId xmlns:a16="http://schemas.microsoft.com/office/drawing/2014/main" id="{F535ED43-91A3-C700-E38A-8F5854B1B930}"/>
              </a:ext>
            </a:extLst>
          </p:cNvPr>
          <p:cNvSpPr>
            <a:spLocks noGrp="1"/>
          </p:cNvSpPr>
          <p:nvPr>
            <p:ph sz="quarter" idx="13"/>
          </p:nvPr>
        </p:nvSpPr>
        <p:spPr>
          <a:xfrm>
            <a:off x="838199" y="1298575"/>
            <a:ext cx="9737913" cy="4905375"/>
          </a:xfrm>
        </p:spPr>
        <p:txBody>
          <a:bodyPr>
            <a:normAutofit/>
          </a:bodyPr>
          <a:lstStyle/>
          <a:p>
            <a:r>
              <a:rPr lang="en-US" altLang="zh-TW" dirty="0"/>
              <a:t>By utilizing State Space Models (SSMs) to overcome the computational bottlenecks of Attention, Vim significantly outperforms standard </a:t>
            </a:r>
            <a:r>
              <a:rPr lang="en-US" altLang="zh-TW" dirty="0" err="1"/>
              <a:t>ViTs</a:t>
            </a:r>
            <a:r>
              <a:rPr lang="en-US" altLang="zh-TW" dirty="0"/>
              <a:t> in both inference speed and memory efficiency when processing high-resolution images (1248 × 1248).</a:t>
            </a:r>
          </a:p>
          <a:p>
            <a:r>
              <a:rPr lang="en-US" altLang="zh-TW" dirty="0"/>
              <a:t>Experiment results on standard computer vision benchmarks have verified the modeling power and high efficiency of Vim, showing that Vim has great potential to be the next-generation vision backbone.</a:t>
            </a:r>
          </a:p>
        </p:txBody>
      </p:sp>
      <p:sp>
        <p:nvSpPr>
          <p:cNvPr id="5" name="內容版面配置區 4">
            <a:extLst>
              <a:ext uri="{FF2B5EF4-FFF2-40B4-BE49-F238E27FC236}">
                <a16:creationId xmlns:a16="http://schemas.microsoft.com/office/drawing/2014/main" id="{B9ACFF75-2A84-2570-0EE4-36D15B19E26D}"/>
              </a:ext>
            </a:extLst>
          </p:cNvPr>
          <p:cNvSpPr>
            <a:spLocks noGrp="1"/>
          </p:cNvSpPr>
          <p:nvPr>
            <p:ph sz="quarter" idx="14"/>
          </p:nvPr>
        </p:nvSpPr>
        <p:spPr/>
        <p:txBody>
          <a:bodyPr/>
          <a:lstStyle/>
          <a:p>
            <a:endParaRPr lang="zh-TW" altLang="en-US"/>
          </a:p>
        </p:txBody>
      </p:sp>
    </p:spTree>
    <p:extLst>
      <p:ext uri="{BB962C8B-B14F-4D97-AF65-F5344CB8AC3E}">
        <p14:creationId xmlns:p14="http://schemas.microsoft.com/office/powerpoint/2010/main" val="452157551"/>
      </p:ext>
    </p:extLst>
  </p:cSld>
  <p:clrMapOvr>
    <a:masterClrMapping/>
  </p:clrMapOvr>
</p:sld>
</file>

<file path=ppt/theme/theme1.xml><?xml version="1.0" encoding="utf-8"?>
<a:theme xmlns:a="http://schemas.openxmlformats.org/drawingml/2006/main" name="NCUE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UEE" id="{4D309C3F-E183-4FB4-AEDB-7CCE43E5FED5}" vid="{04B2A469-F8F0-40CC-A4FD-E8EC6971CFD5}"/>
    </a:ext>
  </a:extLst>
</a:theme>
</file>

<file path=ppt/theme/theme2.xml><?xml version="1.0" encoding="utf-8"?>
<a:theme xmlns:a="http://schemas.openxmlformats.org/drawingml/2006/main" name="NCUE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UEE" id="{4D309C3F-E183-4FB4-AEDB-7CCE43E5FED5}" vid="{04B2A469-F8F0-40CC-A4FD-E8EC6971CFD5}"/>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件" ma:contentTypeID="0x010100D01D057C34BA4346AFC101E54BFF0B4A" ma:contentTypeVersion="5" ma:contentTypeDescription="建立新的文件。" ma:contentTypeScope="" ma:versionID="a0a6beb63d380da9c56ed11622043d5d">
  <xsd:schema xmlns:xsd="http://www.w3.org/2001/XMLSchema" xmlns:xs="http://www.w3.org/2001/XMLSchema" xmlns:p="http://schemas.microsoft.com/office/2006/metadata/properties" xmlns:ns3="9f277c6e-4667-4e89-a9a0-04ef23c7621b" targetNamespace="http://schemas.microsoft.com/office/2006/metadata/properties" ma:root="true" ma:fieldsID="5166e0dbef0bc47bdad1eb1077a5c76a" ns3:_="">
    <xsd:import namespace="9f277c6e-4667-4e89-a9a0-04ef23c7621b"/>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277c6e-4667-4e89-a9a0-04ef23c762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f277c6e-4667-4e89-a9a0-04ef23c7621b" xsi:nil="true"/>
  </documentManagement>
</p:properties>
</file>

<file path=customXml/itemProps1.xml><?xml version="1.0" encoding="utf-8"?>
<ds:datastoreItem xmlns:ds="http://schemas.openxmlformats.org/officeDocument/2006/customXml" ds:itemID="{2654207D-B331-4976-97D0-BEF0A147B0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277c6e-4667-4e89-a9a0-04ef23c762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D72FB4E-D123-4D18-8152-3D27E1C89126}">
  <ds:schemaRefs>
    <ds:schemaRef ds:uri="http://schemas.microsoft.com/sharepoint/v3/contenttype/forms"/>
  </ds:schemaRefs>
</ds:datastoreItem>
</file>

<file path=customXml/itemProps3.xml><?xml version="1.0" encoding="utf-8"?>
<ds:datastoreItem xmlns:ds="http://schemas.openxmlformats.org/officeDocument/2006/customXml" ds:itemID="{829A375C-DF77-4DDE-899A-09A1D9F7B3DF}">
  <ds:schemaRefs>
    <ds:schemaRef ds:uri="http://purl.org/dc/dcmitype/"/>
    <ds:schemaRef ds:uri="http://www.w3.org/XML/1998/namespace"/>
    <ds:schemaRef ds:uri="http://schemas.microsoft.com/office/infopath/2007/PartnerControls"/>
    <ds:schemaRef ds:uri="9f277c6e-4667-4e89-a9a0-04ef23c7621b"/>
    <ds:schemaRef ds:uri="http://schemas.microsoft.com/office/2006/documentManagement/types"/>
    <ds:schemaRef ds:uri="http://purl.org/dc/elements/1.1/"/>
    <ds:schemaRef ds:uri="http://purl.org/dc/term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NCUEE</Template>
  <TotalTime>86098</TotalTime>
  <Words>4239</Words>
  <Application>Microsoft Macintosh PowerPoint</Application>
  <PresentationFormat>Widescreen</PresentationFormat>
  <Paragraphs>264</Paragraphs>
  <Slides>22</Slides>
  <Notes>17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Times</vt:lpstr>
      <vt:lpstr>Aptos</vt:lpstr>
      <vt:lpstr>Arial</vt:lpstr>
      <vt:lpstr>Calibri</vt:lpstr>
      <vt:lpstr>Cambria Math</vt:lpstr>
      <vt:lpstr>Georgia</vt:lpstr>
      <vt:lpstr>Times New Roman</vt:lpstr>
      <vt:lpstr>Wingdings</vt:lpstr>
      <vt:lpstr>NCUEE</vt:lpstr>
      <vt:lpstr>NCUEE</vt:lpstr>
      <vt:lpstr>Vision Mamba: Efficient Visual Representation Learning with Bidirectional State Space Model </vt:lpstr>
      <vt:lpstr>Summary</vt:lpstr>
      <vt:lpstr>Outline</vt:lpstr>
      <vt:lpstr>I. Introduction </vt:lpstr>
      <vt:lpstr>I. Introduction </vt:lpstr>
      <vt:lpstr>I. Introduction </vt:lpstr>
      <vt:lpstr>Outline</vt:lpstr>
      <vt:lpstr>II. Related Work </vt:lpstr>
      <vt:lpstr>Outline</vt:lpstr>
      <vt:lpstr>III. Method</vt:lpstr>
      <vt:lpstr>III. Method</vt:lpstr>
      <vt:lpstr>III. Method</vt:lpstr>
      <vt:lpstr>III. Method</vt:lpstr>
      <vt:lpstr>III. Method</vt:lpstr>
      <vt:lpstr>Outline</vt:lpstr>
      <vt:lpstr>IV. Experiment </vt:lpstr>
      <vt:lpstr>IV. Experiment </vt:lpstr>
      <vt:lpstr>IV. Experiment </vt:lpstr>
      <vt:lpstr>IV. Experiment </vt:lpstr>
      <vt:lpstr>IV. Experiment </vt:lpstr>
      <vt:lpstr>Outline</vt:lpstr>
      <vt:lpstr>V.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賴應賢 (113521105)</dc:creator>
  <cp:lastModifiedBy>翊丞 王</cp:lastModifiedBy>
  <cp:revision>134</cp:revision>
  <dcterms:created xsi:type="dcterms:W3CDTF">2024-09-18T08:55:23Z</dcterms:created>
  <dcterms:modified xsi:type="dcterms:W3CDTF">2026-04-29T12:55:08Z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0x010100D01D057C34BA4346AFC101E54BFF0B4A</vt:lpwstr>
  </property>
</Properties>
</file>