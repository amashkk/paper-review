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31"/>
  </p:notesMasterIdLst>
  <p:sldIdLst>
    <p:sldId id="256" r:id="rId6"/>
    <p:sldId id="258" r:id="rId7"/>
    <p:sldId id="372" r:id="rId8"/>
    <p:sldId id="373" r:id="rId9"/>
    <p:sldId id="374" r:id="rId10"/>
    <p:sldId id="318" r:id="rId11"/>
    <p:sldId id="262" r:id="rId12"/>
    <p:sldId id="261" r:id="rId13"/>
    <p:sldId id="364" r:id="rId14"/>
    <p:sldId id="303" r:id="rId15"/>
    <p:sldId id="376" r:id="rId16"/>
    <p:sldId id="365" r:id="rId17"/>
    <p:sldId id="366" r:id="rId18"/>
    <p:sldId id="367" r:id="rId19"/>
    <p:sldId id="368" r:id="rId20"/>
    <p:sldId id="380" r:id="rId21"/>
    <p:sldId id="384" r:id="rId22"/>
    <p:sldId id="382" r:id="rId23"/>
    <p:sldId id="385" r:id="rId24"/>
    <p:sldId id="370" r:id="rId25"/>
    <p:sldId id="371" r:id="rId26"/>
    <p:sldId id="329" r:id="rId27"/>
    <p:sldId id="378" r:id="rId28"/>
    <p:sldId id="379" r:id="rId29"/>
    <p:sldId id="292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 autoAdjust="0"/>
    <p:restoredTop sz="80850" autoAdjust="0"/>
  </p:normalViewPr>
  <p:slideViewPr>
    <p:cSldViewPr snapToGrid="0">
      <p:cViewPr varScale="1">
        <p:scale>
          <a:sx n="89" d="100"/>
          <a:sy n="89" d="100"/>
        </p:scale>
        <p:origin x="1380" y="66"/>
      </p:cViewPr>
      <p:guideLst/>
    </p:cSldViewPr>
  </p:slideViewPr>
  <p:outlineViewPr>
    <p:cViewPr>
      <p:scale>
        <a:sx n="33" d="100"/>
        <a:sy n="33" d="100"/>
      </p:scale>
      <p:origin x="0" y="-3596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09118-D757-465C-AB1A-5DF74F985BCA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C9C8E-8CA7-443A-832F-F0F3F7A960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13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570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5571-2E96-BACF-B54C-95F68138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D358540-550C-E43E-6D65-F8878EE64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73FD05-9674-F238-D601-7A0A871A7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即時物件偵測是許多應用的核心，例如物件追蹤、監控以及自動駕駛。</a:t>
            </a:r>
          </a:p>
          <a:p>
            <a:r>
              <a:rPr lang="zh-TW" altLang="en-US" b="1" dirty="0"/>
              <a:t>目前的主流是基於 </a:t>
            </a:r>
            <a:r>
              <a:rPr lang="en-US" altLang="zh-TW" b="1" dirty="0"/>
              <a:t>CNN </a:t>
            </a:r>
            <a:r>
              <a:rPr lang="zh-TW" altLang="en-US" b="1" dirty="0"/>
              <a:t>的架構，也就是大家熟知的 </a:t>
            </a:r>
            <a:r>
              <a:rPr lang="en-US" altLang="zh-TW" b="1" dirty="0"/>
              <a:t>YOLO </a:t>
            </a:r>
            <a:r>
              <a:rPr lang="zh-TW" altLang="en-US" b="1" dirty="0"/>
              <a:t>系列。</a:t>
            </a:r>
            <a:r>
              <a:rPr lang="zh-TW" altLang="en-US" dirty="0"/>
              <a:t> </a:t>
            </a:r>
            <a:r>
              <a:rPr lang="en-US" altLang="zh-TW" dirty="0"/>
              <a:t>YOLO </a:t>
            </a:r>
            <a:r>
              <a:rPr lang="zh-TW" altLang="en-US" dirty="0"/>
              <a:t>之所以流行，是因為它在速度和準確度之間取得了很好的平衡。</a:t>
            </a:r>
            <a:r>
              <a:rPr lang="zh-TW" altLang="en-US" b="1" dirty="0"/>
              <a:t>然而</a:t>
            </a:r>
            <a:r>
              <a:rPr lang="zh-TW" altLang="en-US" dirty="0"/>
              <a:t>，它有一個主要的限制：必須依賴 </a:t>
            </a:r>
            <a:r>
              <a:rPr lang="en-US" altLang="zh-TW" b="1" dirty="0"/>
              <a:t>NMS (</a:t>
            </a:r>
            <a:r>
              <a:rPr lang="zh-TW" altLang="en-US" b="1" dirty="0"/>
              <a:t>非極大值抑制</a:t>
            </a:r>
            <a:r>
              <a:rPr lang="en-US" altLang="zh-TW" b="1" dirty="0"/>
              <a:t>)</a:t>
            </a:r>
            <a:r>
              <a:rPr lang="zh-TW" altLang="en-US" dirty="0"/>
              <a:t> 進行後處理。 這個步驟不僅拖慢了推論速度，還引入了需要人工調整的超參數，這會導致結果的不穩定。</a:t>
            </a:r>
          </a:p>
          <a:p>
            <a:endParaRPr lang="en-US" altLang="zh-TW" b="1" dirty="0"/>
          </a:p>
          <a:p>
            <a:r>
              <a:rPr lang="en-US" altLang="zh-TW" b="1" dirty="0"/>
              <a:t>DETR (</a:t>
            </a:r>
            <a:r>
              <a:rPr lang="zh-TW" altLang="en-US" b="1" dirty="0"/>
              <a:t>基於 </a:t>
            </a:r>
            <a:r>
              <a:rPr lang="en-US" altLang="zh-TW" b="1" dirty="0"/>
              <a:t>Transformer </a:t>
            </a:r>
            <a:r>
              <a:rPr lang="zh-TW" altLang="en-US" b="1" dirty="0"/>
              <a:t>的偵測器</a:t>
            </a:r>
            <a:r>
              <a:rPr lang="en-US" altLang="zh-TW" b="1" dirty="0"/>
              <a:t>)</a:t>
            </a:r>
            <a:r>
              <a:rPr lang="zh-TW" altLang="en-US" b="1" dirty="0"/>
              <a:t>。</a:t>
            </a:r>
            <a:r>
              <a:rPr lang="zh-TW" altLang="en-US" dirty="0"/>
              <a:t> </a:t>
            </a:r>
            <a:r>
              <a:rPr lang="en-US" altLang="zh-TW" dirty="0"/>
              <a:t>DETR </a:t>
            </a:r>
            <a:r>
              <a:rPr lang="zh-TW" altLang="en-US" dirty="0"/>
              <a:t>因為架構簡潔且 </a:t>
            </a:r>
            <a:r>
              <a:rPr lang="zh-TW" altLang="en-US" b="1" dirty="0"/>
              <a:t>不需要 </a:t>
            </a:r>
            <a:r>
              <a:rPr lang="en-US" altLang="zh-TW" b="1" dirty="0"/>
              <a:t>NMS</a:t>
            </a:r>
            <a:r>
              <a:rPr lang="zh-TW" altLang="en-US" dirty="0"/>
              <a:t> 而備受關注。</a:t>
            </a:r>
            <a:r>
              <a:rPr lang="zh-TW" altLang="en-US" b="1" dirty="0"/>
              <a:t>但問題在於</a:t>
            </a:r>
            <a:r>
              <a:rPr lang="zh-TW" altLang="en-US" dirty="0"/>
              <a:t>：它的計算成本過高，這限制了它在即時場景的應用。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891B92-471F-E0EE-A015-1FFDFD232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058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82FA-734A-DD3D-2196-0B0BD916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E4C306-D26D-DCBD-F1E5-A1C9BC72E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255E074-0E3C-13DE-7286-E93BFEC57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作者深入分析 </a:t>
            </a:r>
            <a:r>
              <a:rPr lang="en-US" altLang="zh-TW" dirty="0"/>
              <a:t>DETR </a:t>
            </a:r>
            <a:r>
              <a:rPr lang="zh-TW" altLang="en-US" dirty="0"/>
              <a:t>後，發現了兩個具體的痛點：</a:t>
            </a:r>
          </a:p>
          <a:p>
            <a:r>
              <a:rPr lang="zh-TW" altLang="en-US" b="1" dirty="0"/>
              <a:t>針對速度 </a:t>
            </a:r>
            <a:r>
              <a:rPr lang="en-US" altLang="zh-TW" b="1" dirty="0"/>
              <a:t>(Speed Issue)</a:t>
            </a:r>
            <a:r>
              <a:rPr lang="zh-TW" altLang="en-US" dirty="0"/>
              <a:t>：</a:t>
            </a:r>
          </a:p>
          <a:p>
            <a:pPr lvl="1"/>
            <a:r>
              <a:rPr lang="zh-TW" altLang="en-US" b="1" dirty="0"/>
              <a:t>發現</a:t>
            </a:r>
            <a:r>
              <a:rPr lang="zh-TW" altLang="en-US" dirty="0"/>
              <a:t>：雖然「多尺度特徵 </a:t>
            </a:r>
            <a:r>
              <a:rPr lang="en-US" altLang="zh-TW" dirty="0"/>
              <a:t>(Multi-scale features)</a:t>
            </a:r>
            <a:r>
              <a:rPr lang="zh-TW" altLang="en-US" dirty="0"/>
              <a:t>」能加速訓練收斂 。</a:t>
            </a:r>
          </a:p>
          <a:p>
            <a:pPr lvl="1"/>
            <a:r>
              <a:rPr lang="zh-TW" altLang="en-US" b="1" dirty="0"/>
              <a:t>代價</a:t>
            </a:r>
            <a:r>
              <a:rPr lang="zh-TW" altLang="en-US" dirty="0"/>
              <a:t>：但它導致編碼器 </a:t>
            </a:r>
            <a:r>
              <a:rPr lang="en-US" altLang="zh-TW" dirty="0"/>
              <a:t>(Encoder) </a:t>
            </a:r>
            <a:r>
              <a:rPr lang="zh-TW" altLang="en-US" dirty="0"/>
              <a:t>的運算量暴增 </a:t>
            </a:r>
            <a:r>
              <a:rPr lang="en-US" altLang="zh-TW" dirty="0"/>
              <a:t>(</a:t>
            </a:r>
            <a:r>
              <a:rPr lang="en-US" altLang="zh-TW" b="1" dirty="0"/>
              <a:t>high computational cost</a:t>
            </a:r>
            <a:r>
              <a:rPr lang="en-US" altLang="zh-TW" dirty="0"/>
              <a:t>)</a:t>
            </a:r>
            <a:r>
              <a:rPr lang="zh-TW" altLang="en-US" dirty="0"/>
              <a:t>，這是阻礙即時應用的主因 。</a:t>
            </a:r>
          </a:p>
          <a:p>
            <a:pPr lvl="1"/>
            <a:r>
              <a:rPr lang="zh-TW" altLang="en-US" b="1" dirty="0"/>
              <a:t>結論</a:t>
            </a:r>
            <a:r>
              <a:rPr lang="zh-TW" altLang="en-US" dirty="0"/>
              <a:t>：必須重新設計編碼器。</a:t>
            </a:r>
          </a:p>
          <a:p>
            <a:r>
              <a:rPr lang="zh-TW" altLang="en-US" b="1" dirty="0"/>
              <a:t>針對準確度 </a:t>
            </a:r>
            <a:r>
              <a:rPr lang="en-US" altLang="zh-TW" b="1" dirty="0"/>
              <a:t>(Accuracy Issue)</a:t>
            </a:r>
            <a:r>
              <a:rPr lang="zh-TW" altLang="en-US" dirty="0"/>
              <a:t>：</a:t>
            </a:r>
          </a:p>
          <a:p>
            <a:pPr lvl="1"/>
            <a:r>
              <a:rPr lang="zh-TW" altLang="en-US" b="1" dirty="0"/>
              <a:t>發現</a:t>
            </a:r>
            <a:r>
              <a:rPr lang="zh-TW" altLang="en-US" dirty="0"/>
              <a:t>：現有的查詢選擇機制只看分類分數，忽略了「定位品質 </a:t>
            </a:r>
            <a:r>
              <a:rPr lang="en-US" altLang="zh-TW" dirty="0"/>
              <a:t>(</a:t>
            </a:r>
            <a:r>
              <a:rPr lang="en-US" altLang="zh-TW" b="1" dirty="0"/>
              <a:t>localization quality</a:t>
            </a:r>
            <a:r>
              <a:rPr lang="en-US" altLang="zh-TW" dirty="0"/>
              <a:t>)</a:t>
            </a:r>
            <a:r>
              <a:rPr lang="zh-TW" altLang="en-US" dirty="0"/>
              <a:t>」 。</a:t>
            </a:r>
          </a:p>
          <a:p>
            <a:pPr lvl="1"/>
            <a:r>
              <a:rPr lang="zh-TW" altLang="en-US" b="1" dirty="0"/>
              <a:t>後果</a:t>
            </a:r>
            <a:r>
              <a:rPr lang="zh-TW" altLang="en-US" dirty="0"/>
              <a:t>：這導致選出來的特徵充滿不確定性 </a:t>
            </a:r>
            <a:r>
              <a:rPr lang="en-US" altLang="zh-TW" dirty="0"/>
              <a:t>(high uncertainty)</a:t>
            </a:r>
            <a:r>
              <a:rPr lang="zh-TW" altLang="en-US" dirty="0"/>
              <a:t>，降低了模型效能 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針對上述兩個問題，作者提出了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RT-DETR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針對速度瓶頸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提出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Efficient Hybrid Encoder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高效混合編碼器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：專門用來加速多尺度特徵的處理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針對準確度瓶頸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提出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Uncertainty-minimal Query Selection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不確定性最小化查詢選擇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：同時考慮定位品質，提升準確度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額外亮點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Flexible Speed Tuning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靈活調速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：無需重新訓練即可調整速度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427020-0108-C5ED-3261-DAEE22603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475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6FD03-E85D-6424-5697-FB1BD259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FD961D-75E8-6AC9-0F3D-13F8EA462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806177C-9683-87EF-1C67-C8AC6CD36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但是，它的 </a:t>
            </a:r>
            <a:r>
              <a:rPr lang="zh-TW" altLang="en-US" b="1" dirty="0"/>
              <a:t>編碼器 </a:t>
            </a:r>
            <a:r>
              <a:rPr lang="en-US" altLang="zh-TW" b="1" dirty="0"/>
              <a:t>(Encoder) </a:t>
            </a:r>
            <a:r>
              <a:rPr lang="zh-TW" altLang="en-US" b="1" dirty="0"/>
              <a:t>和 解碼器 </a:t>
            </a:r>
            <a:r>
              <a:rPr lang="en-US" altLang="zh-TW" b="1" dirty="0"/>
              <a:t>(Decoder)</a:t>
            </a:r>
            <a:r>
              <a:rPr lang="en-US" altLang="zh-TW" dirty="0"/>
              <a:t> </a:t>
            </a:r>
            <a:r>
              <a:rPr lang="zh-TW" altLang="en-US" dirty="0"/>
              <a:t>被 </a:t>
            </a:r>
            <a:r>
              <a:rPr lang="zh-TW" altLang="en-US" b="1" dirty="0"/>
              <a:t>「縮小 </a:t>
            </a:r>
            <a:r>
              <a:rPr lang="en-US" altLang="zh-TW" b="1" dirty="0"/>
              <a:t>(Scaled Down)</a:t>
            </a:r>
            <a:r>
              <a:rPr lang="zh-TW" altLang="en-US" b="1" dirty="0"/>
              <a:t>」</a:t>
            </a:r>
            <a:r>
              <a:rPr lang="en-US" altLang="zh-TW" dirty="0"/>
              <a:t> </a:t>
            </a:r>
            <a:r>
              <a:rPr lang="zh-TW" altLang="en-US" dirty="0"/>
              <a:t>了。</a:t>
            </a:r>
          </a:p>
          <a:p>
            <a:r>
              <a:rPr lang="zh-TW" altLang="en-US" dirty="0"/>
              <a:t>根據論文 </a:t>
            </a:r>
            <a:r>
              <a:rPr lang="en-US" altLang="zh-TW" b="1" dirty="0"/>
              <a:t>4.4 </a:t>
            </a:r>
            <a:r>
              <a:rPr lang="zh-TW" altLang="en-US" b="1" dirty="0"/>
              <a:t>節 </a:t>
            </a:r>
            <a:r>
              <a:rPr lang="en-US" altLang="zh-TW" b="1" dirty="0"/>
              <a:t>(Scaled RT-DETR)</a:t>
            </a:r>
            <a:r>
              <a:rPr lang="zh-TW" altLang="en-US" dirty="0"/>
              <a:t>，作者透過調整 </a:t>
            </a:r>
            <a:r>
              <a:rPr lang="en-US" altLang="zh-TW" dirty="0"/>
              <a:t>Embedding Dimension (</a:t>
            </a:r>
            <a:r>
              <a:rPr lang="zh-TW" altLang="en-US" dirty="0"/>
              <a:t>寬度</a:t>
            </a:r>
            <a:r>
              <a:rPr lang="en-US" altLang="zh-TW" dirty="0"/>
              <a:t>) </a:t>
            </a:r>
            <a:r>
              <a:rPr lang="zh-TW" altLang="en-US" dirty="0"/>
              <a:t>和 </a:t>
            </a:r>
            <a:r>
              <a:rPr lang="en-US" altLang="zh-TW" dirty="0"/>
              <a:t>Transformer </a:t>
            </a:r>
            <a:r>
              <a:rPr lang="zh-TW" altLang="en-US" dirty="0"/>
              <a:t>層數 </a:t>
            </a:r>
            <a:r>
              <a:rPr lang="en-US" altLang="zh-TW" dirty="0"/>
              <a:t>(</a:t>
            </a:r>
            <a:r>
              <a:rPr lang="zh-TW" altLang="en-US" dirty="0"/>
              <a:t>深度</a:t>
            </a:r>
            <a:r>
              <a:rPr lang="en-US" altLang="zh-TW" dirty="0"/>
              <a:t>) </a:t>
            </a:r>
            <a:r>
              <a:rPr lang="zh-TW" altLang="en-US" dirty="0"/>
              <a:t>來縮減模型規模 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8AA6CA-8648-AB17-AE91-A52D85D45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027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20D26-2FF2-6AFE-6AC8-2909DCD1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59A7C1-8B80-1EC1-C0B2-EA4D15D88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BF5C683-BB22-A471-985F-1A0BBBBD3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第一，提出了 </a:t>
            </a:r>
            <a:r>
              <a:rPr lang="en-US" altLang="zh-TW" b="1" dirty="0"/>
              <a:t>RT-DETR </a:t>
            </a:r>
            <a:r>
              <a:rPr lang="zh-TW" altLang="en-US" b="1" dirty="0"/>
              <a:t>模型。</a:t>
            </a:r>
            <a:r>
              <a:rPr lang="zh-TW" altLang="en-US" dirty="0"/>
              <a:t> 這是學界</a:t>
            </a:r>
            <a:r>
              <a:rPr lang="zh-TW" altLang="en-US" b="1" dirty="0"/>
              <a:t>第一個</a:t>
            </a:r>
            <a:r>
              <a:rPr lang="zh-TW" altLang="en-US" dirty="0"/>
              <a:t>即時的端到端 </a:t>
            </a:r>
            <a:r>
              <a:rPr lang="en-US" altLang="zh-TW" dirty="0"/>
              <a:t>(Real-time End-to-End) </a:t>
            </a:r>
            <a:r>
              <a:rPr lang="zh-TW" altLang="en-US" dirty="0"/>
              <a:t>物件偵測器。它不僅在速度和準確度上雙雙超越了先前最先進的 </a:t>
            </a:r>
            <a:r>
              <a:rPr lang="en-US" altLang="zh-TW" dirty="0"/>
              <a:t>YOLO </a:t>
            </a:r>
            <a:r>
              <a:rPr lang="zh-TW" altLang="en-US" dirty="0"/>
              <a:t>系列，更重要的是，它徹底</a:t>
            </a:r>
            <a:r>
              <a:rPr lang="zh-TW" altLang="en-US" b="1" dirty="0"/>
              <a:t>消除了 </a:t>
            </a:r>
            <a:r>
              <a:rPr lang="en-US" altLang="zh-TW" b="1" dirty="0"/>
              <a:t>NMS </a:t>
            </a:r>
            <a:r>
              <a:rPr lang="zh-TW" altLang="en-US" b="1" dirty="0"/>
              <a:t>後處理</a:t>
            </a:r>
            <a:r>
              <a:rPr lang="zh-TW" altLang="en-US" dirty="0"/>
              <a:t>對即時偵測所帶來的負面影響（如延遲與不穩定）。</a:t>
            </a:r>
          </a:p>
          <a:p>
            <a:r>
              <a:rPr lang="zh-TW" altLang="en-US" b="1" dirty="0"/>
              <a:t>第二，建立了端到端速度基準。</a:t>
            </a:r>
            <a:r>
              <a:rPr lang="zh-TW" altLang="en-US" dirty="0"/>
              <a:t> 作者並不是空口白話，而是對 </a:t>
            </a:r>
            <a:r>
              <a:rPr lang="en-US" altLang="zh-TW" dirty="0"/>
              <a:t>NMS </a:t>
            </a:r>
            <a:r>
              <a:rPr lang="zh-TW" altLang="en-US" dirty="0"/>
              <a:t>的影響進行了</a:t>
            </a:r>
            <a:r>
              <a:rPr lang="zh-TW" altLang="en-US" b="1" dirty="0"/>
              <a:t>量化分析</a:t>
            </a:r>
            <a:r>
              <a:rPr lang="zh-TW" altLang="en-US" dirty="0"/>
              <a:t>。為了公平比較，作者建立了一個包含後處理時間的</a:t>
            </a:r>
            <a:r>
              <a:rPr lang="en-US" altLang="zh-TW" dirty="0"/>
              <a:t>『</a:t>
            </a:r>
            <a:r>
              <a:rPr lang="zh-TW" altLang="en-US" dirty="0"/>
              <a:t>端到端速度基準</a:t>
            </a:r>
            <a:r>
              <a:rPr lang="en-US" altLang="zh-TW" dirty="0"/>
              <a:t>』</a:t>
            </a:r>
            <a:r>
              <a:rPr lang="zh-TW" altLang="en-US" dirty="0"/>
              <a:t>，用來真實測試並比較各個即時偵測器的實際推論速度 。</a:t>
            </a:r>
          </a:p>
          <a:p>
            <a:r>
              <a:rPr lang="zh-TW" altLang="en-US" b="1" dirty="0"/>
              <a:t>第三，實現了靈活的速度調整。</a:t>
            </a:r>
            <a:r>
              <a:rPr lang="zh-TW" altLang="en-US" dirty="0"/>
              <a:t> </a:t>
            </a:r>
            <a:r>
              <a:rPr lang="en-US" altLang="zh-TW" dirty="0"/>
              <a:t>RT-DETR </a:t>
            </a:r>
            <a:r>
              <a:rPr lang="zh-TW" altLang="en-US" dirty="0"/>
              <a:t>支援極高的應用彈性。使用者可以透過調整解碼器 </a:t>
            </a:r>
            <a:r>
              <a:rPr lang="en-US" altLang="zh-TW" dirty="0"/>
              <a:t>(Decoder) </a:t>
            </a:r>
            <a:r>
              <a:rPr lang="zh-TW" altLang="en-US" dirty="0"/>
              <a:t>的層數來改變推論速度，以適應不同的場景需求，而且這個過程</a:t>
            </a:r>
            <a:r>
              <a:rPr lang="zh-TW" altLang="en-US" b="1" dirty="0"/>
              <a:t>完全不需要重新訓練模型</a:t>
            </a:r>
            <a:r>
              <a:rPr lang="zh-TW" altLang="en-US" dirty="0"/>
              <a:t> </a:t>
            </a:r>
          </a:p>
          <a:p>
            <a:endParaRPr lang="en-US" altLang="zh-TW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16C04D-94A6-9B18-610A-747B60162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41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7182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「在相關研究部分，我們將現有的偵測器分為兩大類來探討。</a:t>
            </a:r>
          </a:p>
          <a:p>
            <a:r>
              <a:rPr lang="zh-TW" altLang="en-US" b="1" dirty="0"/>
              <a:t>首先是即時物件偵測器，以 </a:t>
            </a:r>
            <a:r>
              <a:rPr lang="en-US" altLang="zh-TW" b="1" dirty="0"/>
              <a:t>YOLO </a:t>
            </a:r>
            <a:r>
              <a:rPr lang="zh-TW" altLang="en-US" b="1" dirty="0"/>
              <a:t>系列為代表。</a:t>
            </a:r>
            <a:r>
              <a:rPr lang="zh-TW" altLang="en-US" dirty="0"/>
              <a:t> </a:t>
            </a:r>
            <a:r>
              <a:rPr lang="en-US" altLang="zh-TW" dirty="0"/>
              <a:t>YOLO </a:t>
            </a:r>
            <a:r>
              <a:rPr lang="zh-TW" altLang="en-US" dirty="0"/>
              <a:t>因為在速度和準確度之間取得了很好的平衡，成為目前最主流的框架。 </a:t>
            </a:r>
            <a:r>
              <a:rPr lang="zh-TW" altLang="en-US" b="1" dirty="0"/>
              <a:t>但是</a:t>
            </a:r>
            <a:r>
              <a:rPr lang="zh-TW" altLang="en-US" dirty="0"/>
              <a:t>，它們有一個共同的問題：這類偵測器會產生大量的重疊預測框，因此必須依賴 </a:t>
            </a:r>
            <a:r>
              <a:rPr lang="en-US" altLang="zh-TW" b="1" dirty="0"/>
              <a:t>NMS (</a:t>
            </a:r>
            <a:r>
              <a:rPr lang="zh-TW" altLang="en-US" b="1" dirty="0"/>
              <a:t>非極大值抑制</a:t>
            </a:r>
            <a:r>
              <a:rPr lang="en-US" altLang="zh-TW" b="1" dirty="0"/>
              <a:t>)</a:t>
            </a:r>
            <a:r>
              <a:rPr lang="zh-TW" altLang="en-US" dirty="0"/>
              <a:t> 進行後處理。這個步驟最終成為了限制推論速度的瓶頸。</a:t>
            </a:r>
          </a:p>
          <a:p>
            <a:r>
              <a:rPr lang="zh-TW" altLang="en-US" b="1" dirty="0"/>
              <a:t>另一類是端到端偵測器，如 </a:t>
            </a:r>
            <a:r>
              <a:rPr lang="en-US" altLang="zh-TW" b="1" dirty="0"/>
              <a:t>DETR</a:t>
            </a:r>
            <a:r>
              <a:rPr lang="zh-TW" altLang="en-US" b="1" dirty="0"/>
              <a:t>。</a:t>
            </a:r>
            <a:r>
              <a:rPr lang="zh-TW" altLang="en-US" dirty="0"/>
              <a:t> 它們透過二分圖匹配實現一對一預測，成功移除了人工設計的錨框和 </a:t>
            </a:r>
            <a:r>
              <a:rPr lang="en-US" altLang="zh-TW" dirty="0"/>
              <a:t>NMS</a:t>
            </a:r>
            <a:r>
              <a:rPr lang="zh-TW" altLang="en-US" dirty="0"/>
              <a:t>，架構非常簡潔。 </a:t>
            </a:r>
            <a:r>
              <a:rPr lang="zh-TW" altLang="en-US" b="1" dirty="0"/>
              <a:t>然而</a:t>
            </a:r>
            <a:r>
              <a:rPr lang="zh-TW" altLang="en-US" dirty="0"/>
              <a:t>，它們面臨著</a:t>
            </a:r>
            <a:r>
              <a:rPr lang="en-US" altLang="zh-TW" dirty="0"/>
              <a:t>『</a:t>
            </a:r>
            <a:r>
              <a:rPr lang="zh-TW" altLang="en-US" dirty="0"/>
              <a:t>高計算成本</a:t>
            </a:r>
            <a:r>
              <a:rPr lang="en-US" altLang="zh-TW" dirty="0"/>
              <a:t>』</a:t>
            </a:r>
            <a:r>
              <a:rPr lang="zh-TW" altLang="en-US" dirty="0"/>
              <a:t>和</a:t>
            </a:r>
            <a:r>
              <a:rPr lang="en-US" altLang="zh-TW" dirty="0"/>
              <a:t>『</a:t>
            </a:r>
            <a:r>
              <a:rPr lang="zh-TW" altLang="en-US" dirty="0"/>
              <a:t>查詢優化困難</a:t>
            </a:r>
            <a:r>
              <a:rPr lang="en-US" altLang="zh-TW" dirty="0"/>
              <a:t>』</a:t>
            </a:r>
            <a:r>
              <a:rPr lang="zh-TW" altLang="en-US" dirty="0"/>
              <a:t>的問題，導致速度無法滿足即時需求。</a:t>
            </a:r>
          </a:p>
          <a:p>
            <a:r>
              <a:rPr lang="zh-TW" altLang="en-US" b="1" dirty="0"/>
              <a:t>這就是 </a:t>
            </a:r>
            <a:r>
              <a:rPr lang="en-US" altLang="zh-TW" b="1" dirty="0"/>
              <a:t>RT-DETR </a:t>
            </a:r>
            <a:r>
              <a:rPr lang="zh-TW" altLang="en-US" b="1" dirty="0"/>
              <a:t>的切入點。</a:t>
            </a:r>
            <a:r>
              <a:rPr lang="zh-TW" altLang="en-US" dirty="0"/>
              <a:t> 雖然已有許多變體（如 </a:t>
            </a:r>
            <a:r>
              <a:rPr lang="en-US" altLang="zh-TW" dirty="0"/>
              <a:t>DINO</a:t>
            </a:r>
            <a:r>
              <a:rPr lang="zh-TW" altLang="en-US" dirty="0"/>
              <a:t>）試圖改善 </a:t>
            </a:r>
            <a:r>
              <a:rPr lang="en-US" altLang="zh-TW" dirty="0"/>
              <a:t>DETR</a:t>
            </a:r>
            <a:r>
              <a:rPr lang="zh-TW" altLang="en-US" dirty="0"/>
              <a:t>，但 </a:t>
            </a:r>
            <a:r>
              <a:rPr lang="en-US" altLang="zh-TW" dirty="0"/>
              <a:t>RT-DETR </a:t>
            </a:r>
            <a:r>
              <a:rPr lang="zh-TW" altLang="en-US" dirty="0"/>
              <a:t>進一步針對計算量和查詢初始化進行優化，最終成功在即時效能上超越了現有的偵測器。」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「</a:t>
            </a:r>
            <a:r>
              <a:rPr lang="en-US" altLang="zh-TW" dirty="0"/>
              <a:t>RT-DETR </a:t>
            </a:r>
            <a:r>
              <a:rPr lang="zh-TW" altLang="en-US" dirty="0"/>
              <a:t>之所以能移除 </a:t>
            </a:r>
            <a:r>
              <a:rPr lang="en-US" altLang="zh-TW" dirty="0"/>
              <a:t>NMS</a:t>
            </a:r>
            <a:r>
              <a:rPr lang="zh-TW" altLang="en-US" dirty="0"/>
              <a:t>，是因為它在訓練時使用了一種叫 </a:t>
            </a:r>
            <a:r>
              <a:rPr lang="en-US" altLang="zh-TW" b="1" dirty="0"/>
              <a:t>『</a:t>
            </a:r>
            <a:r>
              <a:rPr lang="zh-TW" altLang="en-US" b="1" dirty="0"/>
              <a:t>二分圖匹配</a:t>
            </a:r>
            <a:r>
              <a:rPr lang="en-US" altLang="zh-TW" b="1" dirty="0"/>
              <a:t>』</a:t>
            </a:r>
            <a:r>
              <a:rPr lang="zh-TW" altLang="en-US" dirty="0"/>
              <a:t> 的技術。</a:t>
            </a:r>
          </a:p>
          <a:p>
            <a:r>
              <a:rPr lang="zh-TW" altLang="en-US" dirty="0"/>
              <a:t>大家可以把它想像成一場 </a:t>
            </a:r>
            <a:r>
              <a:rPr lang="en-US" altLang="zh-TW" b="1" dirty="0"/>
              <a:t>『</a:t>
            </a:r>
            <a:r>
              <a:rPr lang="zh-TW" altLang="en-US" b="1" dirty="0"/>
              <a:t>強制一對一的相親大會</a:t>
            </a:r>
            <a:r>
              <a:rPr lang="en-US" altLang="zh-TW" b="1" dirty="0"/>
              <a:t>』</a:t>
            </a:r>
            <a:r>
              <a:rPr lang="zh-TW" altLang="en-US" dirty="0"/>
              <a:t>。 左邊是模型預測出的 </a:t>
            </a:r>
            <a:r>
              <a:rPr lang="en-US" altLang="zh-TW" dirty="0"/>
              <a:t>300 </a:t>
            </a:r>
            <a:r>
              <a:rPr lang="zh-TW" altLang="en-US" dirty="0"/>
              <a:t>個框，右邊是圖片裡的真實物體。</a:t>
            </a:r>
          </a:p>
          <a:p>
            <a:r>
              <a:rPr lang="zh-TW" altLang="en-US" dirty="0"/>
              <a:t>傳統的 </a:t>
            </a:r>
            <a:r>
              <a:rPr lang="en-US" altLang="zh-TW" dirty="0"/>
              <a:t>YOLO </a:t>
            </a:r>
            <a:r>
              <a:rPr lang="zh-TW" altLang="en-US" dirty="0"/>
              <a:t>像是</a:t>
            </a:r>
            <a:r>
              <a:rPr lang="en-US" altLang="zh-TW" dirty="0"/>
              <a:t>『</a:t>
            </a:r>
            <a:r>
              <a:rPr lang="zh-TW" altLang="en-US" dirty="0"/>
              <a:t>多對一</a:t>
            </a:r>
            <a:r>
              <a:rPr lang="en-US" altLang="zh-TW" dirty="0"/>
              <a:t>』</a:t>
            </a:r>
            <a:r>
              <a:rPr lang="zh-TW" altLang="en-US" dirty="0"/>
              <a:t>，只要框得還不錯的，通通都算對。這導致一個物體會有很多重複的框，所以最後必須用 </a:t>
            </a:r>
            <a:r>
              <a:rPr lang="en-US" altLang="zh-TW" dirty="0"/>
              <a:t>NMS </a:t>
            </a:r>
            <a:r>
              <a:rPr lang="zh-TW" altLang="en-US" dirty="0"/>
              <a:t>來過濾。</a:t>
            </a:r>
          </a:p>
          <a:p>
            <a:r>
              <a:rPr lang="zh-TW" altLang="en-US" dirty="0"/>
              <a:t>但 </a:t>
            </a:r>
            <a:r>
              <a:rPr lang="en-US" altLang="zh-TW" dirty="0"/>
              <a:t>RT-DETR </a:t>
            </a:r>
            <a:r>
              <a:rPr lang="zh-TW" altLang="en-US" dirty="0"/>
              <a:t>使用 </a:t>
            </a:r>
            <a:r>
              <a:rPr lang="zh-TW" altLang="en-US" b="1" dirty="0"/>
              <a:t>匈牙利演算法</a:t>
            </a:r>
            <a:r>
              <a:rPr lang="zh-TW" altLang="en-US" dirty="0"/>
              <a:t>，它會計算出一個 </a:t>
            </a:r>
            <a:r>
              <a:rPr lang="en-US" altLang="zh-TW" b="1" dirty="0"/>
              <a:t>『</a:t>
            </a:r>
            <a:r>
              <a:rPr lang="zh-TW" altLang="en-US" b="1" dirty="0"/>
              <a:t>全域最佳解</a:t>
            </a:r>
            <a:r>
              <a:rPr lang="en-US" altLang="zh-TW" b="1" dirty="0"/>
              <a:t>』</a:t>
            </a:r>
            <a:r>
              <a:rPr lang="zh-TW" altLang="en-US" dirty="0"/>
              <a:t>，強制規定每一個真實物體，只能由一個表現最好的預測框來負責。</a:t>
            </a:r>
          </a:p>
          <a:p>
            <a:r>
              <a:rPr lang="zh-TW" altLang="en-US" dirty="0"/>
              <a:t>因為這種 </a:t>
            </a:r>
            <a:r>
              <a:rPr lang="en-US" altLang="zh-TW" b="1" dirty="0"/>
              <a:t>『</a:t>
            </a:r>
            <a:r>
              <a:rPr lang="zh-TW" altLang="en-US" b="1" dirty="0"/>
              <a:t>一對一</a:t>
            </a:r>
            <a:r>
              <a:rPr lang="en-US" altLang="zh-TW" b="1" dirty="0"/>
              <a:t>』</a:t>
            </a:r>
            <a:r>
              <a:rPr lang="zh-TW" altLang="en-US" dirty="0"/>
              <a:t> 的特性，</a:t>
            </a:r>
            <a:r>
              <a:rPr lang="en-US" altLang="zh-TW" dirty="0"/>
              <a:t>RT-DETR </a:t>
            </a:r>
            <a:r>
              <a:rPr lang="zh-TW" altLang="en-US" dirty="0"/>
              <a:t>輸出的結果天生就是不重複的，這就是為什麼我們完全不需要 </a:t>
            </a:r>
            <a:r>
              <a:rPr lang="en-US" altLang="zh-TW" dirty="0"/>
              <a:t>NMS </a:t>
            </a:r>
            <a:r>
              <a:rPr lang="zh-TW" altLang="en-US" dirty="0"/>
              <a:t>的原因 。」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681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A0BC-6759-0A1C-E9B7-BAB650CE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521E77-C81A-82C5-DCC9-2DE47AAD0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EDADAC-20E1-9B53-D35E-DBBF7923C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D5ED-2489-081F-354E-BA13BCD61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763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83AB-30ED-DC07-5ECF-DD7D02F2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BB048D0-B150-6BA0-7F44-542D08AE2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C7EE0D-5EB8-DCA1-B16C-BC7FF0FA9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NMS </a:t>
            </a:r>
            <a:r>
              <a:rPr lang="zh-TW" altLang="en-US" dirty="0"/>
              <a:t>的運作需要</a:t>
            </a:r>
            <a:r>
              <a:rPr lang="zh-TW" altLang="en-US" b="1" dirty="0"/>
              <a:t>兩個門檻值</a:t>
            </a:r>
            <a:r>
              <a:rPr lang="zh-TW" altLang="en-US" dirty="0"/>
              <a:t>：</a:t>
            </a:r>
          </a:p>
          <a:p>
            <a:r>
              <a:rPr lang="zh-TW" altLang="en-US" b="1" dirty="0"/>
              <a:t>信心門檻 </a:t>
            </a:r>
            <a:r>
              <a:rPr lang="en-US" altLang="zh-TW" b="1" dirty="0"/>
              <a:t>(confidence threshold)</a:t>
            </a:r>
            <a:endParaRPr lang="zh-TW" altLang="en-US" dirty="0"/>
          </a:p>
          <a:p>
            <a:r>
              <a:rPr lang="en-US" altLang="zh-TW" b="1" dirty="0" err="1"/>
              <a:t>IoU</a:t>
            </a:r>
            <a:r>
              <a:rPr lang="en-US" altLang="zh-TW" b="1" dirty="0"/>
              <a:t> </a:t>
            </a:r>
            <a:r>
              <a:rPr lang="zh-TW" altLang="en-US" b="1" dirty="0"/>
              <a:t>門檻 </a:t>
            </a:r>
            <a:r>
              <a:rPr lang="en-US" altLang="zh-TW" b="1" dirty="0"/>
              <a:t>(</a:t>
            </a:r>
            <a:r>
              <a:rPr lang="en-US" altLang="zh-TW" b="1" dirty="0" err="1"/>
              <a:t>IoU</a:t>
            </a:r>
            <a:r>
              <a:rPr lang="en-US" altLang="zh-TW" b="1" dirty="0"/>
              <a:t> threshold)</a:t>
            </a:r>
            <a:r>
              <a:rPr lang="zh-TW" altLang="en-US" dirty="0"/>
              <a:t> </a:t>
            </a:r>
          </a:p>
          <a:p>
            <a:r>
              <a:rPr lang="zh-TW" altLang="en-US" dirty="0"/>
              <a:t>它的處理流程如下：</a:t>
            </a:r>
          </a:p>
          <a:p>
            <a:r>
              <a:rPr lang="zh-TW" altLang="en-US" b="1" dirty="0"/>
              <a:t>步驟一</a:t>
            </a:r>
            <a:r>
              <a:rPr lang="zh-TW" altLang="en-US" dirty="0"/>
              <a:t>：分數低於「信心門檻」的預測框會被</a:t>
            </a:r>
            <a:r>
              <a:rPr lang="zh-TW" altLang="en-US" b="1" dirty="0"/>
              <a:t>直接過濾掉</a:t>
            </a:r>
            <a:r>
              <a:rPr lang="zh-TW" altLang="en-US" dirty="0"/>
              <a:t> 。</a:t>
            </a:r>
          </a:p>
          <a:p>
            <a:r>
              <a:rPr lang="zh-TW" altLang="en-US" b="1" dirty="0"/>
              <a:t>步驟二</a:t>
            </a:r>
            <a:r>
              <a:rPr lang="zh-TW" altLang="en-US" dirty="0"/>
              <a:t>：如果任兩個框的 </a:t>
            </a:r>
            <a:r>
              <a:rPr lang="en-US" altLang="zh-TW" dirty="0" err="1"/>
              <a:t>IoU</a:t>
            </a:r>
            <a:r>
              <a:rPr lang="en-US" altLang="zh-TW" dirty="0"/>
              <a:t> (</a:t>
            </a:r>
            <a:r>
              <a:rPr lang="zh-TW" altLang="en-US" dirty="0"/>
              <a:t>重疊程度</a:t>
            </a:r>
            <a:r>
              <a:rPr lang="en-US" altLang="zh-TW" dirty="0"/>
              <a:t>) </a:t>
            </a:r>
            <a:r>
              <a:rPr lang="zh-TW" altLang="en-US" dirty="0"/>
              <a:t>超過了「</a:t>
            </a:r>
            <a:r>
              <a:rPr lang="en-US" altLang="zh-TW" dirty="0" err="1"/>
              <a:t>IoU</a:t>
            </a:r>
            <a:r>
              <a:rPr lang="en-US" altLang="zh-TW" dirty="0"/>
              <a:t> </a:t>
            </a:r>
            <a:r>
              <a:rPr lang="zh-TW" altLang="en-US" dirty="0"/>
              <a:t>門檻」，分數</a:t>
            </a:r>
            <a:r>
              <a:rPr lang="zh-TW" altLang="en-US" b="1" dirty="0"/>
              <a:t>較低的那個框會被丟棄</a:t>
            </a:r>
            <a:r>
              <a:rPr lang="zh-TW" altLang="en-US" dirty="0"/>
              <a:t> 。</a:t>
            </a:r>
          </a:p>
          <a:p>
            <a:r>
              <a:rPr lang="zh-TW" altLang="en-US" dirty="0"/>
              <a:t>這個過程會</a:t>
            </a:r>
            <a:r>
              <a:rPr lang="zh-TW" altLang="en-US" b="1" dirty="0"/>
              <a:t>反覆執行 </a:t>
            </a:r>
            <a:r>
              <a:rPr lang="en-US" altLang="zh-TW" b="1" dirty="0"/>
              <a:t>(iteratively)</a:t>
            </a:r>
            <a:r>
              <a:rPr lang="zh-TW" altLang="en-US" dirty="0"/>
              <a:t>，直到處理完所有類別的所有框 。</a:t>
            </a:r>
          </a:p>
          <a:p>
            <a:endParaRPr lang="en-US" altLang="zh-TW" b="1" dirty="0"/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它是一個介於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之間的數值（例如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0.001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運作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：模型會對每一個預測出來的框打一個「信心分數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(Score)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如果某個框的分數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低於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這個門檻 系統會認為這是雜訊或背景，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直接丟棄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，完全不進入後續的處理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如果某個框的分數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高於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這個門檻 該框被保留，進入下一階段（例如進行 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比對的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流程）</a:t>
            </a:r>
          </a:p>
          <a:p>
            <a:endParaRPr lang="en-US" altLang="zh-TW" b="1" dirty="0"/>
          </a:p>
          <a:p>
            <a:r>
              <a:rPr lang="zh-TW" altLang="en-US" dirty="0"/>
              <a:t>這張圖揭露了 </a:t>
            </a:r>
            <a:r>
              <a:rPr lang="en-US" altLang="zh-TW" dirty="0"/>
              <a:t>YOLO </a:t>
            </a:r>
            <a:r>
              <a:rPr lang="zh-TW" altLang="en-US" dirty="0"/>
              <a:t>系列依賴 </a:t>
            </a:r>
            <a:r>
              <a:rPr lang="en-US" altLang="zh-TW" dirty="0"/>
              <a:t>NMS </a:t>
            </a:r>
            <a:r>
              <a:rPr lang="zh-TW" altLang="en-US" dirty="0"/>
              <a:t>的代價。 為了達到最高的準確度，我們通常得把信心門檻設得很低 </a:t>
            </a:r>
            <a:r>
              <a:rPr lang="en-US" altLang="zh-TW" dirty="0"/>
              <a:t>(</a:t>
            </a:r>
            <a:r>
              <a:rPr lang="zh-TW" altLang="en-US" dirty="0"/>
              <a:t>如 </a:t>
            </a:r>
            <a:r>
              <a:rPr lang="en-US" altLang="zh-TW" dirty="0"/>
              <a:t>0.001)</a:t>
            </a:r>
            <a:r>
              <a:rPr lang="zh-TW" altLang="en-US" dirty="0"/>
              <a:t>。 但如圖所示，這會導致系統必須處理數千個候選框 </a:t>
            </a:r>
            <a:r>
              <a:rPr lang="en-US" altLang="zh-TW" dirty="0"/>
              <a:t>(YOLOv5 </a:t>
            </a:r>
            <a:r>
              <a:rPr lang="zh-TW" altLang="en-US" dirty="0"/>
              <a:t>甚至超過 </a:t>
            </a:r>
            <a:r>
              <a:rPr lang="en-US" altLang="zh-TW" dirty="0"/>
              <a:t>9000 </a:t>
            </a:r>
            <a:r>
              <a:rPr lang="zh-TW" altLang="en-US" dirty="0"/>
              <a:t>個</a:t>
            </a:r>
            <a:r>
              <a:rPr lang="en-US" altLang="zh-TW" dirty="0"/>
              <a:t>)</a:t>
            </a:r>
            <a:r>
              <a:rPr lang="zh-TW" altLang="en-US" dirty="0"/>
              <a:t>。 這些大量的框會導致 </a:t>
            </a:r>
            <a:r>
              <a:rPr lang="en-US" altLang="zh-TW" dirty="0"/>
              <a:t>NMS </a:t>
            </a:r>
            <a:r>
              <a:rPr lang="zh-TW" altLang="en-US" dirty="0"/>
              <a:t>的計算時間大幅增加，成為即時偵測的瓶頸。 而 </a:t>
            </a:r>
            <a:r>
              <a:rPr lang="en-US" altLang="zh-TW" dirty="0"/>
              <a:t>RT-DETR </a:t>
            </a:r>
            <a:r>
              <a:rPr lang="zh-TW" altLang="en-US" dirty="0"/>
              <a:t>透過端到端架構直接移除 </a:t>
            </a:r>
            <a:r>
              <a:rPr lang="en-US" altLang="zh-TW" dirty="0"/>
              <a:t>NMS</a:t>
            </a:r>
            <a:r>
              <a:rPr lang="zh-TW" altLang="en-US" dirty="0"/>
              <a:t>，完全避免了這個</a:t>
            </a:r>
            <a:r>
              <a:rPr lang="en-US" altLang="zh-TW" dirty="0"/>
              <a:t>『</a:t>
            </a:r>
            <a:r>
              <a:rPr lang="zh-TW" altLang="en-US" dirty="0"/>
              <a:t>處理海量候選框</a:t>
            </a:r>
            <a:r>
              <a:rPr lang="en-US" altLang="zh-TW" dirty="0"/>
              <a:t>』</a:t>
            </a:r>
            <a:r>
              <a:rPr lang="zh-TW" altLang="en-US" dirty="0"/>
              <a:t>的問題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en-US" altLang="zh-TW" b="1" dirty="0"/>
              <a:t>NMS </a:t>
            </a:r>
            <a:r>
              <a:rPr lang="zh-TW" altLang="en-US" b="1" dirty="0"/>
              <a:t>對超參數極度敏感</a:t>
            </a:r>
            <a:r>
              <a:rPr lang="zh-TW" altLang="en-US" dirty="0"/>
              <a:t> </a:t>
            </a:r>
          </a:p>
          <a:p>
            <a:r>
              <a:rPr lang="zh-TW" altLang="en-US" dirty="0"/>
              <a:t>這張圖最明顯的特點是，</a:t>
            </a:r>
            <a:r>
              <a:rPr lang="zh-TW" altLang="en-US" b="1" dirty="0"/>
              <a:t>信心門檻</a:t>
            </a:r>
            <a:r>
              <a:rPr lang="zh-TW" altLang="en-US" dirty="0"/>
              <a:t>（</a:t>
            </a:r>
            <a:r>
              <a:rPr lang="en-US" altLang="zh-TW" dirty="0"/>
              <a:t>X </a:t>
            </a:r>
            <a:r>
              <a:rPr lang="zh-TW" altLang="en-US" dirty="0"/>
              <a:t>軸）只要</a:t>
            </a:r>
            <a:r>
              <a:rPr lang="zh-TW" altLang="en-US" b="1" dirty="0"/>
              <a:t>改變一點點</a:t>
            </a:r>
            <a:r>
              <a:rPr lang="zh-TW" altLang="en-US" dirty="0"/>
              <a:t>，</a:t>
            </a:r>
            <a:r>
              <a:rPr lang="zh-TW" altLang="en-US" b="1" dirty="0"/>
              <a:t>候選框數量</a:t>
            </a:r>
            <a:r>
              <a:rPr lang="zh-TW" altLang="en-US" dirty="0"/>
              <a:t>（</a:t>
            </a:r>
            <a:r>
              <a:rPr lang="en-US" altLang="zh-TW" dirty="0"/>
              <a:t>Y </a:t>
            </a:r>
            <a:r>
              <a:rPr lang="zh-TW" altLang="en-US" dirty="0"/>
              <a:t>軸）就會發生</a:t>
            </a:r>
            <a:r>
              <a:rPr lang="zh-TW" altLang="en-US" b="1" dirty="0"/>
              <a:t>劇烈變化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例如 </a:t>
            </a:r>
            <a:r>
              <a:rPr lang="en-US" altLang="zh-TW" dirty="0"/>
              <a:t>YOLOv5</a:t>
            </a:r>
            <a:r>
              <a:rPr lang="zh-TW" altLang="en-US" dirty="0"/>
              <a:t>（藍色長條），在 </a:t>
            </a:r>
            <a:r>
              <a:rPr lang="en-US" altLang="zh-TW" dirty="0"/>
              <a:t>0.001 </a:t>
            </a:r>
            <a:r>
              <a:rPr lang="zh-TW" altLang="en-US" dirty="0"/>
              <a:t>的門檻下，有</a:t>
            </a:r>
            <a:r>
              <a:rPr lang="zh-TW" altLang="en-US" b="1" dirty="0"/>
              <a:t>超過 </a:t>
            </a:r>
            <a:r>
              <a:rPr lang="en-US" altLang="zh-TW" b="1" dirty="0"/>
              <a:t>9,000 </a:t>
            </a:r>
            <a:r>
              <a:rPr lang="zh-TW" altLang="en-US" b="1" dirty="0"/>
              <a:t>個</a:t>
            </a:r>
            <a:r>
              <a:rPr lang="zh-TW" altLang="en-US" dirty="0"/>
              <a:t>候選框 ；但只要把門檻提高到 </a:t>
            </a:r>
            <a:r>
              <a:rPr lang="en-US" altLang="zh-TW" dirty="0"/>
              <a:t>0.05</a:t>
            </a:r>
            <a:r>
              <a:rPr lang="zh-TW" altLang="en-US" dirty="0"/>
              <a:t>，候選框就驟降到約 </a:t>
            </a:r>
            <a:r>
              <a:rPr lang="en-US" altLang="zh-TW" dirty="0"/>
              <a:t>2,100 </a:t>
            </a:r>
            <a:r>
              <a:rPr lang="zh-TW" altLang="en-US" dirty="0"/>
              <a:t>個 。</a:t>
            </a:r>
          </a:p>
          <a:p>
            <a:r>
              <a:rPr lang="zh-TW" altLang="en-US" dirty="0"/>
              <a:t>候選框</a:t>
            </a:r>
            <a:r>
              <a:rPr lang="zh-TW" altLang="en-US" b="1" dirty="0"/>
              <a:t>數量越多</a:t>
            </a:r>
            <a:r>
              <a:rPr lang="zh-TW" altLang="en-US" dirty="0"/>
              <a:t>（門檻越低），</a:t>
            </a:r>
            <a:r>
              <a:rPr lang="en-US" altLang="zh-TW" dirty="0"/>
              <a:t>NMS </a:t>
            </a:r>
            <a:r>
              <a:rPr lang="zh-TW" altLang="en-US" dirty="0"/>
              <a:t>需要做的計算就越多，</a:t>
            </a:r>
            <a:r>
              <a:rPr lang="zh-TW" altLang="en-US" b="1" dirty="0"/>
              <a:t>執行時間就越長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C04EB5-CF6D-D9C7-A183-3E36C0436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4006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9248-B571-21AB-477F-7E6949B2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0CF416-221A-0742-016B-22546EB1F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2C0823-29D7-45EA-C2E0-2157145A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False Positive</a:t>
            </a:r>
            <a:r>
              <a:rPr lang="zh-TW" altLang="en-US" dirty="0"/>
              <a:t>因為您的門檻（</a:t>
            </a:r>
            <a:r>
              <a:rPr lang="en-US" altLang="zh-TW" dirty="0"/>
              <a:t>0.001</a:t>
            </a:r>
            <a:r>
              <a:rPr lang="zh-TW" altLang="en-US" dirty="0"/>
              <a:t>）</a:t>
            </a:r>
            <a:r>
              <a:rPr lang="zh-TW" altLang="en-US" b="1" dirty="0"/>
              <a:t>非常低</a:t>
            </a:r>
            <a:r>
              <a:rPr lang="zh-TW" altLang="en-US" dirty="0"/>
              <a:t>，這個 </a:t>
            </a:r>
            <a:r>
              <a:rPr lang="en-US" altLang="zh-TW" dirty="0"/>
              <a:t>5% </a:t>
            </a:r>
            <a:r>
              <a:rPr lang="zh-TW" altLang="en-US" dirty="0"/>
              <a:t>的「猜測」</a:t>
            </a:r>
            <a:r>
              <a:rPr lang="zh-TW" altLang="en-US" b="1" dirty="0"/>
              <a:t>被保留了下來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False Negative </a:t>
            </a:r>
            <a:r>
              <a:rPr lang="zh-TW" altLang="en-US" dirty="0"/>
              <a:t>因為您的門檻（</a:t>
            </a:r>
            <a:r>
              <a:rPr lang="en-US" altLang="zh-TW" dirty="0"/>
              <a:t>0.9</a:t>
            </a:r>
            <a:r>
              <a:rPr lang="zh-TW" altLang="en-US" dirty="0"/>
              <a:t>）</a:t>
            </a:r>
            <a:r>
              <a:rPr lang="zh-TW" altLang="en-US" b="1" dirty="0"/>
              <a:t>非常高</a:t>
            </a:r>
            <a:r>
              <a:rPr lang="zh-TW" altLang="en-US" dirty="0"/>
              <a:t>，這個 </a:t>
            </a:r>
            <a:r>
              <a:rPr lang="en-US" altLang="zh-TW" dirty="0"/>
              <a:t>85% </a:t>
            </a:r>
            <a:r>
              <a:rPr lang="zh-TW" altLang="en-US" dirty="0"/>
              <a:t>的「真實物體」</a:t>
            </a:r>
            <a:r>
              <a:rPr lang="zh-TW" altLang="en-US" b="1" dirty="0"/>
              <a:t>反而被過濾掉了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當 </a:t>
            </a:r>
            <a:r>
              <a:rPr lang="en-US" altLang="zh-TW" b="1" dirty="0" err="1"/>
              <a:t>IoU</a:t>
            </a:r>
            <a:r>
              <a:rPr lang="en-US" altLang="zh-TW" b="1" dirty="0"/>
              <a:t> </a:t>
            </a:r>
            <a:r>
              <a:rPr lang="zh-TW" altLang="en-US" b="1" dirty="0"/>
              <a:t>門檻增加</a:t>
            </a:r>
            <a:r>
              <a:rPr lang="zh-TW" altLang="en-US" dirty="0"/>
              <a:t>（對重疊更寬容）時，</a:t>
            </a:r>
            <a:r>
              <a:rPr lang="en-US" altLang="zh-TW" dirty="0"/>
              <a:t>NMS </a:t>
            </a:r>
            <a:r>
              <a:rPr lang="zh-TW" altLang="en-US" dirty="0"/>
              <a:t>執行時間也</a:t>
            </a:r>
            <a:r>
              <a:rPr lang="zh-TW" altLang="en-US" b="1" dirty="0"/>
              <a:t>跟著增加</a:t>
            </a:r>
            <a:r>
              <a:rPr lang="zh-TW" altLang="en-US" dirty="0"/>
              <a:t>（變慢）。 </a:t>
            </a:r>
            <a:r>
              <a:rPr lang="zh-TW" altLang="en-US" b="1" dirty="0"/>
              <a:t>➡️ 原因</a:t>
            </a:r>
            <a:r>
              <a:rPr lang="zh-TW" altLang="en-US" dirty="0"/>
              <a:t>：高 </a:t>
            </a:r>
            <a:r>
              <a:rPr lang="en-US" altLang="zh-TW" dirty="0" err="1"/>
              <a:t>IoU</a:t>
            </a:r>
            <a:r>
              <a:rPr lang="en-US" altLang="zh-TW" dirty="0"/>
              <a:t> </a:t>
            </a:r>
            <a:r>
              <a:rPr lang="zh-TW" altLang="en-US" dirty="0"/>
              <a:t>門檻會導致 </a:t>
            </a:r>
            <a:r>
              <a:rPr lang="en-US" altLang="zh-TW" dirty="0"/>
              <a:t>NMS </a:t>
            </a:r>
            <a:r>
              <a:rPr lang="zh-TW" altLang="en-US" dirty="0"/>
              <a:t>在每一輪篩選中</a:t>
            </a:r>
            <a:r>
              <a:rPr lang="zh-TW" altLang="en-US" b="1" dirty="0"/>
              <a:t>過濾掉較少的</a:t>
            </a:r>
            <a:r>
              <a:rPr lang="zh-TW" altLang="en-US" dirty="0"/>
              <a:t>預測框，總工作量因此增加 。</a:t>
            </a:r>
            <a:endParaRPr lang="en-US" altLang="zh-TW" dirty="0"/>
          </a:p>
          <a:p>
            <a:r>
              <a:rPr lang="zh-TW" altLang="en-US" dirty="0"/>
              <a:t>當 </a:t>
            </a:r>
            <a:r>
              <a:rPr lang="zh-TW" altLang="en-US" b="1" dirty="0"/>
              <a:t>信心門檻降低</a:t>
            </a:r>
            <a:r>
              <a:rPr lang="zh-TW" altLang="en-US" dirty="0"/>
              <a:t>（保留更多低分框）時，</a:t>
            </a:r>
            <a:r>
              <a:rPr lang="en-US" altLang="zh-TW" dirty="0"/>
              <a:t>NMS </a:t>
            </a:r>
            <a:r>
              <a:rPr lang="zh-TW" altLang="en-US" dirty="0"/>
              <a:t>執行時間</a:t>
            </a:r>
            <a:r>
              <a:rPr lang="zh-TW" altLang="en-US" b="1" dirty="0"/>
              <a:t>大幅增加</a:t>
            </a:r>
            <a:r>
              <a:rPr lang="zh-TW" altLang="en-US" dirty="0"/>
              <a:t>（變慢）。 </a:t>
            </a:r>
            <a:r>
              <a:rPr lang="zh-TW" altLang="en-US" b="1" dirty="0"/>
              <a:t>➡️ 原因</a:t>
            </a:r>
            <a:r>
              <a:rPr lang="zh-TW" altLang="en-US" dirty="0"/>
              <a:t>：高信心門檻會</a:t>
            </a:r>
            <a:r>
              <a:rPr lang="zh-TW" altLang="en-US" b="1" dirty="0"/>
              <a:t>預先過濾掉大量</a:t>
            </a:r>
            <a:r>
              <a:rPr lang="zh-TW" altLang="en-US" dirty="0"/>
              <a:t>的預測框（如 </a:t>
            </a:r>
            <a:r>
              <a:rPr lang="en-US" altLang="zh-TW" dirty="0"/>
              <a:t>Figure 2 </a:t>
            </a:r>
            <a:r>
              <a:rPr lang="zh-TW" altLang="en-US" dirty="0"/>
              <a:t>所示）；而低門檻會保留大量候選框，導致 </a:t>
            </a:r>
            <a:r>
              <a:rPr lang="en-US" altLang="zh-TW" dirty="0"/>
              <a:t>NMS </a:t>
            </a:r>
            <a:r>
              <a:rPr lang="zh-TW" altLang="en-US" dirty="0"/>
              <a:t>工作量暴增 </a:t>
            </a:r>
            <a:endParaRPr lang="en-US" altLang="zh-TW" dirty="0"/>
          </a:p>
          <a:p>
            <a:r>
              <a:rPr lang="en-US" altLang="zh-TW" dirty="0"/>
              <a:t>YOLO </a:t>
            </a:r>
            <a:r>
              <a:rPr lang="zh-TW" altLang="en-US" dirty="0"/>
              <a:t>為了達到「最高準確度」，被迫必須選擇「最慢的 </a:t>
            </a:r>
            <a:r>
              <a:rPr lang="en-US" altLang="zh-TW" dirty="0"/>
              <a:t>NMS </a:t>
            </a:r>
            <a:r>
              <a:rPr lang="zh-TW" altLang="en-US" dirty="0"/>
              <a:t>參數設定」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YOLO </a:t>
            </a:r>
            <a:r>
              <a:rPr lang="zh-TW" altLang="en-US" dirty="0"/>
              <a:t>偵測器在報告模型速度時，</a:t>
            </a:r>
            <a:r>
              <a:rPr lang="zh-TW" altLang="en-US" b="1" dirty="0"/>
              <a:t>通常會「排除」</a:t>
            </a:r>
            <a:r>
              <a:rPr lang="en-US" altLang="zh-TW" b="1" dirty="0"/>
              <a:t>NMS </a:t>
            </a:r>
            <a:r>
              <a:rPr lang="zh-TW" altLang="en-US" b="1" dirty="0"/>
              <a:t>的時間</a:t>
            </a:r>
            <a:r>
              <a:rPr lang="zh-TW" altLang="en-US" dirty="0"/>
              <a:t> 。</a:t>
            </a:r>
          </a:p>
          <a:p>
            <a:r>
              <a:rPr lang="zh-TW" altLang="en-US" dirty="0"/>
              <a:t>但這個實驗證明，為了達到宣稱的 </a:t>
            </a:r>
            <a:r>
              <a:rPr lang="en-US" altLang="zh-TW" dirty="0"/>
              <a:t>AP</a:t>
            </a:r>
            <a:r>
              <a:rPr lang="zh-TW" altLang="en-US" dirty="0"/>
              <a:t>，</a:t>
            </a:r>
            <a:r>
              <a:rPr lang="en-US" altLang="zh-TW" dirty="0"/>
              <a:t>NMS </a:t>
            </a:r>
            <a:r>
              <a:rPr lang="zh-TW" altLang="en-US" dirty="0"/>
              <a:t>是一個</a:t>
            </a:r>
            <a:r>
              <a:rPr lang="zh-TW" altLang="en-US" b="1" dirty="0"/>
              <a:t>不可忽視</a:t>
            </a:r>
            <a:r>
              <a:rPr lang="zh-TW" altLang="en-US" dirty="0"/>
              <a:t>的延遲成本（在這個例子中是 </a:t>
            </a:r>
            <a:r>
              <a:rPr lang="en-US" altLang="zh-TW" dirty="0"/>
              <a:t>2.36ms</a:t>
            </a:r>
            <a:r>
              <a:rPr lang="zh-TW" altLang="en-US" dirty="0"/>
              <a:t>）。</a:t>
            </a:r>
          </a:p>
          <a:p>
            <a:r>
              <a:rPr lang="zh-TW" altLang="en-US" dirty="0"/>
              <a:t>因此，作者認為</a:t>
            </a:r>
            <a:r>
              <a:rPr lang="zh-TW" altLang="en-US" b="1" dirty="0"/>
              <a:t>必須建立一個「端到端速度基準」</a:t>
            </a:r>
            <a:r>
              <a:rPr lang="en-US" altLang="zh-TW" b="1" dirty="0"/>
              <a:t>(end-to-end speed benchmark)</a:t>
            </a:r>
            <a:r>
              <a:rPr lang="zh-TW" altLang="en-US" dirty="0"/>
              <a:t>，這個基準</a:t>
            </a:r>
            <a:r>
              <a:rPr lang="zh-TW" altLang="en-US" b="1" dirty="0"/>
              <a:t>必須包含 </a:t>
            </a:r>
            <a:r>
              <a:rPr lang="en-US" altLang="zh-TW" b="1" dirty="0"/>
              <a:t>NMS </a:t>
            </a:r>
            <a:r>
              <a:rPr lang="zh-TW" altLang="en-US" b="1" dirty="0"/>
              <a:t>的時間</a:t>
            </a:r>
            <a:r>
              <a:rPr lang="zh-TW" altLang="en-US" dirty="0"/>
              <a:t>，才能公平地比較所有即時偵測器 。這也凸顯了 </a:t>
            </a:r>
            <a:r>
              <a:rPr lang="en-US" altLang="zh-TW" dirty="0"/>
              <a:t>RT-DETR</a:t>
            </a:r>
            <a:r>
              <a:rPr lang="zh-TW" altLang="en-US" dirty="0"/>
              <a:t>（它不需要 </a:t>
            </a:r>
            <a:r>
              <a:rPr lang="en-US" altLang="zh-TW" dirty="0"/>
              <a:t>NMS</a:t>
            </a:r>
            <a:r>
              <a:rPr lang="zh-TW" altLang="en-US" dirty="0"/>
              <a:t>）的優勢。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/>
              <a:t>在驗證模型好壞時（算 </a:t>
            </a:r>
            <a:r>
              <a:rPr lang="en-US" altLang="zh-TW" b="1" dirty="0"/>
              <a:t>AP</a:t>
            </a:r>
            <a:r>
              <a:rPr lang="zh-TW" altLang="en-US" b="1" dirty="0"/>
              <a:t>）</a:t>
            </a:r>
            <a:r>
              <a:rPr lang="zh-TW" altLang="en-US" dirty="0"/>
              <a:t>：我們拿預測框跟標準答案比，這時候 </a:t>
            </a:r>
            <a:r>
              <a:rPr lang="en-US" altLang="zh-TW" dirty="0" err="1"/>
              <a:t>IoU</a:t>
            </a:r>
            <a:r>
              <a:rPr lang="en-US" altLang="zh-TW" dirty="0"/>
              <a:t> </a:t>
            </a:r>
            <a:r>
              <a:rPr lang="zh-TW" altLang="en-US" dirty="0"/>
              <a:t>是</a:t>
            </a:r>
            <a:r>
              <a:rPr lang="zh-TW" altLang="en-US" b="1" dirty="0"/>
              <a:t>越高越好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在 </a:t>
            </a:r>
            <a:r>
              <a:rPr lang="en-US" altLang="zh-TW" b="1" dirty="0"/>
              <a:t>YOLO </a:t>
            </a:r>
            <a:r>
              <a:rPr lang="zh-TW" altLang="en-US" b="1" dirty="0"/>
              <a:t>進行 </a:t>
            </a:r>
            <a:r>
              <a:rPr lang="en-US" altLang="zh-TW" b="1" dirty="0"/>
              <a:t>NMS </a:t>
            </a:r>
            <a:r>
              <a:rPr lang="zh-TW" altLang="en-US" b="1" dirty="0"/>
              <a:t>時</a:t>
            </a:r>
            <a:r>
              <a:rPr lang="zh-TW" altLang="en-US" dirty="0"/>
              <a:t>：電腦是拿預測框跟自己比，這時候 </a:t>
            </a:r>
            <a:r>
              <a:rPr lang="en-US" altLang="zh-TW" dirty="0" err="1"/>
              <a:t>IoU</a:t>
            </a:r>
            <a:r>
              <a:rPr lang="en-US" altLang="zh-TW" dirty="0"/>
              <a:t> </a:t>
            </a:r>
            <a:r>
              <a:rPr lang="zh-TW" altLang="en-US" dirty="0"/>
              <a:t>太高代表</a:t>
            </a:r>
            <a:r>
              <a:rPr lang="zh-TW" altLang="en-US" b="1" dirty="0"/>
              <a:t>重複</a:t>
            </a:r>
            <a:r>
              <a:rPr lang="zh-TW" altLang="en-US" dirty="0"/>
              <a:t>，是我們想要消除的。</a:t>
            </a:r>
          </a:p>
          <a:p>
            <a:r>
              <a:rPr lang="en-US" altLang="zh-TW" dirty="0"/>
              <a:t>RT-DETR </a:t>
            </a:r>
            <a:r>
              <a:rPr lang="zh-TW" altLang="en-US" dirty="0"/>
              <a:t>的厲害之處就在於，它透過特殊的架構設計（一對一匹配），直接移除了第二種情況（</a:t>
            </a:r>
            <a:r>
              <a:rPr lang="en-US" altLang="zh-TW" dirty="0"/>
              <a:t>NMS</a:t>
            </a:r>
            <a:r>
              <a:rPr lang="zh-TW" altLang="en-US" dirty="0"/>
              <a:t>），所以我們再也不用煩惱要設什麼 </a:t>
            </a:r>
            <a:r>
              <a:rPr lang="en-US" altLang="zh-TW" dirty="0"/>
              <a:t>NMS </a:t>
            </a:r>
            <a:r>
              <a:rPr lang="en-US" altLang="zh-TW" dirty="0" err="1"/>
              <a:t>IoU</a:t>
            </a:r>
            <a:r>
              <a:rPr lang="en-US" altLang="zh-TW" dirty="0"/>
              <a:t> </a:t>
            </a:r>
            <a:r>
              <a:rPr lang="zh-TW" altLang="en-US" dirty="0"/>
              <a:t>門檻來刪除重複框了。」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0A95E2-6773-9BF6-8D29-593AA5383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951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18E4-BF6E-8BF4-1422-EF88C70A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4C39DA1-1F0B-14A8-DFC8-A8CAB92C9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EC55D80-23D2-AEFC-F5FA-C9E330E16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6E9BB9-6F6B-7CFC-0B36-F5D23FA14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10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6653-A75F-70C5-658A-A1B0696C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A922D9-6125-4102-BF12-479236AED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3E3DE-FC41-946E-B61A-7D7FC9AA6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6260DB-A075-E04A-FFFF-23757C5F6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232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2469-1596-273C-9320-E4B8B32C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A20189-19A1-700C-7BE3-7BBF5D245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401B73-6CA5-06FD-5825-6CEA712E8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2A74E5-00A0-D82A-0E04-689E19603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51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39B0-AA10-E208-59C7-FE2A4FAF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A3ED983-E64B-CB93-064B-5987FDE69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0E00213-8F29-B764-79E5-23E219F96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GFLOP</a:t>
            </a:r>
            <a:r>
              <a:rPr lang="en-US" altLang="zh-TW" dirty="0"/>
              <a:t> </a:t>
            </a:r>
            <a:r>
              <a:rPr lang="zh-TW" altLang="en-US" dirty="0"/>
              <a:t>是深度學習模型中常用的「計算量」指標，全名是：</a:t>
            </a:r>
            <a:r>
              <a:rPr lang="en-US" altLang="zh-TW" b="1" dirty="0"/>
              <a:t>Giga Floating Point Operations</a:t>
            </a:r>
          </a:p>
          <a:p>
            <a:r>
              <a:rPr lang="zh-TW" altLang="en-US" dirty="0"/>
              <a:t>意思是：</a:t>
            </a:r>
            <a:r>
              <a:rPr lang="zh-TW" altLang="en-US" b="1" dirty="0"/>
              <a:t>模型推論一次，需要多少「十億次」的浮點運算。</a:t>
            </a:r>
            <a:endParaRPr lang="zh-TW" altLang="en-US" dirty="0"/>
          </a:p>
          <a:p>
            <a:endParaRPr lang="en-US" altLang="zh-TW" dirty="0"/>
          </a:p>
          <a:p>
            <a:r>
              <a:rPr lang="zh-TW" altLang="en-US" dirty="0"/>
              <a:t>首先，作者分析了現有 </a:t>
            </a:r>
            <a:r>
              <a:rPr lang="en-US" altLang="zh-TW" dirty="0"/>
              <a:t>DETR </a:t>
            </a:r>
            <a:r>
              <a:rPr lang="zh-TW" altLang="en-US" dirty="0"/>
              <a:t>的痛點。雖然使用</a:t>
            </a:r>
            <a:r>
              <a:rPr lang="en-US" altLang="zh-TW" dirty="0"/>
              <a:t>『</a:t>
            </a:r>
            <a:r>
              <a:rPr lang="zh-TW" altLang="en-US" dirty="0"/>
              <a:t>多尺度特徵</a:t>
            </a:r>
            <a:r>
              <a:rPr lang="en-US" altLang="zh-TW" dirty="0"/>
              <a:t>』</a:t>
            </a:r>
            <a:r>
              <a:rPr lang="zh-TW" altLang="en-US" dirty="0"/>
              <a:t>可以提升準確度，但也導致運算量暴增，使編碼器成為計算瓶頸。</a:t>
            </a:r>
          </a:p>
          <a:p>
            <a:r>
              <a:rPr lang="zh-TW" altLang="en-US" dirty="0"/>
              <a:t>根據先前研究 </a:t>
            </a:r>
            <a:r>
              <a:rPr lang="en-US" altLang="zh-TW" dirty="0"/>
              <a:t>[18] </a:t>
            </a:r>
            <a:r>
              <a:rPr lang="zh-TW" altLang="en-US" dirty="0"/>
              <a:t>的數據顯示，編碼器消耗了整個模型 </a:t>
            </a:r>
            <a:r>
              <a:rPr lang="en-US" altLang="zh-TW" b="1" dirty="0"/>
              <a:t>49% </a:t>
            </a:r>
            <a:r>
              <a:rPr lang="zh-TW" altLang="en-US" b="1" dirty="0"/>
              <a:t>的算力</a:t>
            </a:r>
            <a:r>
              <a:rPr lang="zh-TW" altLang="en-US" dirty="0"/>
              <a:t>，但對準確度的貢獻卻只有 </a:t>
            </a:r>
            <a:r>
              <a:rPr lang="en-US" altLang="zh-TW" b="1" dirty="0"/>
              <a:t>11%</a:t>
            </a:r>
            <a:r>
              <a:rPr lang="zh-TW" altLang="en-US" dirty="0"/>
              <a:t>。這顯然是不合理的，代表裡面有大量的計算是浪費的。</a:t>
            </a:r>
          </a:p>
          <a:p>
            <a:r>
              <a:rPr lang="zh-TW" altLang="en-US" dirty="0"/>
              <a:t>為什麼會浪費？因為高層特徵其實已經包含低層特徵的資訊了。讓它們全部混在一起做複雜的 </a:t>
            </a:r>
            <a:r>
              <a:rPr lang="en-US" altLang="zh-TW" dirty="0"/>
              <a:t>Attention </a:t>
            </a:r>
            <a:r>
              <a:rPr lang="zh-TW" altLang="en-US" dirty="0"/>
              <a:t>運算，其實是多餘的。 基於這個洞察，作者決定</a:t>
            </a:r>
            <a:r>
              <a:rPr lang="zh-TW" altLang="en-US" b="1" dirty="0"/>
              <a:t>重新設計編碼器</a:t>
            </a:r>
            <a:r>
              <a:rPr lang="zh-TW" altLang="en-US" dirty="0"/>
              <a:t>，這就是後來提出的 </a:t>
            </a:r>
            <a:r>
              <a:rPr lang="en-US" altLang="zh-TW" dirty="0"/>
              <a:t>Efficient Hybrid Encoder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ABB67E-A5F5-E27A-F990-A15009C1F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88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2354-B544-F9A3-B479-02707A67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3AB765-59C0-1B99-D2B3-FE2D3FBB5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7615E2D-273B-4A2F-CE11-A1134C513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「作者透過一系列的消融實驗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(Ablation Study)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，一步步推導出最佳的編碼器架構。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：加入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SSE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單尺度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Encoder)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準確度提升了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+1.9%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，證明特徵之間的互動很重要。但延遲暴增 ，證明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的計算成本很高 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：證明了融合不同尺度的特徵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(Cross-scale)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也能提升準確度，但代價更高。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：這是關鍵的一步。作者發現，只要把這兩個步驟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『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解耦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(Decouple)』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開來做，不僅速度變快，準確度還更高。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D_S5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：作者進一步發現，其實不需要對所有特徵層都做複雜的運算，只要專注在最高層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(S5)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就好，這讓速度大幅提升了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35%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最終的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 E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RT-DETR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的編碼器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，結合了上述所有優點，達到了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47.9% AP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的最高準確度，同時保持了極佳的推論速度。」</a:t>
            </a:r>
            <a:endParaRPr lang="en-US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 B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單純串接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定義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：這只是把不同尺度的特徵圖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($S_3, S_4, S_5$)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簡單地拼在一起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，形成一個長序列。</a:t>
            </a:r>
          </a:p>
          <a:p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9382AD-74C7-C679-F0E3-87AE65F05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119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67C3-F0A3-D7CC-7702-61D6B487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05C2C7-6F3F-E729-5492-7D0F8B6B3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B433C4B-C513-8D37-369A-55770A613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AIFI (Attention-based Intra-scale Feature Interaction)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做什麼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：利用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的自注意力機制進行特徵互動。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關鍵創新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只對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S_5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最高層特徵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做，不對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S3, S4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原因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 Reason)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S5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高層特徵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：擁有豐富的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「語義概念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(Semantic Concepts)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。對它做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Self-Attention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可以捕捉概念實體之間的連結（例如：車頭與車尾的關係），這有助於後續的定位和識別。</a:t>
            </a:r>
          </a:p>
          <a:p>
            <a:pPr lvl="1"/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S3, S4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低層特徵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：缺乏語義概念，主要是線條和細節。對它們做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Self-Attention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不僅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沒必要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（缺乏邏輯連結），還可能有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風險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Duplication and confusion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），而且計算成本極高。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證據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：作者在變體實驗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(D_S5)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中證明，只對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S5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做互動，不僅速度快了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35%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，準確度還提升了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0.4% AP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。這證明了低層特徵不需要昂貴的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運算</a:t>
            </a:r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AIFI </a:t>
            </a:r>
            <a:r>
              <a:rPr lang="zh-TW" altLang="en-US" dirty="0"/>
              <a:t>的概念其實很簡單。</a:t>
            </a:r>
            <a:r>
              <a:rPr lang="en-US" altLang="zh-TW" dirty="0"/>
              <a:t>RT-DETR </a:t>
            </a:r>
            <a:r>
              <a:rPr lang="zh-TW" altLang="en-US" dirty="0"/>
              <a:t>發現只有最高層的 </a:t>
            </a:r>
            <a:r>
              <a:rPr lang="en-US" altLang="zh-TW" dirty="0"/>
              <a:t>S5 </a:t>
            </a:r>
            <a:r>
              <a:rPr lang="zh-TW" altLang="en-US" dirty="0"/>
              <a:t>特徵才具備完整的語義資訊，因此只有 </a:t>
            </a:r>
            <a:r>
              <a:rPr lang="en-US" altLang="zh-TW" dirty="0"/>
              <a:t>S5 </a:t>
            </a:r>
            <a:r>
              <a:rPr lang="zh-TW" altLang="en-US" dirty="0"/>
              <a:t>才適合做自注意力，能捕捉物體之間真正的關係。而像 </a:t>
            </a:r>
            <a:r>
              <a:rPr lang="en-US" altLang="zh-TW" dirty="0"/>
              <a:t>S3</a:t>
            </a:r>
            <a:r>
              <a:rPr lang="zh-TW" altLang="en-US" dirty="0"/>
              <a:t>、</a:t>
            </a:r>
            <a:r>
              <a:rPr lang="en-US" altLang="zh-TW" dirty="0"/>
              <a:t>S4 </a:t>
            </a:r>
            <a:r>
              <a:rPr lang="zh-TW" altLang="en-US" dirty="0"/>
              <a:t>這些低層特徵語義不完整，用自注意力不但沒有幫助，還會浪費大量計算。所以 </a:t>
            </a:r>
            <a:r>
              <a:rPr lang="en-US" altLang="zh-TW" dirty="0"/>
              <a:t>AIFI </a:t>
            </a:r>
            <a:r>
              <a:rPr lang="zh-TW" altLang="en-US" dirty="0"/>
              <a:t>把 </a:t>
            </a:r>
            <a:r>
              <a:rPr lang="en-US" altLang="zh-TW" dirty="0"/>
              <a:t>attention </a:t>
            </a:r>
            <a:r>
              <a:rPr lang="zh-TW" altLang="en-US" dirty="0"/>
              <a:t>完全集中在 </a:t>
            </a:r>
            <a:r>
              <a:rPr lang="en-US" altLang="zh-TW" dirty="0"/>
              <a:t>S5</a:t>
            </a:r>
            <a:r>
              <a:rPr lang="zh-TW" altLang="en-US" dirty="0"/>
              <a:t>，既省計算量，也因為保留高層語義而提升了準確度。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0A849C-2E43-1756-CA23-8241420F9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5769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D35E-D2E4-3B88-8EEA-821AD4A0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1EDC60-F2D8-EA0F-B2C1-C7AD368C0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25A361-D68F-7E21-DD6A-3BCDEFD05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這三張圖會被送入 </a:t>
            </a:r>
            <a:r>
              <a:rPr lang="zh-TW" altLang="en-US" b="1" dirty="0"/>
              <a:t>查詢選擇 </a:t>
            </a:r>
            <a:r>
              <a:rPr lang="en-US" altLang="zh-TW" b="1" dirty="0"/>
              <a:t>(Query Selection)</a:t>
            </a:r>
            <a:r>
              <a:rPr lang="zh-TW" altLang="en-US" dirty="0"/>
              <a:t>，系統會根據這些特徵的分數，挑選出 </a:t>
            </a:r>
            <a:r>
              <a:rPr lang="en-US" altLang="zh-TW" dirty="0"/>
              <a:t>300 </a:t>
            </a:r>
            <a:r>
              <a:rPr lang="zh-TW" altLang="en-US" dirty="0"/>
              <a:t>個最好的候選特徵給解碼器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FPN (Feature Pyramid Network)</a:t>
            </a:r>
            <a:r>
              <a:rPr lang="zh-TW" altLang="en-US" dirty="0"/>
              <a:t>：實現自上而下 </a:t>
            </a:r>
            <a:r>
              <a:rPr lang="en-US" altLang="zh-TW" dirty="0"/>
              <a:t>(Top-down) </a:t>
            </a:r>
            <a:r>
              <a:rPr lang="zh-TW" altLang="en-US" dirty="0"/>
              <a:t>的路徑，將語義信息（深層特徵）傳遞給淺層特徵。</a:t>
            </a:r>
          </a:p>
          <a:p>
            <a:r>
              <a:rPr lang="en-US" altLang="zh-TW" dirty="0"/>
              <a:t>Path Aggregation Network (PANet)</a:t>
            </a:r>
            <a:r>
              <a:rPr lang="zh-TW" altLang="en-US" dirty="0"/>
              <a:t>：在 </a:t>
            </a:r>
            <a:r>
              <a:rPr lang="en-US" altLang="zh-TW" dirty="0"/>
              <a:t>FPN </a:t>
            </a:r>
            <a:r>
              <a:rPr lang="zh-TW" altLang="en-US" dirty="0"/>
              <a:t>之後，新增一條自下而上 </a:t>
            </a:r>
            <a:r>
              <a:rPr lang="en-US" altLang="zh-TW" dirty="0"/>
              <a:t>(Bottom-up) </a:t>
            </a:r>
            <a:r>
              <a:rPr lang="zh-TW" altLang="en-US" dirty="0"/>
              <a:t>的路徑，將定位信息（淺層特徵）傳遞給深層特徵。</a:t>
            </a:r>
          </a:p>
          <a:p>
            <a:r>
              <a:rPr lang="zh-TW" altLang="en-US" dirty="0"/>
              <a:t>作用： 這種雙向的特徵融合（</a:t>
            </a:r>
            <a:r>
              <a:rPr lang="en-US" altLang="zh-TW" dirty="0"/>
              <a:t>FPN + PANet</a:t>
            </a:r>
            <a:r>
              <a:rPr lang="zh-TW" altLang="en-US" dirty="0"/>
              <a:t>）讓網路可以同時擁有準確的物體定位能力 </a:t>
            </a:r>
            <a:r>
              <a:rPr lang="en-US" altLang="zh-TW" dirty="0"/>
              <a:t>(</a:t>
            </a:r>
            <a:r>
              <a:rPr lang="zh-TW" altLang="en-US" dirty="0"/>
              <a:t>來自淺層</a:t>
            </a:r>
            <a:r>
              <a:rPr lang="en-US" altLang="zh-TW" dirty="0"/>
              <a:t>) </a:t>
            </a:r>
            <a:r>
              <a:rPr lang="zh-TW" altLang="en-US" dirty="0"/>
              <a:t>和豐富的物體語義信息 </a:t>
            </a:r>
            <a:r>
              <a:rPr lang="en-US" altLang="zh-TW" dirty="0"/>
              <a:t>(</a:t>
            </a:r>
            <a:r>
              <a:rPr lang="zh-TW" altLang="en-US" dirty="0"/>
              <a:t>來自深層</a:t>
            </a:r>
            <a:r>
              <a:rPr lang="en-US" altLang="zh-TW" dirty="0"/>
              <a:t>)</a:t>
            </a:r>
            <a:r>
              <a:rPr lang="zh-TW" altLang="en-US" dirty="0"/>
              <a:t>，是提升小物體檢測性能的關鍵。</a:t>
            </a:r>
          </a:p>
          <a:p>
            <a:r>
              <a:rPr lang="en-US" altLang="zh-TW" dirty="0" err="1"/>
              <a:t>Upsample</a:t>
            </a:r>
            <a:r>
              <a:rPr lang="en-US" altLang="zh-TW" dirty="0"/>
              <a:t> (</a:t>
            </a:r>
            <a:r>
              <a:rPr lang="zh-TW" altLang="en-US" dirty="0"/>
              <a:t>上採樣層</a:t>
            </a:r>
            <a:r>
              <a:rPr lang="en-US" altLang="zh-TW" dirty="0"/>
              <a:t>)</a:t>
            </a:r>
            <a:r>
              <a:rPr lang="zh-TW" altLang="en-US" dirty="0"/>
              <a:t>：用於 </a:t>
            </a:r>
            <a:r>
              <a:rPr lang="en-US" altLang="zh-TW" dirty="0"/>
              <a:t>Neck </a:t>
            </a:r>
            <a:r>
              <a:rPr lang="zh-TW" altLang="en-US" dirty="0"/>
              <a:t>結構中，將低解析度的特徵圖恢復到高解析度，以便與淺層特徵圖進行拼接融合。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SimConv</a:t>
            </a:r>
            <a:r>
              <a:rPr lang="en-US" altLang="zh-TW" dirty="0"/>
              <a:t>: </a:t>
            </a:r>
            <a:r>
              <a:rPr lang="zh-TW" altLang="en-US" dirty="0"/>
              <a:t>一般 </a:t>
            </a:r>
            <a:r>
              <a:rPr lang="en-US" altLang="zh-TW" dirty="0"/>
              <a:t>Conv + BN + </a:t>
            </a:r>
            <a:r>
              <a:rPr lang="en-US" altLang="zh-TW" dirty="0" err="1"/>
              <a:t>SiLU</a:t>
            </a:r>
            <a:r>
              <a:rPr lang="zh-TW" altLang="en-US" dirty="0"/>
              <a:t>，用於特徵轉換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8F566F-2F14-2F5C-074A-77188DCBF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9444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1C37F-087F-B874-5984-091E313E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66E339-3090-F92D-9542-0A470E31A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6CD302B-CAB7-7EE9-DC7E-7B2886A91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傳統做法 </a:t>
            </a:r>
            <a:r>
              <a:rPr lang="en-US" altLang="zh-TW" dirty="0"/>
              <a:t>(Vanilla Query Selection)</a:t>
            </a:r>
            <a:r>
              <a:rPr lang="zh-TW" altLang="en-US" dirty="0"/>
              <a:t>：</a:t>
            </a:r>
          </a:p>
          <a:p>
            <a:r>
              <a:rPr lang="zh-TW" altLang="en-US" dirty="0"/>
              <a:t>系統只根據 「分類分數 </a:t>
            </a:r>
            <a:r>
              <a:rPr lang="en-US" altLang="zh-TW" dirty="0"/>
              <a:t>(Classification Score)</a:t>
            </a:r>
            <a:r>
              <a:rPr lang="zh-TW" altLang="en-US" dirty="0"/>
              <a:t>」 來挑選特徵送入解碼器。</a:t>
            </a:r>
          </a:p>
          <a:p>
            <a:r>
              <a:rPr lang="zh-TW" altLang="en-US" dirty="0"/>
              <a:t>缺點：模型可能會選到一個「分數很高（很確定是車子）」但「定位很爛（框完全畫歪）」的特徵。這種特徵具有高 「不確定性」，會誤導解碼器 。</a:t>
            </a:r>
          </a:p>
          <a:p>
            <a:endParaRPr lang="zh-TW" altLang="en-US" dirty="0"/>
          </a:p>
          <a:p>
            <a:r>
              <a:rPr lang="zh-TW" altLang="en-US" dirty="0"/>
              <a:t>步驟一：特徵評分 </a:t>
            </a:r>
            <a:r>
              <a:rPr lang="en-US" altLang="zh-TW" dirty="0"/>
              <a:t>(Scoring)</a:t>
            </a:r>
          </a:p>
          <a:p>
            <a:r>
              <a:rPr lang="zh-TW" altLang="en-US" dirty="0"/>
              <a:t>動作：編碼器輸出的每一個特徵點，都會通過預測頭 </a:t>
            </a:r>
            <a:r>
              <a:rPr lang="en-US" altLang="zh-TW" dirty="0"/>
              <a:t>(Prediction Heads) </a:t>
            </a:r>
            <a:r>
              <a:rPr lang="zh-TW" altLang="en-US" dirty="0"/>
              <a:t>產生兩個數值：</a:t>
            </a:r>
          </a:p>
          <a:p>
            <a:r>
              <a:rPr lang="zh-TW" altLang="en-US" dirty="0"/>
              <a:t>分類分數 </a:t>
            </a:r>
            <a:r>
              <a:rPr lang="en-US" altLang="zh-TW" dirty="0"/>
              <a:t>(C)</a:t>
            </a:r>
            <a:r>
              <a:rPr lang="zh-TW" altLang="en-US" dirty="0"/>
              <a:t>：模型認為它是物體的信心程度。</a:t>
            </a:r>
          </a:p>
          <a:p>
            <a:r>
              <a:rPr lang="zh-TW" altLang="en-US" dirty="0"/>
              <a:t>預測框 </a:t>
            </a:r>
            <a:r>
              <a:rPr lang="en-US" altLang="zh-TW" dirty="0"/>
              <a:t>(</a:t>
            </a:r>
            <a:r>
              <a:rPr lang="en-US" altLang="zh-TW" dirty="0" err="1"/>
              <a:t>b_hat</a:t>
            </a:r>
            <a:r>
              <a:rPr lang="en-US" altLang="zh-TW" dirty="0"/>
              <a:t>)</a:t>
            </a:r>
            <a:r>
              <a:rPr lang="zh-TW" altLang="en-US" dirty="0"/>
              <a:t>：模型預測物體的位置。</a:t>
            </a:r>
          </a:p>
          <a:p>
            <a:endParaRPr lang="zh-TW" altLang="en-US" dirty="0"/>
          </a:p>
          <a:p>
            <a:r>
              <a:rPr lang="zh-TW" altLang="en-US" dirty="0"/>
              <a:t>這裡的 定位品質 </a:t>
            </a:r>
            <a:r>
              <a:rPr lang="en-US" altLang="zh-TW" dirty="0"/>
              <a:t>(P) </a:t>
            </a:r>
            <a:r>
              <a:rPr lang="zh-TW" altLang="en-US" dirty="0"/>
              <a:t>是指預測框與真實框 </a:t>
            </a:r>
            <a:r>
              <a:rPr lang="en-US" altLang="zh-TW" dirty="0"/>
              <a:t>(Ground Truth) </a:t>
            </a:r>
            <a:r>
              <a:rPr lang="zh-TW" altLang="en-US" dirty="0"/>
              <a:t>的 </a:t>
            </a:r>
            <a:r>
              <a:rPr lang="en-US" altLang="zh-TW" dirty="0" err="1"/>
              <a:t>IoU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被選中的這 </a:t>
            </a:r>
            <a:r>
              <a:rPr lang="en-US" altLang="zh-TW" dirty="0"/>
              <a:t>300 </a:t>
            </a:r>
            <a:r>
              <a:rPr lang="zh-TW" altLang="en-US" dirty="0"/>
              <a:t>個編碼器特徵，會被轉換成解碼器的 「初始物件查詢 </a:t>
            </a:r>
            <a:r>
              <a:rPr lang="en-US" altLang="zh-TW" dirty="0"/>
              <a:t>(Initial Object Queries)</a:t>
            </a:r>
            <a:r>
              <a:rPr lang="zh-TW" altLang="en-US" dirty="0"/>
              <a:t>」。</a:t>
            </a:r>
          </a:p>
          <a:p>
            <a:r>
              <a:rPr lang="zh-TW" altLang="en-US" dirty="0"/>
              <a:t>特徵向量 </a:t>
            </a:r>
            <a:r>
              <a:rPr lang="en-US" altLang="zh-TW" dirty="0"/>
              <a:t>-&gt; </a:t>
            </a:r>
            <a:r>
              <a:rPr lang="zh-TW" altLang="en-US" dirty="0"/>
              <a:t>變成 內容查詢 </a:t>
            </a:r>
            <a:r>
              <a:rPr lang="en-US" altLang="zh-TW" dirty="0"/>
              <a:t>(Content Queries)</a:t>
            </a:r>
            <a:r>
              <a:rPr lang="zh-TW" altLang="en-US" dirty="0"/>
              <a:t>：告訴解碼器「這個物體長什麼樣」。</a:t>
            </a:r>
          </a:p>
          <a:p>
            <a:r>
              <a:rPr lang="zh-TW" altLang="en-US" dirty="0"/>
              <a:t>預測框 </a:t>
            </a:r>
            <a:r>
              <a:rPr lang="en-US" altLang="zh-TW" dirty="0"/>
              <a:t>-&gt; </a:t>
            </a:r>
            <a:r>
              <a:rPr lang="zh-TW" altLang="en-US" dirty="0"/>
              <a:t>變成 位置查詢 </a:t>
            </a:r>
            <a:r>
              <a:rPr lang="en-US" altLang="zh-TW" dirty="0"/>
              <a:t>(Position Queries / Anchors)</a:t>
            </a:r>
            <a:r>
              <a:rPr lang="zh-TW" altLang="en-US" dirty="0"/>
              <a:t>：告訴解碼器「這個物體在哪裡」。</a:t>
            </a:r>
          </a:p>
          <a:p>
            <a:r>
              <a:rPr lang="en-US" altLang="zh-TW" dirty="0"/>
              <a:t>2. </a:t>
            </a:r>
            <a:r>
              <a:rPr lang="zh-TW" altLang="en-US" dirty="0"/>
              <a:t>解碼器處理：迭代優化 </a:t>
            </a:r>
            <a:r>
              <a:rPr lang="en-US" altLang="zh-TW" dirty="0"/>
              <a:t>(Iterative Optimization)</a:t>
            </a:r>
          </a:p>
          <a:p>
            <a:r>
              <a:rPr lang="zh-TW" altLang="en-US" dirty="0"/>
              <a:t>這 </a:t>
            </a:r>
            <a:r>
              <a:rPr lang="en-US" altLang="zh-TW" dirty="0"/>
              <a:t>300 </a:t>
            </a:r>
            <a:r>
              <a:rPr lang="zh-TW" altLang="en-US" dirty="0"/>
              <a:t>個查詢進入 </a:t>
            </a:r>
            <a:r>
              <a:rPr lang="en-US" altLang="zh-TW" dirty="0"/>
              <a:t>Transformer </a:t>
            </a:r>
            <a:r>
              <a:rPr lang="zh-TW" altLang="en-US" dirty="0"/>
              <a:t>解碼器 </a:t>
            </a:r>
            <a:r>
              <a:rPr lang="en-US" altLang="zh-TW" dirty="0"/>
              <a:t>(Decoder)</a:t>
            </a:r>
            <a:r>
              <a:rPr lang="zh-TW" altLang="en-US" dirty="0"/>
              <a:t>。解碼器通常由多個層 </a:t>
            </a:r>
            <a:r>
              <a:rPr lang="en-US" altLang="zh-TW" dirty="0"/>
              <a:t>(Layers</a:t>
            </a:r>
            <a:r>
              <a:rPr lang="zh-TW" altLang="en-US" dirty="0"/>
              <a:t>，例如 </a:t>
            </a:r>
            <a:r>
              <a:rPr lang="en-US" altLang="zh-TW" dirty="0"/>
              <a:t>6 </a:t>
            </a:r>
            <a:r>
              <a:rPr lang="zh-TW" altLang="en-US" dirty="0"/>
              <a:t>層</a:t>
            </a:r>
            <a:r>
              <a:rPr lang="en-US" altLang="zh-TW" dirty="0"/>
              <a:t>) </a:t>
            </a:r>
            <a:r>
              <a:rPr lang="zh-TW" altLang="en-US" dirty="0"/>
              <a:t>組成，進行循環式的精修 。</a:t>
            </a:r>
          </a:p>
          <a:p>
            <a:r>
              <a:rPr lang="zh-TW" altLang="en-US" dirty="0"/>
              <a:t>在每一層中，查詢會經歷以下過程：</a:t>
            </a:r>
          </a:p>
          <a:p>
            <a:r>
              <a:rPr lang="zh-TW" altLang="en-US" dirty="0"/>
              <a:t>自注意力 </a:t>
            </a:r>
            <a:r>
              <a:rPr lang="en-US" altLang="zh-TW" dirty="0"/>
              <a:t>(Self-Attention)</a:t>
            </a:r>
            <a:r>
              <a:rPr lang="zh-TW" altLang="en-US" dirty="0"/>
              <a:t>：查詢之間互相溝通。例如，確認彼此沒有重疊框住同一個物體。</a:t>
            </a:r>
          </a:p>
          <a:p>
            <a:r>
              <a:rPr lang="zh-TW" altLang="en-US" dirty="0"/>
              <a:t>交叉注意力 </a:t>
            </a:r>
            <a:r>
              <a:rPr lang="en-US" altLang="zh-TW" dirty="0"/>
              <a:t>(Cross-Attention)</a:t>
            </a:r>
            <a:r>
              <a:rPr lang="zh-TW" altLang="en-US" dirty="0"/>
              <a:t>：查詢會回頭去「看」編碼器輸出的圖像特徵 </a:t>
            </a:r>
            <a:r>
              <a:rPr lang="en-US" altLang="zh-TW" dirty="0"/>
              <a:t>(memory)</a:t>
            </a:r>
            <a:r>
              <a:rPr lang="zh-TW" altLang="en-US" dirty="0"/>
              <a:t>，特別關注在它負責的那個位置附近，提取更豐富的細節。</a:t>
            </a: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每個特徵點 </a:t>
            </a:r>
            <a:r>
              <a:rPr lang="en-US" altLang="zh-TW" dirty="0"/>
              <a:t>memory </a:t>
            </a:r>
            <a:r>
              <a:rPr lang="zh-TW" altLang="en-US" dirty="0"/>
              <a:t>都會通過兩個「評審窗口」（</a:t>
            </a:r>
            <a:r>
              <a:rPr lang="en-US" altLang="zh-TW" dirty="0"/>
              <a:t>MLP Heads</a:t>
            </a:r>
            <a:r>
              <a:rPr lang="zh-TW" altLang="en-US" dirty="0"/>
              <a:t>）</a:t>
            </a:r>
          </a:p>
          <a:p>
            <a:r>
              <a:rPr lang="zh-TW" altLang="en-US" dirty="0"/>
              <a:t>分類評審 </a:t>
            </a:r>
            <a:r>
              <a:rPr lang="en-US" altLang="zh-TW" dirty="0"/>
              <a:t>(</a:t>
            </a:r>
            <a:r>
              <a:rPr lang="en-US" altLang="zh-TW" dirty="0" err="1"/>
              <a:t>enc_score_head</a:t>
            </a:r>
            <a:r>
              <a:rPr lang="en-US" altLang="zh-TW" dirty="0"/>
              <a:t>)</a:t>
            </a:r>
            <a:r>
              <a:rPr lang="zh-TW" altLang="en-US" dirty="0"/>
              <a:t>：看特徵，打分數。</a:t>
            </a:r>
          </a:p>
          <a:p>
            <a:r>
              <a:rPr lang="zh-TW" altLang="en-US" dirty="0"/>
              <a:t>輸出：</a:t>
            </a:r>
            <a:r>
              <a:rPr lang="en-US" altLang="zh-TW" dirty="0" err="1"/>
              <a:t>enc_outputs_logits</a:t>
            </a:r>
            <a:r>
              <a:rPr lang="en-US" altLang="zh-TW" dirty="0"/>
              <a:t> (</a:t>
            </a:r>
            <a:r>
              <a:rPr lang="zh-TW" altLang="en-US" dirty="0"/>
              <a:t>我是車子的機率是 </a:t>
            </a:r>
            <a:r>
              <a:rPr lang="en-US" altLang="zh-TW" dirty="0"/>
              <a:t>90%)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定位評審 </a:t>
            </a:r>
            <a:r>
              <a:rPr lang="en-US" altLang="zh-TW" dirty="0"/>
              <a:t>(</a:t>
            </a:r>
            <a:r>
              <a:rPr lang="en-US" altLang="zh-TW" dirty="0" err="1"/>
              <a:t>enc_bbox_head</a:t>
            </a:r>
            <a:r>
              <a:rPr lang="en-US" altLang="zh-TW" dirty="0"/>
              <a:t>)</a:t>
            </a:r>
            <a:r>
              <a:rPr lang="zh-TW" altLang="en-US" dirty="0"/>
              <a:t>：看特徵，猜偏移。</a:t>
            </a:r>
          </a:p>
          <a:p>
            <a:r>
              <a:rPr lang="zh-TW" altLang="en-US" dirty="0"/>
              <a:t>輸出：</a:t>
            </a:r>
            <a:r>
              <a:rPr lang="en-US" altLang="zh-TW" dirty="0" err="1"/>
              <a:t>enc_outputs_coord</a:t>
            </a:r>
            <a:r>
              <a:rPr lang="en-US" altLang="zh-TW" dirty="0"/>
              <a:t> (</a:t>
            </a:r>
            <a:r>
              <a:rPr lang="zh-TW" altLang="en-US" dirty="0"/>
              <a:t>我覺得框框應該往右下移一點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關鍵運算：預測框 </a:t>
            </a:r>
            <a:r>
              <a:rPr lang="en-US" altLang="zh-TW" dirty="0"/>
              <a:t>= </a:t>
            </a:r>
            <a:r>
              <a:rPr lang="zh-TW" altLang="en-US" dirty="0"/>
              <a:t>號碼牌座標 </a:t>
            </a:r>
            <a:r>
              <a:rPr lang="en-US" altLang="zh-TW" dirty="0"/>
              <a:t>(anchors) + </a:t>
            </a:r>
            <a:r>
              <a:rPr lang="zh-TW" altLang="en-US" dirty="0"/>
              <a:t>偏移量。現在我們知道每個參賽者預測的框具體在哪了</a:t>
            </a:r>
          </a:p>
          <a:p>
            <a:endParaRPr lang="zh-TW" altLang="en-US" dirty="0"/>
          </a:p>
          <a:p>
            <a:r>
              <a:rPr lang="en-US" altLang="zh-TW" dirty="0"/>
              <a:t>Auxiliary Prediction Heads </a:t>
            </a:r>
            <a:r>
              <a:rPr lang="zh-TW" altLang="en-US" dirty="0"/>
              <a:t>它掛在每一層解碼器的後面（所以稱為輔助預測頭 </a:t>
            </a:r>
            <a:r>
              <a:rPr lang="en-US" altLang="zh-TW" dirty="0"/>
              <a:t>Auxiliary Prediction Heads</a:t>
            </a:r>
            <a:r>
              <a:rPr lang="zh-TW" altLang="en-US" dirty="0"/>
              <a:t>）</a:t>
            </a:r>
          </a:p>
          <a:p>
            <a:r>
              <a:rPr lang="zh-TW" altLang="en-US" dirty="0"/>
              <a:t>如果模型對某個特徵的分類很有信心 </a:t>
            </a:r>
            <a:r>
              <a:rPr lang="en-US" altLang="zh-TW" dirty="0"/>
              <a:t>(</a:t>
            </a:r>
            <a:r>
              <a:rPr lang="zh-TW" altLang="en-US" dirty="0"/>
              <a:t>Ｃ高</a:t>
            </a:r>
            <a:r>
              <a:rPr lang="en-US" altLang="zh-TW" dirty="0"/>
              <a:t>)</a:t>
            </a:r>
            <a:r>
              <a:rPr lang="zh-TW" altLang="en-US" dirty="0"/>
              <a:t>，且預測的框也很準 </a:t>
            </a:r>
            <a:r>
              <a:rPr lang="en-US" altLang="zh-TW" dirty="0"/>
              <a:t>(</a:t>
            </a:r>
            <a:r>
              <a:rPr lang="zh-TW" altLang="en-US" dirty="0"/>
              <a:t>Ｐ高</a:t>
            </a:r>
            <a:r>
              <a:rPr lang="en-US" altLang="zh-TW" dirty="0"/>
              <a:t>)</a:t>
            </a:r>
            <a:r>
              <a:rPr lang="zh-TW" altLang="en-US" dirty="0"/>
              <a:t>，兩者差異小，不確定性Ｕ就低（這是我們想要的）。</a:t>
            </a:r>
          </a:p>
          <a:p>
            <a:r>
              <a:rPr lang="zh-TW" altLang="en-US" dirty="0"/>
              <a:t>如果模型分類信心很高，但框畫得很爛 </a:t>
            </a:r>
            <a:r>
              <a:rPr lang="en-US" altLang="zh-TW" dirty="0"/>
              <a:t>(</a:t>
            </a:r>
            <a:r>
              <a:rPr lang="zh-TW" altLang="en-US" dirty="0"/>
              <a:t>Ｐ低</a:t>
            </a:r>
            <a:r>
              <a:rPr lang="en-US" altLang="zh-TW" dirty="0"/>
              <a:t>)</a:t>
            </a:r>
            <a:r>
              <a:rPr lang="zh-TW" altLang="en-US" dirty="0"/>
              <a:t>，兩者差異大，不確定性 Ｕ就高（這是我們要避免的）。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losbox</a:t>
            </a:r>
            <a:endParaRPr lang="en-US" altLang="zh-TW" dirty="0"/>
          </a:p>
          <a:p>
            <a:r>
              <a:rPr lang="en-US" altLang="zh-TW" b="1" dirty="0"/>
              <a:t>L1 loss</a:t>
            </a:r>
            <a:r>
              <a:rPr lang="zh-TW" altLang="en-US" dirty="0"/>
              <a:t>（框的座標差距）</a:t>
            </a:r>
          </a:p>
          <a:p>
            <a:r>
              <a:rPr lang="en-US" altLang="zh-TW" b="1" dirty="0" err="1"/>
              <a:t>GIoU</a:t>
            </a:r>
            <a:r>
              <a:rPr lang="en-US" altLang="zh-TW" b="1" dirty="0"/>
              <a:t> loss</a:t>
            </a:r>
            <a:r>
              <a:rPr lang="zh-TW" altLang="en-US" dirty="0"/>
              <a:t>（框的重疊程度）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F641A8-F6E6-CC6F-7008-32758009F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346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7054-0CF8-8145-BF2E-3CEAD621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0E249BE-7239-5971-A56E-C27B63FFC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5DC8B1-094D-C7AA-6BF5-BE51AC81C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B31493-1E71-C936-9EEC-521BBDF8E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5781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D021-43CE-67FC-E3EF-006167B0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41EEA2-B393-F0FE-F195-C00446CCA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620EC0-1355-EE25-65DC-04D2BED39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1A4821-E65B-91AC-B085-50E614A4B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421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0CBE-52AC-4352-9324-1CA273F3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15B7A3-5569-D0CE-33EA-26A5384F1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90D67F-5531-FF9E-612A-E0D62E242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effectLst/>
              </a:rPr>
              <a:t>「這句話簡單來說就是：</a:t>
            </a:r>
            <a:r>
              <a:rPr lang="zh-TW" altLang="en-US" b="1" dirty="0">
                <a:effectLst/>
              </a:rPr>
              <a:t>傳統 </a:t>
            </a:r>
            <a:r>
              <a:rPr lang="en-US" altLang="zh-TW" b="1" dirty="0">
                <a:effectLst/>
              </a:rPr>
              <a:t>DETR </a:t>
            </a:r>
            <a:r>
              <a:rPr lang="zh-TW" altLang="en-US" b="1" dirty="0">
                <a:effectLst/>
              </a:rPr>
              <a:t>太慢了</a:t>
            </a:r>
            <a:r>
              <a:rPr lang="zh-TW" altLang="en-US" dirty="0">
                <a:effectLst/>
              </a:rPr>
              <a:t>。 一般的即時偵測至少需要 </a:t>
            </a:r>
            <a:r>
              <a:rPr lang="en-US" altLang="zh-TW" dirty="0">
                <a:effectLst/>
              </a:rPr>
              <a:t>30 FPS</a:t>
            </a:r>
            <a:r>
              <a:rPr lang="zh-TW" altLang="en-US" dirty="0">
                <a:effectLst/>
              </a:rPr>
              <a:t>，但像 </a:t>
            </a:r>
            <a:r>
              <a:rPr lang="en-US" altLang="zh-TW" dirty="0">
                <a:effectLst/>
              </a:rPr>
              <a:t>DINO </a:t>
            </a:r>
            <a:r>
              <a:rPr lang="zh-TW" altLang="en-US" dirty="0">
                <a:effectLst/>
              </a:rPr>
              <a:t>這種強大的 </a:t>
            </a:r>
            <a:r>
              <a:rPr lang="en-US" altLang="zh-TW" dirty="0">
                <a:effectLst/>
              </a:rPr>
              <a:t>DETR </a:t>
            </a:r>
            <a:r>
              <a:rPr lang="zh-TW" altLang="en-US" dirty="0">
                <a:effectLst/>
              </a:rPr>
              <a:t>模型只有 </a:t>
            </a:r>
            <a:r>
              <a:rPr lang="en-US" altLang="zh-TW" dirty="0">
                <a:effectLst/>
              </a:rPr>
              <a:t>5 FPS</a:t>
            </a:r>
            <a:r>
              <a:rPr lang="zh-TW" altLang="en-US" dirty="0">
                <a:effectLst/>
              </a:rPr>
              <a:t>。 由於速度等級差太多（差了 </a:t>
            </a:r>
            <a:r>
              <a:rPr lang="en-US" altLang="zh-TW" dirty="0">
                <a:effectLst/>
              </a:rPr>
              <a:t>20 </a:t>
            </a:r>
            <a:r>
              <a:rPr lang="zh-TW" altLang="en-US" dirty="0">
                <a:effectLst/>
              </a:rPr>
              <a:t>幾倍），它們根本不在</a:t>
            </a:r>
            <a:r>
              <a:rPr lang="en-US" altLang="zh-TW" dirty="0">
                <a:effectLst/>
              </a:rPr>
              <a:t>『</a:t>
            </a:r>
            <a:r>
              <a:rPr lang="zh-TW" altLang="en-US" dirty="0">
                <a:effectLst/>
              </a:rPr>
              <a:t>即時偵測</a:t>
            </a:r>
            <a:r>
              <a:rPr lang="en-US" altLang="zh-TW" dirty="0">
                <a:effectLst/>
              </a:rPr>
              <a:t>』</a:t>
            </a:r>
            <a:r>
              <a:rPr lang="zh-TW" altLang="en-US" dirty="0">
                <a:effectLst/>
              </a:rPr>
              <a:t>的討論範圍內，所以作者在表格中直接略過了它們的速度測試，只專注於比較那些真的跑得快的模型（如 </a:t>
            </a:r>
            <a:r>
              <a:rPr lang="en-US" altLang="zh-TW" dirty="0">
                <a:effectLst/>
              </a:rPr>
              <a:t>YOLO</a:t>
            </a:r>
            <a:r>
              <a:rPr lang="zh-TW" altLang="en-US" dirty="0">
                <a:effectLst/>
              </a:rPr>
              <a:t>）。」</a:t>
            </a:r>
          </a:p>
          <a:p>
            <a:endParaRPr lang="en-US" altLang="zh-TW" dirty="0"/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$AP^{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}$ (AP)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平均準確率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這是最綜合的指標。它是將 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門檻從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0.95 (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每隔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0.05)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算出來的所有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取平均。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數值越高，代表模型整體表現越好。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$AP_{50}^{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}$ (AP50)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寬鬆標準的準確率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只計算 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0.50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時的準確度。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這是早期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PASCAL VOC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的標準，要求比較低（只要框到一半就算對）。通常這個分數會很高。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$AP_{75}^{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}$ (AP75)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嚴格標準的準確率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只計算 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0.75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時的準確度。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要求框必須畫得比較準（重疊度高）才算分。這個分數通常比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AP50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低很多，更能反映模型的定位能力。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39FAD0-5A22-849A-2180-070325107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069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6654-A711-7538-19AF-22E66CD3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7DCBAE-4F41-EF9F-1834-2BF68DF44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8398636-2805-2581-9985-CC2D1B9ED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分類選擇到的比例</a:t>
            </a:r>
            <a:endParaRPr lang="en-US" altLang="zh-TW" sz="1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US" altLang="zh-TW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Prop_{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cls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en-US" altLang="zh-TW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TW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分類高分比例</a:t>
            </a:r>
            <a:r>
              <a:rPr lang="en-US" altLang="zh-TW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1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US" altLang="zh-TW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Prop_{both} (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高品質特徵比例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—— 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關鍵指標</a:t>
            </a:r>
          </a:p>
          <a:p>
            <a:r>
              <a:rPr lang="zh-TW" altLang="en-US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定義：分類分數 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&gt; 0.5 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且 定位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IoU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&gt; 0.5 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的特徵比例</a:t>
            </a:r>
            <a:endParaRPr lang="en-US" altLang="zh-TW" sz="1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altLang="zh-TW" sz="1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4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比較了傳統的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Vanilla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方法與我們提出的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Uncertainty-minimal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數據顯示，使用新方法後，高品質特徵的比例從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0.30%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大幅提升到了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0.67%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，成長了超過一倍。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這證明了我們成功解決了特徵品質不一的問題，為解碼器提供了更精準的初始查詢。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這種優越的初始化直接反映在最終效能上，使模型的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提升了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0.8%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，證明了不確定性最小化策略的有效性</a:t>
            </a:r>
          </a:p>
          <a:p>
            <a:endParaRPr lang="zh-TW" altLang="en-US" sz="1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112EBE-0D4A-2623-3B31-FE226A0A2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116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DB798-0BDB-B8CC-A2B7-36C697D7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E427529-E33E-BE63-E523-793A18E11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D21E9A-1C52-648B-80CC-7DDA7ADF1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($Det^4, Det^5, Det^6, Det^7$)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模型在訓練時設定的解碼器總層數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b="1" dirty="0"/>
              <a:t>橫列 </a:t>
            </a:r>
            <a:r>
              <a:rPr lang="en-US" altLang="zh-TW" b="1" dirty="0"/>
              <a:t>(ID 1~7)</a:t>
            </a:r>
            <a:r>
              <a:rPr lang="zh-TW" altLang="en-US" dirty="0"/>
              <a:t>：</a:t>
            </a:r>
          </a:p>
          <a:p>
            <a:r>
              <a:rPr lang="zh-TW" altLang="en-US" dirty="0"/>
              <a:t>代表</a:t>
            </a:r>
            <a:r>
              <a:rPr lang="zh-TW" altLang="en-US" b="1" dirty="0"/>
              <a:t>在推論 </a:t>
            </a:r>
            <a:r>
              <a:rPr lang="en-US" altLang="zh-TW" b="1" dirty="0"/>
              <a:t>(Inference) </a:t>
            </a:r>
            <a:r>
              <a:rPr lang="zh-TW" altLang="en-US" b="1" dirty="0"/>
              <a:t>時，我們實際跑到第幾層就輸出結果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ID </a:t>
            </a:r>
            <a:r>
              <a:rPr lang="zh-TW" altLang="en-US" dirty="0"/>
              <a:t>越大 </a:t>
            </a:r>
            <a:r>
              <a:rPr lang="en-US" altLang="zh-TW" dirty="0"/>
              <a:t>= </a:t>
            </a:r>
            <a:r>
              <a:rPr lang="zh-TW" altLang="en-US" dirty="0"/>
              <a:t>跑越多層 </a:t>
            </a:r>
            <a:r>
              <a:rPr lang="en-US" altLang="zh-TW" dirty="0"/>
              <a:t>= </a:t>
            </a:r>
            <a:r>
              <a:rPr lang="zh-TW" altLang="en-US" dirty="0"/>
              <a:t>計算越久。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6AACC4-341D-A611-830F-87CC66C1E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168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5799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4038-1076-4A1E-8E31-2BBAC68E9E1B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DC7B609-95E6-97E1-41B8-B9A7D1CC4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2E541D3-00C6-2003-B805-933A89193576}"/>
              </a:ext>
            </a:extLst>
          </p:cNvPr>
          <p:cNvSpPr/>
          <p:nvPr/>
        </p:nvSpPr>
        <p:spPr>
          <a:xfrm>
            <a:off x="2250753" y="3020728"/>
            <a:ext cx="1513263" cy="1474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FC8222-60FE-101C-4DA7-1FC8D6BB9A2A}"/>
              </a:ext>
            </a:extLst>
          </p:cNvPr>
          <p:cNvSpPr/>
          <p:nvPr/>
        </p:nvSpPr>
        <p:spPr>
          <a:xfrm>
            <a:off x="2267377" y="3125334"/>
            <a:ext cx="7483650" cy="886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B081DB5B-CF4B-0736-46C1-B843CE2F54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3429000"/>
            <a:ext cx="9144000" cy="333375"/>
          </a:xfrm>
        </p:spPr>
        <p:txBody>
          <a:bodyPr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Resource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2DE982FB-EE64-4B78-EAD9-724C3D4222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105275"/>
            <a:ext cx="9144000" cy="4762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>
              <a:buNone/>
              <a:defRPr/>
            </a:lvl2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92273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88624"/>
            <a:ext cx="9601200" cy="856211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164E-F4D1-4EFD-868B-3A45C0CA8A0C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62755" y="6492875"/>
            <a:ext cx="539213" cy="365125"/>
          </a:xfrm>
        </p:spPr>
        <p:txBody>
          <a:bodyPr/>
          <a:lstStyle>
            <a:lvl1pPr>
              <a:defRPr sz="2000" b="1" i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91C7D7B7-44F8-4991-81DE-88616561D6D2}"/>
              </a:ext>
            </a:extLst>
          </p:cNvPr>
          <p:cNvSpPr txBox="1">
            <a:spLocks/>
          </p:cNvSpPr>
          <p:nvPr/>
        </p:nvSpPr>
        <p:spPr>
          <a:xfrm>
            <a:off x="2488352" y="184298"/>
            <a:ext cx="6582550" cy="581966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4000" dirty="0">
              <a:solidFill>
                <a:schemeClr val="tx1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9D7B77-591D-495A-ACB2-A95A59C2AEA1}"/>
              </a:ext>
            </a:extLst>
          </p:cNvPr>
          <p:cNvSpPr/>
          <p:nvPr/>
        </p:nvSpPr>
        <p:spPr>
          <a:xfrm>
            <a:off x="2411297" y="1180538"/>
            <a:ext cx="7047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zh-TW" alt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7350BA-98A2-D52C-ECB3-83C1B118B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C5FEF00-0B61-6D7A-A9B1-0B92AD28E1C7}"/>
              </a:ext>
            </a:extLst>
          </p:cNvPr>
          <p:cNvSpPr/>
          <p:nvPr/>
        </p:nvSpPr>
        <p:spPr>
          <a:xfrm>
            <a:off x="838200" y="959251"/>
            <a:ext cx="96012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D0FEA35-461C-A55C-8BDD-6E88714DBF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defRPr sz="2000">
                <a:latin typeface="+mn-lt"/>
              </a:defRPr>
            </a:lvl1pPr>
            <a:lvl2pPr marL="571500" indent="-228600">
              <a:defRPr sz="2000">
                <a:latin typeface="+mn-lt"/>
              </a:defRPr>
            </a:lvl2pPr>
            <a:lvl3pPr marL="914400" indent="-228600">
              <a:defRPr sz="2000">
                <a:latin typeface="+mn-lt"/>
              </a:defRPr>
            </a:lvl3pPr>
            <a:lvl4pPr marL="1257300" indent="-228600">
              <a:defRPr sz="2000">
                <a:latin typeface="+mn-lt"/>
              </a:defRPr>
            </a:lvl4pPr>
            <a:lvl5pPr marL="1600200" indent="-228600">
              <a:defRPr sz="2000">
                <a:latin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F5279E3-3B94-4F32-99E9-1F3FD8046D7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6356353"/>
            <a:ext cx="11533517" cy="501648"/>
          </a:xfrm>
        </p:spPr>
        <p:txBody>
          <a:bodyPr anchor="b">
            <a:noAutofit/>
          </a:bodyPr>
          <a:lstStyle>
            <a:lvl1pPr marL="0" indent="0">
              <a:spcBef>
                <a:spcPts val="200"/>
              </a:spcBef>
              <a:buNone/>
              <a:defRPr sz="1000"/>
            </a:lvl1pPr>
          </a:lstStyle>
          <a:p>
            <a:pPr lvl="0"/>
            <a:r>
              <a:rPr lang="en-US" altLang="zh-TW" dirty="0"/>
              <a:t>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4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BB7350BA-98A2-D52C-ECB3-83C1B118B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3160296" y="2823785"/>
            <a:ext cx="63515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800" b="1" dirty="0">
                <a:latin typeface="Times New Roman" charset="0"/>
                <a:ea typeface="Times New Roman" charset="0"/>
                <a:cs typeface="Times New Roman" charset="0"/>
              </a:rPr>
              <a:t>Thank you for listening</a:t>
            </a:r>
            <a:endParaRPr kumimoji="1" lang="zh-TW" altLang="en-US" sz="48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09032" y="3654782"/>
            <a:ext cx="748365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2387558" y="3715249"/>
            <a:ext cx="1513263" cy="906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9755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47AD-64FF-47B8-A96D-63D79DCED579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94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9E29-26ED-4589-8ED1-8CA0CA665BC5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90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30B6-1E80-477A-BAF0-4AC3039100C8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25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627F-07AA-4B63-A518-0E765A54DFE8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76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BBC4D-75F3-4AA0-A5B7-0E89C5073DFB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21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6B89-50A7-4791-8B31-A3CA86FB73B6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88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AF2D-0C01-4352-81FC-2EA94307F2AF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29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F2C5-AF5F-4179-8261-9B74E1A757DD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739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8E80-40FA-4E56-B1EB-B362DAB82C24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851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88624"/>
            <a:ext cx="9601200" cy="856211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A63B-833C-4A35-8393-67EFD8FA6E3E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62755" y="6492875"/>
            <a:ext cx="539213" cy="365125"/>
          </a:xfrm>
        </p:spPr>
        <p:txBody>
          <a:bodyPr/>
          <a:lstStyle>
            <a:lvl1pPr>
              <a:defRPr sz="2000" b="1" i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91C7D7B7-44F8-4991-81DE-88616561D6D2}"/>
              </a:ext>
            </a:extLst>
          </p:cNvPr>
          <p:cNvSpPr txBox="1">
            <a:spLocks/>
          </p:cNvSpPr>
          <p:nvPr/>
        </p:nvSpPr>
        <p:spPr>
          <a:xfrm>
            <a:off x="2488352" y="184298"/>
            <a:ext cx="6582550" cy="581966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4000" dirty="0">
              <a:solidFill>
                <a:schemeClr val="tx1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9D7B77-591D-495A-ACB2-A95A59C2AEA1}"/>
              </a:ext>
            </a:extLst>
          </p:cNvPr>
          <p:cNvSpPr/>
          <p:nvPr/>
        </p:nvSpPr>
        <p:spPr>
          <a:xfrm>
            <a:off x="2411297" y="1180538"/>
            <a:ext cx="7047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zh-TW" alt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7350BA-98A2-D52C-ECB3-83C1B118B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C5FEF00-0B61-6D7A-A9B1-0B92AD28E1C7}"/>
              </a:ext>
            </a:extLst>
          </p:cNvPr>
          <p:cNvSpPr/>
          <p:nvPr/>
        </p:nvSpPr>
        <p:spPr>
          <a:xfrm>
            <a:off x="838200" y="959251"/>
            <a:ext cx="96012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D0FEA35-461C-A55C-8BDD-6E88714DBF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defRPr sz="2000">
                <a:latin typeface="+mn-lt"/>
              </a:defRPr>
            </a:lvl1pPr>
            <a:lvl2pPr marL="571500" indent="-228600">
              <a:defRPr sz="2000">
                <a:latin typeface="+mn-lt"/>
              </a:defRPr>
            </a:lvl2pPr>
            <a:lvl3pPr marL="914400" indent="-228600">
              <a:defRPr sz="2000">
                <a:latin typeface="+mn-lt"/>
              </a:defRPr>
            </a:lvl3pPr>
            <a:lvl4pPr marL="1257300" indent="-228600">
              <a:defRPr sz="2000">
                <a:latin typeface="+mn-lt"/>
              </a:defRPr>
            </a:lvl4pPr>
            <a:lvl5pPr marL="1600200" indent="-228600">
              <a:defRPr sz="2000">
                <a:latin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F5279E3-3B94-4F32-99E9-1F3FD8046D7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6356353"/>
            <a:ext cx="11533517" cy="501648"/>
          </a:xfrm>
        </p:spPr>
        <p:txBody>
          <a:bodyPr anchor="b">
            <a:noAutofit/>
          </a:bodyPr>
          <a:lstStyle>
            <a:lvl1pPr marL="0" indent="0">
              <a:spcBef>
                <a:spcPts val="200"/>
              </a:spcBef>
              <a:buNone/>
              <a:defRPr sz="1000"/>
            </a:lvl1pPr>
          </a:lstStyle>
          <a:p>
            <a:pPr lvl="0"/>
            <a:r>
              <a:rPr lang="en-US" altLang="zh-TW" dirty="0"/>
              <a:t>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4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8A2F8-4F65-43A2-B6F9-53DC0863478F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3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Ø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B5854-4637-4174-A8C3-E4DAAE0BD63C}" type="datetime1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3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Ø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44932-6CD0-0CC1-C039-F3B92CA6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903" y="1141216"/>
            <a:ext cx="9656190" cy="1757997"/>
          </a:xfrm>
        </p:spPr>
        <p:txBody>
          <a:bodyPr>
            <a:normAutofit/>
          </a:bodyPr>
          <a:lstStyle/>
          <a:p>
            <a:r>
              <a:rPr lang="en-US" altLang="zh-TW" dirty="0"/>
              <a:t>DETRs Beat YOLOs on Real-time Object Detection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557B6C-599C-2E3B-959F-75B8B0174D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IEEE/CVF Conference on Computer Vision and Pattern Recognition(CVPR),</a:t>
            </a:r>
            <a:r>
              <a:rPr lang="nl-NL" altLang="zh-TW" dirty="0"/>
              <a:t> 2024</a:t>
            </a:r>
          </a:p>
          <a:p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F1F3752-FB47-57DF-3974-387C819F5E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50662" y="3958788"/>
            <a:ext cx="10750476" cy="476250"/>
          </a:xfrm>
        </p:spPr>
        <p:txBody>
          <a:bodyPr>
            <a:noAutofit/>
          </a:bodyPr>
          <a:lstStyle/>
          <a:p>
            <a:r>
              <a:rPr lang="en-US" altLang="zh-TW" sz="1800" dirty="0"/>
              <a:t>Yian Zhao1, Wenyu </a:t>
            </a:r>
            <a:r>
              <a:rPr lang="en-US" altLang="zh-TW" sz="1800" dirty="0" err="1"/>
              <a:t>Lv</a:t>
            </a:r>
            <a:r>
              <a:rPr lang="en-US" altLang="zh-TW" sz="1800" dirty="0"/>
              <a:t>,  </a:t>
            </a:r>
            <a:r>
              <a:rPr lang="en-US" altLang="zh-TW" sz="1800" dirty="0" err="1"/>
              <a:t>Shangliang</a:t>
            </a:r>
            <a:r>
              <a:rPr lang="en-US" altLang="zh-TW" sz="1800" dirty="0"/>
              <a:t> Xu, </a:t>
            </a:r>
            <a:r>
              <a:rPr lang="en-US" altLang="zh-TW" sz="1800" dirty="0" err="1"/>
              <a:t>Jinman</a:t>
            </a:r>
            <a:r>
              <a:rPr lang="en-US" altLang="zh-TW" sz="1800" dirty="0"/>
              <a:t> Wei, Guanzhong Wang, Qingqing Dang, Yi Liu, Jie Chen</a:t>
            </a:r>
          </a:p>
          <a:p>
            <a:r>
              <a:rPr lang="en-US" altLang="zh-TW" sz="1800" dirty="0"/>
              <a:t>Baidu Inc, Beijing, China 2 School of Electronic and Computer Engineering, Peking University, Shenzhen, China</a:t>
            </a:r>
            <a:endParaRPr lang="zh-TW" altLang="en-US" sz="18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6FB65E7-55E3-6436-9C6E-5824ACD6EDF9}"/>
              </a:ext>
            </a:extLst>
          </p:cNvPr>
          <p:cNvSpPr txBox="1"/>
          <p:nvPr/>
        </p:nvSpPr>
        <p:spPr>
          <a:xfrm>
            <a:off x="3929847" y="5014306"/>
            <a:ext cx="4332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Date : 2025/11/26</a:t>
            </a:r>
            <a:br>
              <a:rPr lang="en-US" altLang="zh-TW" dirty="0"/>
            </a:br>
            <a:r>
              <a:rPr lang="en-US" altLang="zh-TW" dirty="0"/>
              <a:t>Presenter : Yi-Cheng Wang (</a:t>
            </a:r>
            <a:r>
              <a:rPr lang="zh-TW" altLang="en-US" dirty="0"/>
              <a:t>王翊丞</a:t>
            </a:r>
            <a:r>
              <a:rPr lang="en-US" altLang="zh-TW" dirty="0"/>
              <a:t>)</a:t>
            </a:r>
            <a:br>
              <a:rPr lang="zh-TW" altLang="en-US" dirty="0"/>
            </a:br>
            <a:r>
              <a:rPr lang="en-US" altLang="zh-TW" dirty="0"/>
              <a:t>Advisor : Prof. Jim-Wei Wu (</a:t>
            </a:r>
            <a:r>
              <a:rPr lang="zh-TW" altLang="en-US" dirty="0"/>
              <a:t>吳俊緯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671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217E78-1B4D-B13F-0CDA-F0605896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C4D2C8-66B4-35AC-377C-9163FA00092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D4B8AD-DEF5-D910-E576-AE5441EC9B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End-to-end Speed of Detectors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The Real-time DETR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Experiment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Conclusion</a:t>
            </a:r>
            <a:endParaRPr lang="zh-TW" altLang="en-US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4540614-6391-EE10-8D00-1536E869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20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CD1B-54E2-1A00-7AC0-6B83ED81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8BCA72-E0AB-8D4E-27C4-B461EE28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I. Introduction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6DA342F-453A-835C-5B62-E71D349C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351EBB-1893-98AB-2CD2-9741BCD047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Real-time object detection is widely used in tracking</a:t>
            </a:r>
            <a:r>
              <a:rPr lang="en-US" altLang="zh-TW" dirty="0"/>
              <a:t>[40]</a:t>
            </a:r>
            <a:r>
              <a:rPr lang="en-US" dirty="0"/>
              <a:t>, surveillance[20], and autonomous driving[2]. Existing CNN-based architectures such as YOLO achieve a good balance between speed and accuracy, but the use of Non-Maximum </a:t>
            </a:r>
            <a:r>
              <a:rPr lang="en-US" dirty="0" err="1"/>
              <a:t>Suppresion</a:t>
            </a:r>
            <a:r>
              <a:rPr lang="en-US" dirty="0"/>
              <a:t> (NMS) post-processing slows down inference and introduces manually tuned hyperparameters, leading to instability in the results.</a:t>
            </a:r>
          </a:p>
          <a:p>
            <a:r>
              <a:rPr lang="en-US" dirty="0"/>
              <a:t>Recently, end-to-end Transformer-based detectors (DETRs)</a:t>
            </a:r>
            <a:r>
              <a:rPr lang="zh-TW" altLang="en-US" dirty="0"/>
              <a:t> </a:t>
            </a:r>
            <a:r>
              <a:rPr lang="en-US" dirty="0"/>
              <a:t>have gained attention for their simplified, NMS-free design, but their </a:t>
            </a:r>
            <a:r>
              <a:rPr lang="en-US" b="1" dirty="0"/>
              <a:t>high computational cost limits real-time performance</a:t>
            </a:r>
            <a:r>
              <a:rPr lang="en-US" dirty="0"/>
              <a:t>. This motivates exploring real-time DETRs that can surpass YOLO in both speed and accuracy.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83F40D82-FC63-77B4-01B5-E62D40C648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3"/>
            <a:ext cx="11908715" cy="501648"/>
          </a:xfrm>
        </p:spPr>
        <p:txBody>
          <a:bodyPr/>
          <a:lstStyle/>
          <a:p>
            <a:r>
              <a:rPr lang="en-US" altLang="zh-TW" dirty="0"/>
              <a:t>[2] Daniel </a:t>
            </a:r>
            <a:r>
              <a:rPr lang="en-US" altLang="zh-TW" dirty="0" err="1"/>
              <a:t>Bogdoll</a:t>
            </a:r>
            <a:r>
              <a:rPr lang="en-US" altLang="zh-TW" dirty="0"/>
              <a:t>, Maximilian Nitsche, and J Marius </a:t>
            </a:r>
            <a:r>
              <a:rPr lang="en-US" altLang="zh-TW" dirty="0" err="1"/>
              <a:t>Z¨ollner</a:t>
            </a:r>
            <a:r>
              <a:rPr lang="en-US" altLang="zh-TW" dirty="0"/>
              <a:t>. Anomaly detection in autonomous driving: A survey. In Pro </a:t>
            </a:r>
            <a:r>
              <a:rPr lang="en-US" altLang="zh-TW" dirty="0" err="1"/>
              <a:t>ceedings</a:t>
            </a:r>
            <a:r>
              <a:rPr lang="en-US" altLang="zh-TW" dirty="0"/>
              <a:t> of the IEEE/CVF Conference on Computer Vision and Pattern Recognition, pages 4488–4499, 2022.</a:t>
            </a:r>
          </a:p>
          <a:p>
            <a:r>
              <a:rPr lang="en-US" altLang="zh-TW" dirty="0"/>
              <a:t>[26] Rashmika </a:t>
            </a:r>
            <a:r>
              <a:rPr lang="en-US" altLang="zh-TW" dirty="0" err="1"/>
              <a:t>Nawaratne</a:t>
            </a:r>
            <a:r>
              <a:rPr lang="en-US" altLang="zh-TW" dirty="0"/>
              <a:t>, </a:t>
            </a:r>
            <a:r>
              <a:rPr lang="en-US" altLang="zh-TW" dirty="0" err="1"/>
              <a:t>Damminda</a:t>
            </a:r>
            <a:r>
              <a:rPr lang="en-US" altLang="zh-TW" dirty="0"/>
              <a:t> Alahakoon, Daswin DeSilva, and </a:t>
            </a:r>
            <a:r>
              <a:rPr lang="en-US" altLang="zh-TW" dirty="0" err="1"/>
              <a:t>Xinghuo</a:t>
            </a:r>
            <a:r>
              <a:rPr lang="en-US" altLang="zh-TW" dirty="0"/>
              <a:t> Yu. Spatiotemporal anomaly detection using deep learning for real-time video surveillance. IEEE Transactions on Industrial Informatics, 16(1):393–402, 2019.</a:t>
            </a:r>
          </a:p>
          <a:p>
            <a:r>
              <a:rPr lang="en-US" altLang="zh-TW" dirty="0"/>
              <a:t>[40] </a:t>
            </a:r>
            <a:r>
              <a:rPr lang="en-US" altLang="zh-TW" dirty="0" err="1"/>
              <a:t>Fangao</a:t>
            </a:r>
            <a:r>
              <a:rPr lang="en-US" altLang="zh-TW" dirty="0"/>
              <a:t> Zeng, Bin Dong, </a:t>
            </a:r>
            <a:r>
              <a:rPr lang="en-US" altLang="zh-TW" dirty="0" err="1"/>
              <a:t>Yuang</a:t>
            </a:r>
            <a:r>
              <a:rPr lang="en-US" altLang="zh-TW" dirty="0"/>
              <a:t> Zhang, </a:t>
            </a:r>
            <a:r>
              <a:rPr lang="en-US" altLang="zh-TW" dirty="0" err="1"/>
              <a:t>Tiancai</a:t>
            </a:r>
            <a:r>
              <a:rPr lang="en-US" altLang="zh-TW" dirty="0"/>
              <a:t> Wang, Xi </a:t>
            </a:r>
            <a:r>
              <a:rPr lang="en-US" altLang="zh-TW" dirty="0" err="1"/>
              <a:t>angyu</a:t>
            </a:r>
            <a:r>
              <a:rPr lang="en-US" altLang="zh-TW" dirty="0"/>
              <a:t> Zhang, and Yichen Wei. </a:t>
            </a:r>
            <a:r>
              <a:rPr lang="en-US" altLang="zh-TW" dirty="0" err="1"/>
              <a:t>Motr</a:t>
            </a:r>
            <a:r>
              <a:rPr lang="en-US" altLang="zh-TW" dirty="0"/>
              <a:t>: End-to-end multiple object tracking with transformer. In European Conference on Computer Vision, pages 659–675. Springer, 2022.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4638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C1C1-1D39-A582-AFD1-D93BFED8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E7700-D1DF-B841-8288-901E27C1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I. Introduction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261B550-A6CB-DC54-C288-D03D1BC1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06BEAE-5F97-C8EB-0162-DF1DF91788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authors analyze DETR to reduce redundant computation and improve accuracy. They find that although </a:t>
            </a:r>
            <a:r>
              <a:rPr lang="en-US" altLang="zh-TW" b="1" dirty="0"/>
              <a:t>multi-scale features </a:t>
            </a:r>
            <a:r>
              <a:rPr lang="en-US" altLang="zh-TW" dirty="0"/>
              <a:t>help in accelerating the training convergence, they also introduce </a:t>
            </a:r>
            <a:r>
              <a:rPr lang="en-US" altLang="zh-TW" b="1" dirty="0"/>
              <a:t>high computational cost</a:t>
            </a:r>
            <a:r>
              <a:rPr lang="en-US" altLang="zh-TW" dirty="0"/>
              <a:t> in the encoder, making a redesign necessary for real-time use. They further observe that existing query selection methods </a:t>
            </a:r>
            <a:r>
              <a:rPr lang="en-US" altLang="zh-TW" b="1" dirty="0"/>
              <a:t>rely only on classification scores and ignore localization quality</a:t>
            </a:r>
            <a:r>
              <a:rPr lang="en-US" altLang="zh-TW" dirty="0"/>
              <a:t>, leading to high uncertainty performance.</a:t>
            </a:r>
          </a:p>
          <a:p>
            <a:r>
              <a:rPr lang="en-US" altLang="zh-TW" dirty="0"/>
              <a:t>This paper propose </a:t>
            </a:r>
            <a:r>
              <a:rPr lang="en-US" altLang="zh-TW" b="1" dirty="0"/>
              <a:t>RT-DETR</a:t>
            </a:r>
            <a:r>
              <a:rPr lang="en-US" altLang="zh-TW" dirty="0"/>
              <a:t>, the first real-time end-to-end object detector. It introduces an </a:t>
            </a:r>
            <a:r>
              <a:rPr lang="en-US" altLang="zh-TW" b="1" dirty="0"/>
              <a:t>efficient hybrid encoder</a:t>
            </a:r>
            <a:r>
              <a:rPr lang="en-US" altLang="zh-TW" dirty="0"/>
              <a:t> for accelerating multi-scale feature processing and an </a:t>
            </a:r>
            <a:r>
              <a:rPr lang="en-US" altLang="zh-TW" b="1" dirty="0"/>
              <a:t>uncertainty-minimal query selection</a:t>
            </a:r>
            <a:r>
              <a:rPr lang="en-US" altLang="zh-TW" dirty="0"/>
              <a:t> to improve accuracy. RT-DETR also supports </a:t>
            </a:r>
            <a:r>
              <a:rPr lang="en-US" altLang="zh-TW" b="1" dirty="0"/>
              <a:t>flexible speed tuning</a:t>
            </a:r>
            <a:r>
              <a:rPr lang="en-US" altLang="zh-TW" dirty="0"/>
              <a:t> for different real-time scenarios without retraining.</a:t>
            </a:r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6A8A0705-AE44-DAA7-C371-03C5CD4F1D3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330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129C-F024-6C00-475A-9CB16D0F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95393-C5C2-A6F0-57DB-5C3630B2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I. Introduction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5D9FE64-9FF9-44EE-3F0E-FCAC29A4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內容版面配置區 5" descr="一張含有 文字, 行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79892924-0821-10EC-DA59-4806ED06E37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53" y="1306577"/>
            <a:ext cx="5316207" cy="4688034"/>
          </a:xfrm>
        </p:spPr>
      </p:pic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FCD6622B-F0EE-F3A4-A211-CAA0FED0042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DD4323-8460-0E3B-5FD0-B0EB05A40FC5}"/>
              </a:ext>
            </a:extLst>
          </p:cNvPr>
          <p:cNvSpPr txBox="1"/>
          <p:nvPr/>
        </p:nvSpPr>
        <p:spPr>
          <a:xfrm>
            <a:off x="5547360" y="2154725"/>
            <a:ext cx="65119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RT-DETR </a:t>
            </a:r>
            <a:r>
              <a:rPr lang="zh-TW" altLang="en-US" dirty="0"/>
              <a:t>vs Large YOLOs:</a:t>
            </a:r>
            <a:r>
              <a:rPr lang="en-US" altLang="zh-TW" dirty="0"/>
              <a:t>			           </a:t>
            </a:r>
            <a:r>
              <a:rPr lang="zh-TW" altLang="en-US" dirty="0"/>
              <a:t>RT-DETR-R50 (53.1% AP </a:t>
            </a:r>
            <a:r>
              <a:rPr lang="en-US" altLang="zh-TW" dirty="0"/>
              <a:t>and</a:t>
            </a:r>
            <a:r>
              <a:rPr lang="zh-TW" altLang="en-US" dirty="0"/>
              <a:t> 108 FPS) outperforms YOLO L-models. RT-DETR-R101 (54.3% AP </a:t>
            </a:r>
            <a:r>
              <a:rPr lang="en-US" altLang="zh-TW" dirty="0"/>
              <a:t>and</a:t>
            </a:r>
            <a:r>
              <a:rPr lang="zh-TW" altLang="en-US" dirty="0"/>
              <a:t> 74 FPS) outperforms YOLO X-models. 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RT-DETR </a:t>
            </a:r>
            <a:r>
              <a:rPr lang="zh-TW" altLang="en-US" dirty="0"/>
              <a:t>vs Lighter YOLOs: </a:t>
            </a:r>
            <a:r>
              <a:rPr lang="en-US" altLang="zh-TW" dirty="0"/>
              <a:t>			           </a:t>
            </a:r>
            <a:r>
              <a:rPr lang="zh-TW" altLang="en-US" dirty="0"/>
              <a:t>The "Scaled" RT-DETR models (R18, R50 Scaled) outperform the lighter S and M YOLO models. 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RT-DETR </a:t>
            </a:r>
            <a:r>
              <a:rPr lang="zh-TW" altLang="en-US" dirty="0"/>
              <a:t>vs. Other DETRs: </a:t>
            </a:r>
            <a:r>
              <a:rPr lang="en-US" altLang="zh-TW" dirty="0"/>
              <a:t>			           </a:t>
            </a:r>
            <a:r>
              <a:rPr lang="zh-TW" altLang="en-US" dirty="0"/>
              <a:t>RT-DETR-R50 is also 21 times faster and 2.2% more accurate than DINO-R50, demonstrating a significant leap in speed.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437F87D-A088-0587-A8CA-1B9B07FE5B97}"/>
              </a:ext>
            </a:extLst>
          </p:cNvPr>
          <p:cNvSpPr txBox="1"/>
          <p:nvPr/>
        </p:nvSpPr>
        <p:spPr>
          <a:xfrm>
            <a:off x="91441" y="5994611"/>
            <a:ext cx="6142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Figure 1. Compared to previously advanced real-time object detectors</a:t>
            </a:r>
            <a:endParaRPr lang="zh-TW" altLang="en-US" sz="1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CF050A-DB1F-A603-CD38-3BDC2940443D}"/>
              </a:ext>
            </a:extLst>
          </p:cNvPr>
          <p:cNvSpPr txBox="1"/>
          <p:nvPr/>
        </p:nvSpPr>
        <p:spPr>
          <a:xfrm>
            <a:off x="5547360" y="1446569"/>
            <a:ext cx="6142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/>
              <a:t>Figure 1. shows RT-DETR achieves a superior trade-off between speed (Latency) and accuracy (AP).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530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5AA83-9CE8-90D7-D624-0475EF8B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CF84C-A15E-2EDC-3F35-F8A637EA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I. Introduction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0022DD7-35DC-552E-3DD5-9A21E3B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B978F7-A4E2-5CD6-4C51-D5BE144A84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TW" sz="2200" dirty="0"/>
              <a:t>The contributions of this work are as follows:</a:t>
            </a:r>
          </a:p>
          <a:p>
            <a:pPr lvl="1"/>
            <a:r>
              <a:rPr lang="en-US" altLang="zh-TW" dirty="0"/>
              <a:t>This paper propose the first real-time end-to-end object detector called RT-DETR, which not only outperforms the previously advanced</a:t>
            </a:r>
            <a:r>
              <a:rPr lang="zh-TW" altLang="en-US" dirty="0"/>
              <a:t> </a:t>
            </a:r>
            <a:r>
              <a:rPr lang="en-US" altLang="zh-TW" dirty="0"/>
              <a:t>YOLO</a:t>
            </a:r>
            <a:r>
              <a:rPr lang="zh-TW" altLang="en-US" dirty="0"/>
              <a:t> </a:t>
            </a:r>
            <a:r>
              <a:rPr lang="en-US" altLang="zh-TW" dirty="0"/>
              <a:t>detectors in both speed and accuracy but also eliminates the negative impact caused by NMS post-processing</a:t>
            </a:r>
            <a:r>
              <a:rPr lang="zh-TW" altLang="en-US" dirty="0"/>
              <a:t> </a:t>
            </a:r>
            <a:r>
              <a:rPr lang="en-US" altLang="zh-TW" dirty="0"/>
              <a:t>on real-time object detection</a:t>
            </a:r>
          </a:p>
          <a:p>
            <a:pPr lvl="1"/>
            <a:r>
              <a:rPr lang="en-US" altLang="zh-TW" dirty="0"/>
              <a:t>Quantitatively analyze the impact of NMS on the speed and accuracy of YOLO detectors,</a:t>
            </a:r>
            <a:r>
              <a:rPr lang="zh-TW" altLang="en-US" dirty="0"/>
              <a:t> </a:t>
            </a:r>
            <a:r>
              <a:rPr lang="en-US" altLang="zh-TW" dirty="0"/>
              <a:t>and establish an end-to-end speed benchmark to test the end-to-end inference speed of real-time detectors. </a:t>
            </a:r>
          </a:p>
          <a:p>
            <a:pPr lvl="1"/>
            <a:r>
              <a:rPr lang="en-US" altLang="zh-TW" dirty="0"/>
              <a:t>The proposed RT-DETR supports flexible speed tuning by adjusting the number of decoder layers to accommodate various scenarios without retraining.</a:t>
            </a:r>
          </a:p>
          <a:p>
            <a:pPr lvl="1"/>
            <a:endParaRPr lang="en-US" altLang="zh-TW" dirty="0"/>
          </a:p>
          <a:p>
            <a:endParaRPr lang="en-US" altLang="zh-TW" sz="22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D23B45B-1BA6-EB56-7AD2-4D97ABE12A0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665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5AFA-212E-C270-2C10-230BAF88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3FABEF-E37F-5EDF-3444-BC992E24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2D767D3-56D5-9253-8103-65284937AD3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4A61F8E-F262-8D82-32C0-7859708E97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b="1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End-to-end Speed of Detectors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The Real-time DETR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Experiment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Conclusion</a:t>
            </a:r>
            <a:endParaRPr lang="zh-TW" altLang="en-US" sz="280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0540AC5-24DB-9DC9-1F8F-DB500E30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23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DDDB5D-A062-FB6E-0A4C-33025603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II. Related Work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91AC2EC-CF46-1CD6-D34F-8CF08CB6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BD66B8-D3CB-94D2-60EE-4F229AEC08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altLang="zh-TW" sz="2200" b="1" dirty="0"/>
              <a:t>Real-time Object Detectors							            </a:t>
            </a:r>
            <a:r>
              <a:rPr lang="en-US" dirty="0"/>
              <a:t>The YOLO series has has become the most popular framework for real-time detection due to its reasonable trade-off between speed and accuracy. However, these advanced detectors produce numerous overlapping boxes and require NMS post-processing, which ultimately slows down their inference speed.</a:t>
            </a:r>
            <a:endParaRPr lang="en-US" altLang="zh-TW" b="1" dirty="0"/>
          </a:p>
          <a:p>
            <a:pPr marL="457200" indent="-457200">
              <a:buFont typeface="+mj-lt"/>
              <a:buAutoNum type="alphaUcPeriod" startAt="2"/>
            </a:pPr>
            <a:r>
              <a:rPr lang="en-US" altLang="zh-TW" sz="2200" b="1" dirty="0"/>
              <a:t>End-to-end Object Detectors</a:t>
            </a:r>
            <a:r>
              <a:rPr lang="zh-TW" altLang="en-US" sz="2200" b="1" dirty="0"/>
              <a:t> </a:t>
            </a:r>
            <a:r>
              <a:rPr lang="en-US" altLang="zh-TW" sz="2200" b="1" dirty="0"/>
              <a:t>								</a:t>
            </a:r>
            <a:r>
              <a:rPr lang="zh-TW" altLang="en-US" sz="2200" b="1" dirty="0"/>
              <a:t> </a:t>
            </a:r>
            <a:r>
              <a:rPr lang="en-US" altLang="zh-TW" dirty="0"/>
              <a:t>End-to-end detectors like </a:t>
            </a:r>
            <a:r>
              <a:rPr lang="en-US" altLang="zh-TW" b="1" dirty="0"/>
              <a:t>DETR</a:t>
            </a:r>
            <a:r>
              <a:rPr lang="en-US" altLang="zh-TW" dirty="0"/>
              <a:t> remove hand-crafted anchors and NMS by using bipartite matching for </a:t>
            </a:r>
            <a:r>
              <a:rPr lang="en-US" altLang="zh-TW" b="1" dirty="0"/>
              <a:t>one-to-one prediction</a:t>
            </a:r>
            <a:r>
              <a:rPr lang="en-US" altLang="zh-TW" dirty="0"/>
              <a:t>. However, they face issues such as </a:t>
            </a:r>
            <a:r>
              <a:rPr lang="en-US" altLang="zh-TW" b="1" dirty="0"/>
              <a:t>high computational cost</a:t>
            </a:r>
            <a:r>
              <a:rPr lang="en-US" altLang="zh-TW" dirty="0"/>
              <a:t>, and </a:t>
            </a:r>
            <a:r>
              <a:rPr lang="en-US" altLang="zh-TW" b="1" dirty="0"/>
              <a:t>difficult query optimization</a:t>
            </a:r>
            <a:r>
              <a:rPr lang="en-US" altLang="zh-TW" dirty="0"/>
              <a:t>. Many variants (e.g., </a:t>
            </a:r>
            <a:r>
              <a:rPr lang="en-US" altLang="zh-TW" b="1" dirty="0"/>
              <a:t>DINO-DETR</a:t>
            </a:r>
            <a:r>
              <a:rPr lang="en-US" altLang="zh-TW" dirty="0"/>
              <a:t>) address these problems. </a:t>
            </a:r>
            <a:r>
              <a:rPr lang="en-US" altLang="zh-TW" b="1" dirty="0"/>
              <a:t>RT-DETR</a:t>
            </a:r>
            <a:r>
              <a:rPr lang="en-US" altLang="zh-TW" dirty="0"/>
              <a:t> further reduces computation and improves query initialization, achieving </a:t>
            </a:r>
            <a:r>
              <a:rPr lang="en-US" altLang="zh-TW" b="1" dirty="0"/>
              <a:t>real-time performance</a:t>
            </a:r>
            <a:r>
              <a:rPr lang="en-US" altLang="zh-TW" dirty="0"/>
              <a:t> beyond existing detectors.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B163A27-91EE-C736-0AC8-199B5E31C16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01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55DD-E23E-01A0-9F60-53904979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DDBC5-DB20-155B-AF21-E6D2CA82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2982CE-CC73-63D4-8F68-D5094DDD421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7ECEEB0-566E-6CA9-D6D0-7CC8E46C1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b="1" dirty="0"/>
              <a:t>End-to-end Speed of Detectors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The Real-time DETR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Experiment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Conclusion</a:t>
            </a:r>
            <a:endParaRPr lang="zh-TW" altLang="en-US" sz="280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7549F88-2790-8C0B-47CE-4716FD97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457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3961-D8BF-7B7E-9F50-798E7F9A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A1A36D-C30D-42B0-F6E7-98E5B70E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III. End-to-end Speed of Detectors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AD3E26D-C372-3FAB-D2E6-86489795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823EA1-7148-183E-A4CA-447E2DD00E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AutoNum type="alphaUcPeriod"/>
            </a:pPr>
            <a:r>
              <a:rPr lang="en-US" sz="2200" b="1" dirty="0"/>
              <a:t>Analysis of NMS</a:t>
            </a:r>
          </a:p>
          <a:p>
            <a:r>
              <a:rPr lang="en-US" altLang="zh-TW" b="1" dirty="0"/>
              <a:t>NMS</a:t>
            </a:r>
            <a:r>
              <a:rPr lang="en-US" altLang="zh-TW" dirty="0"/>
              <a:t> is a</a:t>
            </a:r>
            <a:r>
              <a:rPr lang="zh-TW" altLang="en-US" dirty="0"/>
              <a:t> </a:t>
            </a:r>
            <a:r>
              <a:rPr lang="en-US" altLang="zh-TW" dirty="0"/>
              <a:t>post-processing algorithm that removes </a:t>
            </a:r>
            <a:r>
              <a:rPr lang="en-US" altLang="zh-TW" b="1" dirty="0"/>
              <a:t>overlapping boxes </a:t>
            </a:r>
            <a:r>
              <a:rPr lang="en-US" altLang="zh-TW" dirty="0"/>
              <a:t>using </a:t>
            </a:r>
            <a:r>
              <a:rPr lang="en-US" altLang="zh-TW" b="1" dirty="0"/>
              <a:t>confidence</a:t>
            </a:r>
            <a:r>
              <a:rPr lang="en-US" altLang="zh-TW" dirty="0"/>
              <a:t> and </a:t>
            </a:r>
            <a:r>
              <a:rPr lang="en-US" altLang="zh-TW" b="1" dirty="0" err="1"/>
              <a:t>IoU</a:t>
            </a:r>
            <a:r>
              <a:rPr lang="en-US" altLang="zh-TW" b="1" dirty="0"/>
              <a:t> thresholds</a:t>
            </a:r>
            <a:r>
              <a:rPr lang="en-US" altLang="zh-TW" dirty="0"/>
              <a:t>. Boxes below the confidence threshold are discarded, and among overlapping boxes, the one with a lower score is removed.</a:t>
            </a:r>
            <a:endParaRPr 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DA27802D-9FA5-9488-5BBA-228ED7E9CD2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" name="內容版面配置區 6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CD487927-AA6A-784F-9CFA-F5EA365B4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4"/>
          <a:stretch>
            <a:fillRect/>
          </a:stretch>
        </p:blipFill>
        <p:spPr>
          <a:xfrm>
            <a:off x="515203" y="2848981"/>
            <a:ext cx="4462676" cy="335496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12056ED-9E48-36CE-5F46-A3687064FC46}"/>
              </a:ext>
            </a:extLst>
          </p:cNvPr>
          <p:cNvSpPr txBox="1"/>
          <p:nvPr/>
        </p:nvSpPr>
        <p:spPr>
          <a:xfrm>
            <a:off x="5130279" y="3521775"/>
            <a:ext cx="54615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dirty="0"/>
              <a:t>This iterative process continues until all category boxes are processed, making the NMS execution time mainly dependent on the number of boxes and the two thresholds. </a:t>
            </a:r>
          </a:p>
          <a:p>
            <a:pPr algn="just"/>
            <a:endParaRPr lang="en-US" altLang="zh-TW" dirty="0"/>
          </a:p>
          <a:p>
            <a:pPr algn="just"/>
            <a:r>
              <a:rPr lang="en-US" altLang="zh-TW" dirty="0"/>
              <a:t>The figure clearly demonstrates that the performance of </a:t>
            </a:r>
            <a:r>
              <a:rPr lang="en-US" altLang="zh-TW" b="1" dirty="0"/>
              <a:t>NMS is highly sensitive to its hyperparameters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80BD673-A7BF-1B87-1A63-021A0708954B}"/>
              </a:ext>
            </a:extLst>
          </p:cNvPr>
          <p:cNvSpPr txBox="1"/>
          <p:nvPr/>
        </p:nvSpPr>
        <p:spPr>
          <a:xfrm>
            <a:off x="-46616" y="6126263"/>
            <a:ext cx="6142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Figure 2. The number of boxes at different confidence thresholds.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1262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B896-528F-42B7-356E-DB56B926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5026AE-0AC3-D00C-9D9F-AD315393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III. End-to-end Speed of Detectors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2D8A01-51C8-F768-FA73-A95975024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BF0E35-1FEC-9112-7812-F0BC019435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4"/>
            <a:ext cx="9601200" cy="5470801"/>
          </a:xfrm>
        </p:spPr>
        <p:txBody>
          <a:bodyPr>
            <a:normAutofit/>
          </a:bodyPr>
          <a:lstStyle/>
          <a:p>
            <a:r>
              <a:rPr lang="en-US" altLang="zh-TW" dirty="0"/>
              <a:t>The results indicate that inappropriate confidence thresholds can cause a substantial increase in false positives or false negatives produced by the detector. When the </a:t>
            </a:r>
            <a:r>
              <a:rPr lang="en-US" altLang="zh-TW" b="1" dirty="0"/>
              <a:t>confidence threshold is set to</a:t>
            </a:r>
            <a:r>
              <a:rPr lang="en-US" altLang="zh-TW" dirty="0"/>
              <a:t> </a:t>
            </a:r>
            <a:r>
              <a:rPr lang="en-US" altLang="zh-TW" b="1" dirty="0"/>
              <a:t>0.001 and the </a:t>
            </a:r>
            <a:r>
              <a:rPr lang="en-US" altLang="zh-TW" b="1" dirty="0" err="1"/>
              <a:t>IoU</a:t>
            </a:r>
            <a:r>
              <a:rPr lang="en-US" altLang="zh-TW" b="1" dirty="0"/>
              <a:t> threshold to 0.7, YOLOv8 achieves the highest AP performance</a:t>
            </a:r>
            <a:r>
              <a:rPr lang="en-US" altLang="zh-TW" dirty="0"/>
              <a:t>; however, the corresponding </a:t>
            </a:r>
            <a:r>
              <a:rPr lang="en-US" altLang="zh-TW" b="1" dirty="0"/>
              <a:t>NMS processing time is considerably higher</a:t>
            </a:r>
            <a:r>
              <a:rPr lang="en-US" altLang="zh-TW" dirty="0"/>
              <a:t>.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Since YOLO detectors typically report inference speed without accounting for NMS time, establishing an end-to-end speed benchmark is essential for a fair and comprehensive evaluation.</a:t>
            </a:r>
            <a:endParaRPr lang="zh-TW" altLang="en-US" dirty="0"/>
          </a:p>
        </p:txBody>
      </p:sp>
      <p:pic>
        <p:nvPicPr>
          <p:cNvPr id="6" name="內容版面配置區 5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B35FF222-616E-F8C7-926F-44379A2D5D1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50"/>
          <a:stretch>
            <a:fillRect/>
          </a:stretch>
        </p:blipFill>
        <p:spPr>
          <a:xfrm>
            <a:off x="3526568" y="2738906"/>
            <a:ext cx="5445451" cy="2254588"/>
          </a:xfr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698FD867-BF6D-7540-A811-0F4DA2FD8AD4}"/>
              </a:ext>
            </a:extLst>
          </p:cNvPr>
          <p:cNvSpPr txBox="1"/>
          <p:nvPr/>
        </p:nvSpPr>
        <p:spPr>
          <a:xfrm>
            <a:off x="2480977" y="4993494"/>
            <a:ext cx="7536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Table 1. The effect of </a:t>
            </a:r>
            <a:r>
              <a:rPr lang="en-US" altLang="zh-TW" sz="1400" dirty="0" err="1"/>
              <a:t>IoU</a:t>
            </a:r>
            <a:r>
              <a:rPr lang="en-US" altLang="zh-TW" sz="1400" dirty="0"/>
              <a:t> threshold and confidence threshold on accuracy and NMS execution time.</a:t>
            </a:r>
            <a:endParaRPr lang="zh-TW" altLang="en-US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3BB4F7-3E48-4262-7AE6-2A1F9FE8BDD7}"/>
              </a:ext>
            </a:extLst>
          </p:cNvPr>
          <p:cNvSpPr/>
          <p:nvPr/>
        </p:nvSpPr>
        <p:spPr>
          <a:xfrm>
            <a:off x="6507033" y="3525390"/>
            <a:ext cx="2218764" cy="4334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0111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550C-4E8C-E4E4-8478-D89ACF55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C1A-4D62-4E39-D352-61AB20DB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III. End-to-end Speed of Detectors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AC3FCD4-08B2-DA90-7444-8583CFCB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39E240-0EC7-F94D-82F1-39CEB63572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64700" cy="490537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 startAt="2"/>
            </a:pPr>
            <a:r>
              <a:rPr lang="en-US" sz="2200" b="1" dirty="0"/>
              <a:t>End-to-end Speed </a:t>
            </a:r>
            <a:r>
              <a:rPr lang="en-US" b="1" dirty="0"/>
              <a:t>Benchmark								</a:t>
            </a:r>
            <a:r>
              <a:rPr lang="zh-TW" altLang="en-US" b="1" dirty="0"/>
              <a:t>     </a:t>
            </a:r>
            <a:r>
              <a:rPr lang="en-US" dirty="0"/>
              <a:t>To fairly compare real-time detectors, an end-to-end speed benchmark is established using the COCO val2017 dataset[19]. The benchmark measures average inference time, including </a:t>
            </a:r>
            <a:r>
              <a:rPr lang="en-US" b="1" dirty="0"/>
              <a:t>NMS post-processing </a:t>
            </a:r>
            <a:r>
              <a:rPr lang="en-US" dirty="0"/>
              <a:t>with </a:t>
            </a:r>
            <a:r>
              <a:rPr lang="en-US" dirty="0" err="1"/>
              <a:t>TensorRT</a:t>
            </a:r>
            <a:r>
              <a:rPr lang="en-US" dirty="0"/>
              <a:t> on a T4 GPU.</a:t>
            </a:r>
            <a:endParaRPr lang="en-US" b="1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63FECF-C498-C465-6BDE-BD3141AEE7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3"/>
            <a:ext cx="11662755" cy="501648"/>
          </a:xfrm>
        </p:spPr>
        <p:txBody>
          <a:bodyPr/>
          <a:lstStyle/>
          <a:p>
            <a:r>
              <a:rPr lang="en-US" altLang="zh-TW" dirty="0"/>
              <a:t>[19] Tsung-Yi Lin, Michael Maire, Serge Belongie, James Hays, Pietro Perona, Deva Ramanan, Piotr </a:t>
            </a:r>
            <a:r>
              <a:rPr lang="en-US" altLang="zh-TW" dirty="0" err="1"/>
              <a:t>Doll´ar</a:t>
            </a:r>
            <a:r>
              <a:rPr lang="en-US" altLang="zh-TW" dirty="0"/>
              <a:t>, and C Lawrence </a:t>
            </a:r>
            <a:r>
              <a:rPr lang="en-US" altLang="zh-TW" dirty="0" err="1"/>
              <a:t>Zitnick</a:t>
            </a:r>
            <a:r>
              <a:rPr lang="en-US" altLang="zh-TW" dirty="0"/>
              <a:t>. Microsoft coco: Common objects in context. In European Conference on Computer Vision, pages 740–755. Springer, 2014.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2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0B70-1DCF-4269-AA9E-54A9EFF2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EC056E-F5F7-A954-2827-F8F947EF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1B6693-2613-39EA-08D6-49CC29F73B2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92982A2-D6D9-0DD2-1161-17FED4F003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End-to-end Speed of Detectors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b="1" dirty="0"/>
              <a:t>The Real-time DETR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Experiment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Conclusion</a:t>
            </a:r>
            <a:endParaRPr lang="zh-TW" altLang="en-US" sz="280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2379E32-C00D-75BB-FB67-8D608AA7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264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6B29-CD50-3A4C-A274-1AFB3854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799676-C597-3950-C341-437860CBC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The Real-time DETR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BDD11A-40FA-549E-3909-D51C7910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7A8439-845F-6F42-29A3-6921C61F7E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US" altLang="zh-TW" sz="2200" b="1" dirty="0"/>
              <a:t>Model Overview</a:t>
            </a:r>
            <a:endParaRPr lang="en-US" sz="2200" b="1" dirty="0"/>
          </a:p>
          <a:p>
            <a:r>
              <a:rPr lang="en-US" dirty="0"/>
              <a:t>RT-DETR consists of a backbone, an efficient hybrid encoder, and a Transformer decoder. The encoder processes multi-scale features from the backbone, the uncertainty-minimal query selection generates high-quality queries, and the decoder iteratively refines them to predict object categories and boxes.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949D4F-2F33-A909-2EBB-154F67D982F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01" y="3180035"/>
            <a:ext cx="9013397" cy="312869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A0857C-B222-FA3A-3127-2CD2EC29DC07}"/>
              </a:ext>
            </a:extLst>
          </p:cNvPr>
          <p:cNvSpPr txBox="1"/>
          <p:nvPr/>
        </p:nvSpPr>
        <p:spPr>
          <a:xfrm>
            <a:off x="3028950" y="6308725"/>
            <a:ext cx="6134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Figure 3. Overview of RT-DETR.</a:t>
            </a:r>
            <a:endParaRPr lang="en-TW" sz="1400" dirty="0"/>
          </a:p>
        </p:txBody>
      </p:sp>
    </p:spTree>
    <p:extLst>
      <p:ext uri="{BB962C8B-B14F-4D97-AF65-F5344CB8AC3E}">
        <p14:creationId xmlns:p14="http://schemas.microsoft.com/office/powerpoint/2010/main" val="2937589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59FC8-3BFF-9C88-8DA0-B2DAE35E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5D4065-FE6C-FCDC-BEE9-1A3500D9A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The Real-time DETR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E5CEBF-666E-7148-8EA0-B06044C7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534103-33DC-5C6A-0743-9E2CF39970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 startAt="2"/>
            </a:pPr>
            <a:r>
              <a:rPr lang="en-US" altLang="zh-TW" sz="2200" b="1" dirty="0"/>
              <a:t>Efficient Hybrid Encoder</a:t>
            </a:r>
          </a:p>
          <a:p>
            <a:r>
              <a:rPr lang="en-US" altLang="zh-TW" b="1" dirty="0"/>
              <a:t>Computational bottleneck analysis</a:t>
            </a:r>
          </a:p>
          <a:p>
            <a:pPr marL="0" indent="0">
              <a:buNone/>
            </a:pPr>
            <a:r>
              <a:rPr lang="en-US" altLang="zh-TW" dirty="0"/>
              <a:t>The </a:t>
            </a:r>
            <a:r>
              <a:rPr lang="en-US" altLang="zh-TW" b="1" dirty="0"/>
              <a:t>multi-scale</a:t>
            </a:r>
            <a:r>
              <a:rPr lang="en-US" altLang="zh-TW" dirty="0"/>
              <a:t> design improves DETR accuracy[42], but it greatly </a:t>
            </a:r>
            <a:r>
              <a:rPr lang="en-US" altLang="zh-TW" b="1" dirty="0"/>
              <a:t>increases sequence length</a:t>
            </a:r>
            <a:r>
              <a:rPr lang="en-US" altLang="zh-TW" dirty="0"/>
              <a:t>, making the encoder the main </a:t>
            </a:r>
            <a:r>
              <a:rPr lang="en-US" altLang="zh-TW" b="1" dirty="0"/>
              <a:t>computational bottleneck</a:t>
            </a:r>
            <a:r>
              <a:rPr lang="en-US" altLang="zh-TW" dirty="0"/>
              <a:t>. Previous work[18] shows the encoder consumes 49% of GFLOPs while contributing only 11% AP. This indicates significant redundancy.</a:t>
            </a:r>
            <a:endParaRPr 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D884521E-48BA-2B4A-335C-ADC073B1706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TW" dirty="0"/>
              <a:t>[18] Junyu Lin, Xiaofeng Mao, </a:t>
            </a:r>
            <a:r>
              <a:rPr lang="en-US" altLang="zh-TW" dirty="0" err="1"/>
              <a:t>Yuefeng</a:t>
            </a:r>
            <a:r>
              <a:rPr lang="en-US" altLang="zh-TW" dirty="0"/>
              <a:t> Chen, Lei Xu, Yuan He, and Hui Xue. Dˆ 2etr: Decoder-only </a:t>
            </a:r>
            <a:r>
              <a:rPr lang="en-US" altLang="zh-TW" dirty="0" err="1"/>
              <a:t>detr</a:t>
            </a:r>
            <a:r>
              <a:rPr lang="en-US" altLang="zh-TW" dirty="0"/>
              <a:t> with com </a:t>
            </a:r>
            <a:r>
              <a:rPr lang="en-US" altLang="zh-TW" dirty="0" err="1"/>
              <a:t>putationally</a:t>
            </a:r>
            <a:r>
              <a:rPr lang="en-US" altLang="zh-TW" dirty="0"/>
              <a:t> efficient cross-scale attention. </a:t>
            </a:r>
            <a:r>
              <a:rPr lang="en-US" altLang="zh-TW" dirty="0" err="1"/>
              <a:t>arXiv</a:t>
            </a:r>
            <a:r>
              <a:rPr lang="en-US" altLang="zh-TW" dirty="0"/>
              <a:t> preprint arXiv:2203.00860, 2022.</a:t>
            </a:r>
          </a:p>
          <a:p>
            <a:r>
              <a:rPr lang="en-US" altLang="zh-TW" dirty="0"/>
              <a:t>[42] Xizhou Zhu, </a:t>
            </a:r>
            <a:r>
              <a:rPr lang="en-US" altLang="zh-TW" dirty="0" err="1"/>
              <a:t>Weijie</a:t>
            </a:r>
            <a:r>
              <a:rPr lang="en-US" altLang="zh-TW" dirty="0"/>
              <a:t> Su, </a:t>
            </a:r>
            <a:r>
              <a:rPr lang="en-US" altLang="zh-TW" dirty="0" err="1"/>
              <a:t>Lewei</a:t>
            </a:r>
            <a:r>
              <a:rPr lang="en-US" altLang="zh-TW" dirty="0"/>
              <a:t> Lu, Bin Li, Xiaogang Wang, and </a:t>
            </a:r>
            <a:r>
              <a:rPr lang="en-US" altLang="zh-TW" dirty="0" err="1"/>
              <a:t>Jifeng</a:t>
            </a:r>
            <a:r>
              <a:rPr lang="en-US" altLang="zh-TW" dirty="0"/>
              <a:t> Dai. Deformable </a:t>
            </a:r>
            <a:r>
              <a:rPr lang="en-US" altLang="zh-TW" dirty="0" err="1"/>
              <a:t>detr</a:t>
            </a:r>
            <a:r>
              <a:rPr lang="en-US" altLang="zh-TW" dirty="0"/>
              <a:t>: Deformable transformers for end-to-end object detection. In International Conference on Learning Representations, 2020.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6219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3CE27-98FE-9DD5-81F3-A99775E1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EA286F-F9B8-D035-7D71-826D8A0B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The Real-time DETR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B50234E-8E4B-7A8E-C15E-F9FBF180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116811-525A-CC61-3438-273AC731E9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200" b="1" dirty="0"/>
          </a:p>
          <a:p>
            <a:endParaRPr 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D22D01-EF7E-0B60-3E50-58C850704B3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內容版面配置區 6" descr="一張含有 螢幕擷取畫面, 文字, 字型, 圖表 的圖片&#10;&#10;AI 產生的內容可能不正確。">
            <a:extLst>
              <a:ext uri="{FF2B5EF4-FFF2-40B4-BE49-F238E27FC236}">
                <a16:creationId xmlns:a16="http://schemas.microsoft.com/office/drawing/2014/main" id="{5E384DAA-A9EB-1D27-D4FD-F5943DE94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92" y="1044582"/>
            <a:ext cx="9593132" cy="2306041"/>
          </a:xfrm>
          <a:prstGeom prst="rect">
            <a:avLst/>
          </a:prstGeom>
        </p:spPr>
      </p:pic>
      <p:pic>
        <p:nvPicPr>
          <p:cNvPr id="7" name="圖片 6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07D8D510-61FB-B350-CA36-A3E9C264B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31"/>
          <a:stretch>
            <a:fillRect/>
          </a:stretch>
        </p:blipFill>
        <p:spPr>
          <a:xfrm>
            <a:off x="970192" y="3816885"/>
            <a:ext cx="4525006" cy="21250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E1790-7620-1A3E-6EC8-AA63C607F0CC}"/>
                  </a:ext>
                </a:extLst>
              </p:cNvPr>
              <p:cNvSpPr txBox="1"/>
              <p:nvPr/>
            </p:nvSpPr>
            <p:spPr>
              <a:xfrm>
                <a:off x="5495198" y="3536116"/>
                <a:ext cx="587301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A→B</a:t>
                </a:r>
                <a:r>
                  <a:rPr lang="zh-TW" altLang="en-US" b="1" dirty="0"/>
                  <a:t> </a:t>
                </a:r>
                <a:r>
                  <a:rPr lang="en-US" altLang="zh-TW" b="1" dirty="0"/>
                  <a:t>	</a:t>
                </a:r>
                <a:r>
                  <a:rPr lang="en-US" altLang="zh-TW" dirty="0"/>
                  <a:t>proves that the intra-scaled feature </a:t>
                </a:r>
                <a:r>
                  <a:rPr lang="en-US" altLang="zh-TW" b="1" dirty="0"/>
                  <a:t>interaction is significant</a:t>
                </a:r>
                <a:r>
                  <a:rPr lang="en-US" altLang="zh-TW" dirty="0"/>
                  <a:t>, but the </a:t>
                </a:r>
                <a:r>
                  <a:rPr lang="en-US" altLang="zh-TW" b="1" dirty="0"/>
                  <a:t>single-scale</a:t>
                </a:r>
                <a:r>
                  <a:rPr lang="en-US" altLang="zh-TW" dirty="0"/>
                  <a:t> Transformer encoder is </a:t>
                </a:r>
                <a:r>
                  <a:rPr lang="en-US" altLang="zh-TW" b="1" dirty="0"/>
                  <a:t>computationally expensive</a:t>
                </a:r>
                <a:r>
                  <a:rPr lang="en-US" altLang="zh-TW" dirty="0"/>
                  <a:t>.</a:t>
                </a:r>
                <a:r>
                  <a:rPr lang="en-US" altLang="zh-TW" b="1" dirty="0"/>
                  <a:t>	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B→C </a:t>
                </a:r>
                <a:r>
                  <a:rPr lang="en-US" altLang="zh-TW" dirty="0"/>
                  <a:t>shows that the </a:t>
                </a:r>
                <a:r>
                  <a:rPr lang="en-US" altLang="zh-TW" b="1" dirty="0"/>
                  <a:t>cross-scale</a:t>
                </a:r>
                <a:r>
                  <a:rPr lang="en-US" altLang="zh-TW" dirty="0"/>
                  <a:t> </a:t>
                </a:r>
                <a:r>
                  <a:rPr lang="en-US" altLang="zh-TW" b="1" dirty="0"/>
                  <a:t>feature</a:t>
                </a:r>
                <a:r>
                  <a:rPr lang="en-US" altLang="zh-TW" dirty="0"/>
                  <a:t> fusion is also necessary but the </a:t>
                </a:r>
                <a:r>
                  <a:rPr lang="en-US" altLang="zh-TW" b="1" dirty="0"/>
                  <a:t>multi-scale </a:t>
                </a:r>
                <a:r>
                  <a:rPr lang="en-US" altLang="zh-TW" dirty="0"/>
                  <a:t>Transformer encoder requires </a:t>
                </a:r>
                <a:r>
                  <a:rPr lang="en-US" altLang="zh-TW" b="1" dirty="0"/>
                  <a:t>higher computational cost</a:t>
                </a:r>
                <a:r>
                  <a:rPr lang="en-US" altLang="zh-TW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C→D	</a:t>
                </a:r>
                <a:r>
                  <a:rPr lang="en-US" altLang="zh-TW" dirty="0"/>
                  <a:t>suggests that </a:t>
                </a:r>
                <a:r>
                  <a:rPr lang="en-US" altLang="zh-TW" b="1" dirty="0"/>
                  <a:t>decoupling intra-scale interaction and cross-scale fusion</a:t>
                </a:r>
                <a:r>
                  <a:rPr lang="en-US" altLang="zh-TW" dirty="0"/>
                  <a:t> not only </a:t>
                </a:r>
                <a:r>
                  <a:rPr lang="en-US" altLang="zh-TW" b="1" dirty="0"/>
                  <a:t>reduces computational cost but also improves accuracy</a:t>
                </a:r>
                <a:r>
                  <a:rPr lang="en-US" altLang="zh-TW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D→</a:t>
                </a:r>
                <a14:m>
                  <m:oMath xmlns:m="http://schemas.openxmlformats.org/officeDocument/2006/math">
                    <m:r>
                      <a:rPr lang="en-US" altLang="zh-TW" b="1" i="1" dirty="0" smtClean="0">
                        <a:latin typeface="Cambria Math" panose="02040503050406030204" pitchFamily="18" charset="0"/>
                      </a:rPr>
                      <m:t>𝑫</m:t>
                    </m:r>
                    <m:sSub>
                      <m:sSub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TW" b="1" i="0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TW" b="1" dirty="0"/>
                  <a:t> </a:t>
                </a:r>
                <a:r>
                  <a:rPr lang="en-US" altLang="zh-TW" dirty="0"/>
                  <a:t>demonstrating that intra-scale interactions of lower-level features are not required.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E1790-7620-1A3E-6EC8-AA63C607F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198" y="3536116"/>
                <a:ext cx="5873010" cy="3139321"/>
              </a:xfrm>
              <a:prstGeom prst="rect">
                <a:avLst/>
              </a:prstGeom>
              <a:blipFill>
                <a:blip r:embed="rId5"/>
                <a:stretch>
                  <a:fillRect l="-622" t="-971" b="-2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B09F99A4-57CB-2930-2028-7376AD8DC494}"/>
              </a:ext>
            </a:extLst>
          </p:cNvPr>
          <p:cNvSpPr txBox="1"/>
          <p:nvPr/>
        </p:nvSpPr>
        <p:spPr>
          <a:xfrm>
            <a:off x="1559444" y="5972374"/>
            <a:ext cx="3346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Table2. The indicators of the set of variants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09674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625A-3BBE-82B6-8AA5-EA74790D0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CDBDA-0248-CD55-D06A-778D5543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The Real-time DETR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5295B1-B1DE-BB97-9E5E-3F03E805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26F19AD0-0042-778D-FB8B-6A370A5A0DA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b="1" dirty="0"/>
                  <a:t>Hybrid design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AIFI: </a:t>
                </a:r>
                <a:r>
                  <a:rPr lang="en-US" altLang="zh-TW" dirty="0"/>
                  <a:t>Attention based Intra-scale Feature Interaction (AIFI) </a:t>
                </a:r>
                <a:r>
                  <a:rPr lang="en-US" altLang="zh-TW" b="1" dirty="0"/>
                  <a:t>reduces computation by applying self-attention only to the high-level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𝓢</m:t>
                        </m:r>
                      </m:e>
                      <m:sub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TW" b="1" dirty="0"/>
                  <a:t> feature map</a:t>
                </a:r>
                <a:r>
                  <a:rPr lang="en-US" altLang="zh-TW" dirty="0"/>
                  <a:t>, which contains rich semantic information and effectively captures object-level relationships. </a:t>
                </a:r>
                <a:r>
                  <a:rPr lang="en-US" altLang="zh-TW" b="1" dirty="0"/>
                  <a:t>Attention on lower-level features is unnecessary and costly</a:t>
                </a:r>
                <a:r>
                  <a:rPr lang="en-US" altLang="zh-TW" dirty="0"/>
                  <a:t>, so focusing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dirty="0"/>
                  <a:t> improves accuracy while significantly lowering computational overhead.</a:t>
                </a:r>
              </a:p>
              <a:p>
                <a:pPr marL="0" indent="0">
                  <a:buNone/>
                </a:pPr>
                <a:endParaRPr lang="en-US" sz="2200" b="1" dirty="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26F19AD0-0042-778D-FB8B-6A370A5A0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698" t="-870" r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內容版面配置區 1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AB2CA0F9-DFA6-3AB8-4C57-91298718012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9" r="42868" b="23084"/>
          <a:stretch>
            <a:fillRect/>
          </a:stretch>
        </p:blipFill>
        <p:spPr>
          <a:xfrm>
            <a:off x="481082" y="3340032"/>
            <a:ext cx="5831787" cy="3517968"/>
          </a:xfrm>
        </p:spPr>
      </p:pic>
      <p:pic>
        <p:nvPicPr>
          <p:cNvPr id="6" name="圖片 5" descr="一張含有 文字, 字型, 白色, 書法 的圖片&#10;&#10;AI 產生的內容可能不正確。">
            <a:extLst>
              <a:ext uri="{FF2B5EF4-FFF2-40B4-BE49-F238E27FC236}">
                <a16:creationId xmlns:a16="http://schemas.microsoft.com/office/drawing/2014/main" id="{BCE9B3F2-93CD-BAC7-A992-CC42E21D3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987" y="3929840"/>
            <a:ext cx="5040931" cy="1273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185EA7E-9C0C-F066-4EDF-4F4A44E5E399}"/>
                  </a:ext>
                </a:extLst>
              </p:cNvPr>
              <p:cNvSpPr txBox="1"/>
              <p:nvPr/>
            </p:nvSpPr>
            <p:spPr>
              <a:xfrm>
                <a:off x="6891430" y="5380070"/>
                <a:ext cx="5040931" cy="823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Cambria Math" panose="02040503050406030204" pitchFamily="18" charset="0"/>
                  </a:rPr>
                  <a:t>Q,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TW" sz="1400" b="0" dirty="0">
                    <a:latin typeface="Cambria Math" panose="02040503050406030204" pitchFamily="18" charset="0"/>
                  </a:rPr>
                  <a:t>: Standard Transformer inputs(Query, Key, Value)</a:t>
                </a:r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dirty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US" altLang="zh-TW" sz="1400" b="0" i="1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sz="14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1400" b="1" dirty="0">
                    <a:latin typeface="Cambria Math" panose="02040503050406030204" pitchFamily="18" charset="0"/>
                  </a:rPr>
                  <a:t>: 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The</a:t>
                </a:r>
                <a:r>
                  <a:rPr lang="en-US" altLang="zh-TW" sz="1400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140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 enhanced feature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1400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nor/>
                      </m:rPr>
                      <a:rPr lang="en-US" altLang="zh-TW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b="0" i="0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The highest-level feature map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185EA7E-9C0C-F066-4EDF-4F4A44E5E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430" y="5380070"/>
                <a:ext cx="5040931" cy="823880"/>
              </a:xfrm>
              <a:prstGeom prst="rect">
                <a:avLst/>
              </a:prstGeom>
              <a:blipFill>
                <a:blip r:embed="rId6"/>
                <a:stretch>
                  <a:fillRect l="-605" b="-59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4FAEEAD6-F74A-7D5B-9F2B-AA0D601FA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-71482"/>
                <a:ext cx="184731" cy="600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zh-TW" sz="1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zh-TW" sz="1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Google Sans Text"/>
                </a:endParaRPr>
              </a:p>
            </p:txBody>
          </p:sp>
        </mc:Choice>
        <mc:Fallback xmlns=""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4FAEEAD6-F74A-7D5B-9F2B-AA0D601FA2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-71482"/>
                <a:ext cx="184731" cy="600164"/>
              </a:xfrm>
              <a:prstGeom prst="rect">
                <a:avLst/>
              </a:prstGeom>
              <a:blipFill>
                <a:blip r:embed="rId8"/>
                <a:stretch>
                  <a:fillRect l="-26667" r="-53333" b="-141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DA87D11F-F97E-79D3-F2B6-1943F08F8A5D}"/>
              </a:ext>
            </a:extLst>
          </p:cNvPr>
          <p:cNvSpPr/>
          <p:nvPr/>
        </p:nvSpPr>
        <p:spPr>
          <a:xfrm>
            <a:off x="2162288" y="3706935"/>
            <a:ext cx="2226832" cy="29153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2547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CD69-3BF7-B9A8-6B45-2DBFB7AF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2BA11E-DDBF-9A66-5FB0-465303F2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The Real-time DETR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DD8A43B-3083-DDDE-8CC7-65585560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3E42E6-D85C-CA99-7666-7D508368D2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CCFF: </a:t>
            </a:r>
            <a:r>
              <a:rPr lang="en-US" dirty="0"/>
              <a:t>A CNN-based  cross-scale fusion module. It inserts convolutional fusion blocks into the fusion path.</a:t>
            </a:r>
          </a:p>
        </p:txBody>
      </p:sp>
      <p:pic>
        <p:nvPicPr>
          <p:cNvPr id="6" name="內容版面配置區 5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52D6332C-308C-E01D-1A3A-91E45555F6B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79"/>
          <a:stretch>
            <a:fillRect/>
          </a:stretch>
        </p:blipFill>
        <p:spPr>
          <a:xfrm>
            <a:off x="6459907" y="2336876"/>
            <a:ext cx="4471595" cy="2010364"/>
          </a:xfrm>
        </p:spPr>
      </p:pic>
      <p:pic>
        <p:nvPicPr>
          <p:cNvPr id="8" name="內容版面配置區 12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422A36C2-5FA0-4747-E8E8-F3212BE9A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9" r="42868" b="23084"/>
          <a:stretch>
            <a:fillRect/>
          </a:stretch>
        </p:blipFill>
        <p:spPr>
          <a:xfrm>
            <a:off x="768396" y="2336875"/>
            <a:ext cx="5342068" cy="32225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6144A34-29D2-87F1-B625-8B830F9AF8F2}"/>
              </a:ext>
            </a:extLst>
          </p:cNvPr>
          <p:cNvSpPr/>
          <p:nvPr/>
        </p:nvSpPr>
        <p:spPr>
          <a:xfrm>
            <a:off x="4238513" y="2706520"/>
            <a:ext cx="1538343" cy="2546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 descr="一張含有 文字, 字型, 白色, 書法 的圖片&#10;&#10;AI 產生的內容可能不正確。">
            <a:extLst>
              <a:ext uri="{FF2B5EF4-FFF2-40B4-BE49-F238E27FC236}">
                <a16:creationId xmlns:a16="http://schemas.microsoft.com/office/drawing/2014/main" id="{2DC0B589-01EB-AC40-4D63-96069E1D4A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673" y="4700979"/>
            <a:ext cx="5040931" cy="127336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1E03885-14A8-8684-23B4-EC3867A01E9E}"/>
              </a:ext>
            </a:extLst>
          </p:cNvPr>
          <p:cNvSpPr txBox="1"/>
          <p:nvPr/>
        </p:nvSpPr>
        <p:spPr>
          <a:xfrm>
            <a:off x="7452200" y="4308157"/>
            <a:ext cx="2901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Figure 4. The fusion block in CCFF.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128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F1D1-D41D-CDC5-A435-86B5F51F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FE3818-624C-3103-A382-B10591DE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The Real-time DETR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C15184E-AC1F-4AFA-1F8B-36B447F6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7" name="內容版面配置區 6" descr="一張含有 文字, 字型, 白色, 印刷術 的圖片&#10;&#10;AI 產生的內容可能不正確。">
            <a:extLst>
              <a:ext uri="{FF2B5EF4-FFF2-40B4-BE49-F238E27FC236}">
                <a16:creationId xmlns:a16="http://schemas.microsoft.com/office/drawing/2014/main" id="{9549AFC7-7256-9221-EE31-49DF96F457C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03"/>
          <a:stretch>
            <a:fillRect/>
          </a:stretch>
        </p:blipFill>
        <p:spPr>
          <a:xfrm>
            <a:off x="2333112" y="4901960"/>
            <a:ext cx="4077269" cy="401307"/>
          </a:xfrm>
        </p:spPr>
      </p:pic>
      <p:pic>
        <p:nvPicPr>
          <p:cNvPr id="10" name="內容版面配置區 9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55FB1030-2454-26AC-9033-737D7D87F55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6"/>
          <a:stretch>
            <a:fillRect/>
          </a:stretch>
        </p:blipFill>
        <p:spPr>
          <a:xfrm>
            <a:off x="7994920" y="2355205"/>
            <a:ext cx="4207210" cy="4094065"/>
          </a:xfrm>
        </p:spPr>
      </p:pic>
      <p:pic>
        <p:nvPicPr>
          <p:cNvPr id="8" name="內容版面配置區 6" descr="一張含有 文字, 字型, 白色, 印刷術 的圖片&#10;&#10;AI 產生的內容可能不正確。">
            <a:extLst>
              <a:ext uri="{FF2B5EF4-FFF2-40B4-BE49-F238E27FC236}">
                <a16:creationId xmlns:a16="http://schemas.microsoft.com/office/drawing/2014/main" id="{15B233FF-6C8A-3D52-AC83-FCF8B7383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03"/>
          <a:stretch>
            <a:fillRect/>
          </a:stretch>
        </p:blipFill>
        <p:spPr>
          <a:xfrm>
            <a:off x="2226212" y="3501210"/>
            <a:ext cx="4077269" cy="4013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145B342-68A9-FB6A-C936-77992C1EC137}"/>
                  </a:ext>
                </a:extLst>
              </p:cNvPr>
              <p:cNvSpPr txBox="1"/>
              <p:nvPr/>
            </p:nvSpPr>
            <p:spPr>
              <a:xfrm>
                <a:off x="36311" y="5406081"/>
                <a:ext cx="4869175" cy="1210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0" lang="zh-TW" altLang="zh-TW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𝒰</m:t>
                    </m:r>
                    <m:d>
                      <m:dPr>
                        <m:ctrlPr>
                          <a:rPr kumimoji="0" lang="zh-TW" altLang="zh-TW" sz="12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0" lang="zh-TW" altLang="zh-TW" sz="1200" b="0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accPr>
                          <m:e>
                            <m:r>
                              <a:rPr kumimoji="0" lang="zh-TW" altLang="zh-TW" sz="1200" b="0" i="1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r>
                  <a:rPr kumimoji="0" lang="en-US" altLang="zh-TW" sz="12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Google Sans Text"/>
                  </a:rPr>
                  <a:t>:</a:t>
                </a:r>
                <a:r>
                  <a:rPr kumimoji="0" lang="zh-TW" altLang="en-US" sz="12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Google Sans Text"/>
                  </a:rPr>
                  <a:t> </a:t>
                </a:r>
                <a:r>
                  <a:rPr lang="en-US" altLang="zh-TW" sz="1200" dirty="0"/>
                  <a:t>The Uncertainty score for a specific encoder feature</a:t>
                </a:r>
                <a:endParaRPr kumimoji="0" lang="en-US" altLang="zh-TW" sz="12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Google Sans Text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zh-TW" altLang="zh-TW" sz="1200" i="1" dirty="0" smtClean="0">
                        <a:latin typeface="Cambria Math" panose="02040503050406030204" pitchFamily="18" charset="0"/>
                        <a:ea typeface="Google Sans Text"/>
                      </a:rPr>
                      <m:t>𝒫</m:t>
                    </m:r>
                    <m:d>
                      <m:dPr>
                        <m:ctrlPr>
                          <a:rPr lang="zh-TW" altLang="zh-TW" sz="1200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TW" altLang="zh-TW" sz="1200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accPr>
                          <m:e>
                            <m:r>
                              <a:rPr lang="zh-TW" altLang="zh-TW" sz="1200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  <a:ea typeface="Google Sans Text"/>
                  </a:rPr>
                  <a:t>: </a:t>
                </a:r>
                <a:r>
                  <a:rPr lang="en-US" altLang="zh-TW" sz="1200" dirty="0"/>
                  <a:t>The predicted localization distribution for the feature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1200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accPr>
                      <m:e>
                        <m:r>
                          <a:rPr lang="zh-TW" altLang="zh-TW" sz="1200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𝒙</m:t>
                        </m:r>
                      </m:e>
                    </m:acc>
                  </m:oMath>
                </a14:m>
                <a:r>
                  <a:rPr lang="zh-TW" altLang="en-US" sz="1200" dirty="0"/>
                  <a:t> </a:t>
                </a:r>
                <a:r>
                  <a:rPr lang="en-US" altLang="zh-TW" sz="1200" dirty="0"/>
                  <a:t>, </a:t>
                </a:r>
                <a:r>
                  <a:rPr lang="en-US" altLang="zh-TW" sz="1200" dirty="0" err="1"/>
                  <a:t>IoU</a:t>
                </a:r>
                <a:r>
                  <a:rPr lang="en-US" altLang="zh-TW" sz="1200" dirty="0"/>
                  <a:t> score   </a:t>
                </a:r>
                <a:r>
                  <a:rPr lang="zh-TW" altLang="en-US" sz="1200" i="1" dirty="0">
                    <a:latin typeface="Cambria Math" panose="02040503050406030204" pitchFamily="18" charset="0"/>
                    <a:ea typeface="Google Sans Text"/>
                  </a:rPr>
                  <a:t> </a:t>
                </a:r>
                <a:endParaRPr lang="en-US" altLang="zh-TW" sz="1200" i="1" dirty="0">
                  <a:latin typeface="Cambria Math" panose="02040503050406030204" pitchFamily="18" charset="0"/>
                  <a:ea typeface="Google Sans Text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zh-TW" altLang="zh-TW" sz="1200" i="1" dirty="0" smtClean="0">
                        <a:latin typeface="Cambria Math" panose="02040503050406030204" pitchFamily="18" charset="0"/>
                        <a:ea typeface="Google Sans Text"/>
                      </a:rPr>
                      <m:t>𝒞</m:t>
                    </m:r>
                    <m:d>
                      <m:dPr>
                        <m:ctrlPr>
                          <a:rPr lang="zh-TW" altLang="zh-TW" sz="1200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TW" altLang="zh-TW" sz="1200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accPr>
                          <m:e>
                            <m:r>
                              <a:rPr lang="zh-TW" altLang="zh-TW" sz="1200" i="1" dirty="0">
                                <a:latin typeface="Cambria Math" panose="02040503050406030204" pitchFamily="18" charset="0"/>
                                <a:ea typeface="Google Sans Text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  <a:ea typeface="Google Sans Text"/>
                  </a:rPr>
                  <a:t>: </a:t>
                </a:r>
                <a:r>
                  <a:rPr lang="en-US" altLang="zh-TW" sz="1200" dirty="0"/>
                  <a:t>The predicted classification distribution for the feature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1200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accPr>
                      <m:e>
                        <m:r>
                          <a:rPr lang="zh-TW" altLang="zh-TW" sz="1200" i="1" dirty="0">
                            <a:latin typeface="Cambria Math" panose="02040503050406030204" pitchFamily="18" charset="0"/>
                            <a:ea typeface="Google Sans Text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sz="1200" dirty="0"/>
                  <a:t> </a:t>
                </a:r>
                <a:endParaRPr lang="en-US" altLang="zh-TW" sz="1200" dirty="0">
                  <a:latin typeface="Cambria Math" panose="02040503050406030204" pitchFamily="18" charset="0"/>
                  <a:ea typeface="Google Sans Text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TW" sz="12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1200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altLang="zh-TW" sz="1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: prediction and ground truth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2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: prediction and ground truth category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TW" sz="1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2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: prediction and ground truth bounding box</a:t>
                </a: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145B342-68A9-FB6A-C936-77992C1EC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1" y="5406081"/>
                <a:ext cx="4869175" cy="1210203"/>
              </a:xfrm>
              <a:prstGeom prst="rect">
                <a:avLst/>
              </a:prstGeom>
              <a:blipFill>
                <a:blip r:embed="rId5"/>
                <a:stretch>
                  <a:fillRect t="-505" b="-35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FE9C9FF-F7B0-C895-D4CB-D54701B41A70}"/>
                  </a:ext>
                </a:extLst>
              </p:cNvPr>
              <p:cNvSpPr txBox="1"/>
              <p:nvPr/>
            </p:nvSpPr>
            <p:spPr>
              <a:xfrm>
                <a:off x="748572" y="2699747"/>
                <a:ext cx="72463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The feature uncertainty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  <a:ea typeface="Google Sans Text"/>
                      </a:rPr>
                      <m:t> </m:t>
                    </m:r>
                    <m:r>
                      <a:rPr lang="zh-TW" altLang="zh-TW" i="1" dirty="0">
                        <a:latin typeface="Cambria Math" panose="02040503050406030204" pitchFamily="18" charset="0"/>
                        <a:ea typeface="Google Sans Text"/>
                      </a:rPr>
                      <m:t>𝒰</m:t>
                    </m:r>
                  </m:oMath>
                </a14:m>
                <a:r>
                  <a:rPr lang="en-US" altLang="zh-TW" dirty="0"/>
                  <a:t> is defined as the discrepancy between the predicted distributions of localization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  <a:ea typeface="Google Sans Text"/>
                      </a:rPr>
                      <m:t> </m:t>
                    </m:r>
                    <m:r>
                      <a:rPr lang="zh-TW" altLang="zh-TW" i="1" dirty="0">
                        <a:latin typeface="Cambria Math" panose="02040503050406030204" pitchFamily="18" charset="0"/>
                        <a:ea typeface="Google Sans Text"/>
                      </a:rPr>
                      <m:t>𝒫</m:t>
                    </m:r>
                  </m:oMath>
                </a14:m>
                <a:r>
                  <a:rPr lang="en-US" altLang="zh-TW" dirty="0"/>
                  <a:t>and classification </a:t>
                </a:r>
                <a14:m>
                  <m:oMath xmlns:m="http://schemas.openxmlformats.org/officeDocument/2006/math">
                    <m:r>
                      <a:rPr lang="zh-TW" altLang="zh-TW" i="1" dirty="0">
                        <a:latin typeface="Cambria Math" panose="02040503050406030204" pitchFamily="18" charset="0"/>
                        <a:ea typeface="Google Sans Text"/>
                      </a:rPr>
                      <m:t>𝒞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Google Sans Text"/>
                      </a:rPr>
                      <m:t> </m:t>
                    </m:r>
                  </m:oMath>
                </a14:m>
                <a:r>
                  <a:rPr lang="en-US" altLang="zh-TW" dirty="0"/>
                  <a:t>in Eq.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(2).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FE9C9FF-F7B0-C895-D4CB-D54701B4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72" y="2699747"/>
                <a:ext cx="7246348" cy="646331"/>
              </a:xfrm>
              <a:prstGeom prst="rect">
                <a:avLst/>
              </a:prstGeom>
              <a:blipFill>
                <a:blip r:embed="rId6"/>
                <a:stretch>
                  <a:fillRect l="-589" t="-5660" r="-673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E78D55A8-A7A0-E6A2-9D48-ED19D03B2408}"/>
              </a:ext>
            </a:extLst>
          </p:cNvPr>
          <p:cNvSpPr txBox="1"/>
          <p:nvPr/>
        </p:nvSpPr>
        <p:spPr>
          <a:xfrm>
            <a:off x="748572" y="4079073"/>
            <a:ext cx="73196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dirty="0"/>
              <a:t>To minimize the uncertainty of the queries, this paper integrates the uncertainty into the loss function for the gradient-based optimization in  Eq. (3).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3F0A982-C833-1507-D660-B48E7DCC078E}"/>
              </a:ext>
            </a:extLst>
          </p:cNvPr>
          <p:cNvSpPr txBox="1"/>
          <p:nvPr/>
        </p:nvSpPr>
        <p:spPr>
          <a:xfrm>
            <a:off x="748572" y="1036626"/>
            <a:ext cx="1026725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zh-TW" sz="2200" b="1" dirty="0"/>
              <a:t>Uncertainty-minimal Query Selection</a:t>
            </a:r>
            <a:endParaRPr lang="en-US" altLang="zh-TW" sz="2200" dirty="0"/>
          </a:p>
          <a:p>
            <a:pPr algn="just"/>
            <a:r>
              <a:rPr lang="en-US" altLang="zh-TW" sz="1800" dirty="0"/>
              <a:t>Current query selection </a:t>
            </a:r>
            <a:r>
              <a:rPr lang="en-US" altLang="zh-TW" sz="1800" b="1" dirty="0"/>
              <a:t>uses only classification </a:t>
            </a:r>
            <a:r>
              <a:rPr lang="en-US" altLang="zh-TW" b="1" dirty="0"/>
              <a:t>score</a:t>
            </a:r>
            <a:r>
              <a:rPr lang="en-US" altLang="zh-TW" sz="1800" b="1" dirty="0"/>
              <a:t> and ignores localization</a:t>
            </a:r>
            <a:r>
              <a:rPr lang="en-US" altLang="zh-TW" sz="1800" dirty="0"/>
              <a:t>, </a:t>
            </a:r>
            <a:r>
              <a:rPr lang="en-US" altLang="zh-TW" sz="1800" b="1" dirty="0"/>
              <a:t>leading to high uncertainty and poor-quality queries</a:t>
            </a:r>
            <a:r>
              <a:rPr lang="en-US" altLang="zh-TW" sz="1800" dirty="0"/>
              <a:t>. RT-DETR addresses this by introducing </a:t>
            </a:r>
            <a:r>
              <a:rPr lang="en-US" altLang="zh-TW" sz="1800" b="1" dirty="0"/>
              <a:t>uncertainty-minimal query selection</a:t>
            </a:r>
            <a:r>
              <a:rPr lang="en-US" altLang="zh-TW" sz="1800" dirty="0"/>
              <a:t>, which explicitly models and minimizes epistemic uncertainty to capture both classification and localization, providing higher-quality queries for the decoder.</a:t>
            </a:r>
          </a:p>
        </p:txBody>
      </p:sp>
    </p:spTree>
    <p:extLst>
      <p:ext uri="{BB962C8B-B14F-4D97-AF65-F5344CB8AC3E}">
        <p14:creationId xmlns:p14="http://schemas.microsoft.com/office/powerpoint/2010/main" val="980187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47CC-0F6B-B4B8-2B6A-4010DCEB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88006C-B0CA-2F34-2C4F-70DE4EBB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The Real-time DETR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4B7094-4C0A-1396-E42F-FAA3F4A9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098F46-4397-BE4D-4F6B-4F00008A9F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 startAt="4"/>
            </a:pPr>
            <a:r>
              <a:rPr lang="en-US" sz="2200" b="1" dirty="0"/>
              <a:t>Scaled RT-DETR</a:t>
            </a:r>
          </a:p>
          <a:p>
            <a:pPr marL="0" indent="0">
              <a:buNone/>
            </a:pPr>
            <a:r>
              <a:rPr lang="en-US" altLang="zh-TW" dirty="0"/>
              <a:t>RT-DETR supports flexible scaling to meet different real-time scenarios. Its hybrid encoder and decoder can be adjusted in width and depth by changing embedding dimensions, channel numbers, decoder layers, and object queries. Removing a few decoder layers offers large speed gains with minimal accuracy loss. Using various backbones (e.g., ResNet18–101 or </a:t>
            </a:r>
            <a:r>
              <a:rPr lang="en-US" altLang="zh-TW" dirty="0" err="1"/>
              <a:t>CSPResNet</a:t>
            </a:r>
            <a:r>
              <a:rPr lang="en-US" altLang="zh-TW" dirty="0"/>
              <a:t>), scaled RT-DETR variants outperform YOLO S and M models in both speed and accuracy.</a:t>
            </a:r>
            <a:endParaRPr lang="en-US" b="1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49EE7C0-FBFA-AA77-7D27-F13A69797EE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1061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95874-D716-BFD0-9ECE-E5886795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880B4-8563-53F1-2D29-7E6C5E39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083C0B-D654-6A43-84E3-3DF758513CB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C6FF974-E852-7537-715C-53DCDDFD29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End-to-end Speed of Detectors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The Real-time DETR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b="1" dirty="0"/>
              <a:t>Experiment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Conclusion</a:t>
            </a:r>
            <a:endParaRPr lang="zh-TW" altLang="en-US" sz="280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3EC412E-9C51-FF5F-90C9-641A3A0B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490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1A3F-CCA0-88D5-A5E6-D5EC42D6F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338C39-D86D-EBF3-EB3E-90C86E8F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V. Experiment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A9CA7D2-9B63-49C6-3465-07BF79F6F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D6E6A4E-7318-CA74-C180-C0DDD06561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200" b="1" dirty="0"/>
              <a:t>Comparison with SOTA</a:t>
            </a:r>
            <a:endParaRPr lang="en-US" altLang="zh-TW" sz="2200" b="1" dirty="0"/>
          </a:p>
          <a:p>
            <a:pPr marL="0" indent="0">
              <a:buNone/>
            </a:pPr>
            <a:endParaRPr lang="en-US" altLang="zh-TW" sz="2200" dirty="0"/>
          </a:p>
        </p:txBody>
      </p:sp>
      <p:pic>
        <p:nvPicPr>
          <p:cNvPr id="7" name="內容版面配置區 6" descr="一張含有 文字, 螢幕擷取畫面, 數字, 平行 的圖片&#10;&#10;AI 產生的內容可能不正確。">
            <a:extLst>
              <a:ext uri="{FF2B5EF4-FFF2-40B4-BE49-F238E27FC236}">
                <a16:creationId xmlns:a16="http://schemas.microsoft.com/office/drawing/2014/main" id="{64B6933F-8EB2-3D41-518B-E40BD6FB74A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20567"/>
            <a:ext cx="6789806" cy="4562297"/>
          </a:xfr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DF6F140-E46E-CABA-DAD9-FDDBCE30BE10}"/>
              </a:ext>
            </a:extLst>
          </p:cNvPr>
          <p:cNvSpPr/>
          <p:nvPr/>
        </p:nvSpPr>
        <p:spPr>
          <a:xfrm>
            <a:off x="294515" y="5927280"/>
            <a:ext cx="6657975" cy="3109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F25969D-9854-DA65-B8E6-AE257F42E427}"/>
              </a:ext>
            </a:extLst>
          </p:cNvPr>
          <p:cNvSpPr txBox="1"/>
          <p:nvPr/>
        </p:nvSpPr>
        <p:spPr>
          <a:xfrm>
            <a:off x="7191375" y="1796767"/>
            <a:ext cx="47720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dirty="0"/>
              <a:t>Table 2 shows that under a unified end-to-end benchmark, RT-DETR achieves outstanding real-time performance. RT-DETR-R50 reaches </a:t>
            </a:r>
            <a:r>
              <a:rPr lang="en-US" altLang="zh-TW" b="1" dirty="0"/>
              <a:t>53.1% AP at 108 FPS</a:t>
            </a:r>
            <a:r>
              <a:rPr lang="en-US" altLang="zh-TW" dirty="0"/>
              <a:t>, and RT-DETR-R101 reaches </a:t>
            </a:r>
            <a:r>
              <a:rPr lang="en-US" altLang="zh-TW" b="1" dirty="0"/>
              <a:t>54.3% AP at 74 FPS</a:t>
            </a:r>
            <a:r>
              <a:rPr lang="en-US" altLang="zh-TW" dirty="0"/>
              <a:t>, surpassing YOLO models of similar scale and all DETR variants with the same backbone in both accuracy and speed.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A0DCEC0-659B-66F8-3322-24B2FE844CD9}"/>
              </a:ext>
            </a:extLst>
          </p:cNvPr>
          <p:cNvSpPr txBox="1"/>
          <p:nvPr/>
        </p:nvSpPr>
        <p:spPr>
          <a:xfrm>
            <a:off x="2299420" y="6318165"/>
            <a:ext cx="26481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Table 3. Comparison with SOTA </a:t>
            </a:r>
            <a:endParaRPr lang="zh-TW" altLang="en-US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51EC817-F928-B4EE-921C-A3FF1761D358}"/>
              </a:ext>
            </a:extLst>
          </p:cNvPr>
          <p:cNvSpPr txBox="1"/>
          <p:nvPr/>
        </p:nvSpPr>
        <p:spPr>
          <a:xfrm>
            <a:off x="7191375" y="4231190"/>
            <a:ext cx="4772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800" dirty="0"/>
              <a:t>Author do not test the speed of other DETRs, except for DINO-Deformable-DETR [41] for comparison, as </a:t>
            </a:r>
            <a:r>
              <a:rPr lang="en-US" altLang="zh-TW" sz="1800" b="1" dirty="0"/>
              <a:t>they are not real-time detectors</a:t>
            </a:r>
            <a:r>
              <a:rPr lang="en-US" altLang="zh-TW" sz="1800" dirty="0"/>
              <a:t>.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3A22973-A910-05FF-DCA2-56CB8DF7A337}"/>
              </a:ext>
            </a:extLst>
          </p:cNvPr>
          <p:cNvSpPr txBox="1"/>
          <p:nvPr/>
        </p:nvSpPr>
        <p:spPr>
          <a:xfrm>
            <a:off x="0" y="6625942"/>
            <a:ext cx="12947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/>
              <a:t>[41] Hao Zhang, Feng Li, Shilong Liu, Lei Zhang, Hang Su, Jun </a:t>
            </a:r>
            <a:r>
              <a:rPr lang="en-US" altLang="zh-TW" sz="1000" dirty="0" err="1"/>
              <a:t>tection</a:t>
            </a:r>
            <a:r>
              <a:rPr lang="en-US" altLang="zh-TW" sz="1000" dirty="0"/>
              <a:t>. In International Conference on Learning </a:t>
            </a:r>
            <a:r>
              <a:rPr lang="en-US" altLang="zh-TW" sz="1000" dirty="0" err="1"/>
              <a:t>Representa</a:t>
            </a:r>
            <a:r>
              <a:rPr lang="en-US" altLang="zh-TW" sz="1000" dirty="0"/>
              <a:t> </a:t>
            </a:r>
            <a:r>
              <a:rPr lang="en-US" altLang="zh-TW" sz="1000" dirty="0" err="1"/>
              <a:t>tions</a:t>
            </a:r>
            <a:r>
              <a:rPr lang="en-US" altLang="zh-TW" sz="1000" dirty="0"/>
              <a:t>, 2022.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8470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4"/>
    </mc:Choice>
    <mc:Fallback xmlns="">
      <p:transition spd="slow" advTm="329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B610-E8BF-0E49-2926-48EAA73D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FB9F89-579D-195E-886D-DFBBFD8D0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V. Experiment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30769FE-38F3-72B8-87E4-D88D6752F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F0FF2F-F935-DF3A-43F0-CEEA176556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330847"/>
            <a:ext cx="9601200" cy="490537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 startAt="2"/>
            </a:pPr>
            <a:r>
              <a:rPr lang="en-US" sz="2200" b="1" dirty="0"/>
              <a:t>Ablation Study on Query Selection</a:t>
            </a:r>
            <a:endParaRPr lang="en-US" altLang="zh-TW" sz="2200" b="1" dirty="0"/>
          </a:p>
        </p:txBody>
      </p:sp>
      <p:pic>
        <p:nvPicPr>
          <p:cNvPr id="10" name="內容版面配置區 9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D74CF6FA-A4A4-7B75-56F4-F94A7B4264D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23" y="2908103"/>
            <a:ext cx="5445346" cy="148358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211313A-FE2E-6FA0-C2C2-87C7F3C556B0}"/>
                  </a:ext>
                </a:extLst>
              </p:cNvPr>
              <p:cNvSpPr txBox="1"/>
              <p:nvPr/>
            </p:nvSpPr>
            <p:spPr>
              <a:xfrm>
                <a:off x="6065135" y="2952441"/>
                <a:ext cx="5759542" cy="2085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TW" altLang="en-US" dirty="0"/>
                  <a:t>The results show our uncertainty-minimal scheme dramatically increases the proportion of high classification scores and provides significantly more high-quality features. This superior query initialization directly translates to a 0.8% AP improvement for the final detector.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𝑟𝑜</m:t>
                        </m:r>
                        <m:sSub>
                          <m:sSubPr>
                            <m:ctrlPr>
                              <a:rPr lang="zh-TW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𝑐𝑙𝑠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𝑟𝑜</m:t>
                        </m:r>
                        <m:sSub>
                          <m:sSubPr>
                            <m:ctrlPr>
                              <a:rPr lang="zh-TW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both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represent the proportion pf classification score and both scores greater than 0.5 respectively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211313A-FE2E-6FA0-C2C2-87C7F3C55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35" y="2952441"/>
                <a:ext cx="5759542" cy="2085571"/>
              </a:xfrm>
              <a:prstGeom prst="rect">
                <a:avLst/>
              </a:prstGeom>
              <a:blipFill>
                <a:blip r:embed="rId4"/>
                <a:stretch>
                  <a:fillRect l="-952" t="-1462" r="-847" b="-3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544EEB-5E43-3984-62E1-678D27EC827B}"/>
              </a:ext>
            </a:extLst>
          </p:cNvPr>
          <p:cNvSpPr txBox="1"/>
          <p:nvPr/>
        </p:nvSpPr>
        <p:spPr>
          <a:xfrm>
            <a:off x="210225" y="4469926"/>
            <a:ext cx="57595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Table 4. Results</a:t>
            </a:r>
            <a:r>
              <a:rPr lang="zh-TW" altLang="en-US" sz="1400" dirty="0"/>
              <a:t> </a:t>
            </a:r>
            <a:r>
              <a:rPr lang="en-US" altLang="zh-TW" sz="1400" dirty="0"/>
              <a:t>of the ablation</a:t>
            </a:r>
            <a:r>
              <a:rPr lang="zh-TW" altLang="en-US" sz="1400" dirty="0"/>
              <a:t> </a:t>
            </a:r>
            <a:r>
              <a:rPr lang="en-US" altLang="zh-TW" sz="1400" dirty="0"/>
              <a:t>study</a:t>
            </a:r>
            <a:r>
              <a:rPr lang="zh-TW" altLang="en-US" sz="1400" dirty="0"/>
              <a:t> </a:t>
            </a:r>
            <a:r>
              <a:rPr lang="en-US" altLang="zh-TW" sz="1400" dirty="0"/>
              <a:t>on</a:t>
            </a:r>
            <a:r>
              <a:rPr lang="zh-TW" altLang="en-US" sz="1400" dirty="0"/>
              <a:t> </a:t>
            </a:r>
            <a:r>
              <a:rPr lang="en-US" altLang="zh-TW" sz="1400" dirty="0"/>
              <a:t>uncertainty-minimal query</a:t>
            </a:r>
            <a:r>
              <a:rPr lang="zh-TW" altLang="en-US" sz="1400" dirty="0"/>
              <a:t> </a:t>
            </a:r>
            <a:r>
              <a:rPr lang="en-US" altLang="zh-TW" sz="1400" dirty="0"/>
              <a:t>selection.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12832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DB4E-B66E-B3DE-EA05-72139F19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936C4E-81A5-3D83-6303-476DD20CA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V. Experiment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238FDF4-B5E0-A04A-87FA-9DBACB9B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43D7A1-121C-29C8-7511-9035BC736F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 startAt="3"/>
            </a:pPr>
            <a:r>
              <a:rPr lang="en-US" sz="2200" b="1" dirty="0"/>
              <a:t>Ablation Study on Decoder</a:t>
            </a:r>
            <a:endParaRPr lang="zh-TW" altLang="zh-TW" sz="2400" dirty="0">
              <a:latin typeface="Arial" panose="020B0604020202020204" pitchFamily="34" charset="0"/>
            </a:endParaRPr>
          </a:p>
          <a:p>
            <a:pPr marL="457200" indent="-457200">
              <a:buFont typeface="+mj-lt"/>
              <a:buAutoNum type="alphaUcPeriod" startAt="3"/>
            </a:pPr>
            <a:endParaRPr lang="en-US" altLang="zh-TW" sz="2200" b="1" dirty="0"/>
          </a:p>
        </p:txBody>
      </p:sp>
      <p:pic>
        <p:nvPicPr>
          <p:cNvPr id="7" name="內容版面配置區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C046AA5C-0DB6-B918-E72A-3CB46479244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72"/>
          <a:stretch>
            <a:fillRect/>
          </a:stretch>
        </p:blipFill>
        <p:spPr>
          <a:xfrm>
            <a:off x="535159" y="2305893"/>
            <a:ext cx="5560841" cy="2890737"/>
          </a:xfr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C2E424-C200-C099-7B1D-26C2EC82CA07}"/>
              </a:ext>
            </a:extLst>
          </p:cNvPr>
          <p:cNvSpPr txBox="1"/>
          <p:nvPr/>
        </p:nvSpPr>
        <p:spPr>
          <a:xfrm>
            <a:off x="1264454" y="5278442"/>
            <a:ext cx="4102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Table5. Results of the ablation study on decoder.</a:t>
            </a:r>
            <a:endParaRPr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7C039C-C0F7-A96B-49EF-2771B95F9CAF}"/>
              </a:ext>
            </a:extLst>
          </p:cNvPr>
          <p:cNvSpPr txBox="1"/>
          <p:nvPr/>
        </p:nvSpPr>
        <p:spPr>
          <a:xfrm>
            <a:off x="5674659" y="303903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2DA4720-DF71-2532-ACD2-DCC59FDDC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90460AA-43AB-529D-5C08-3D9F1D00F92C}"/>
                  </a:ext>
                </a:extLst>
              </p:cNvPr>
              <p:cNvSpPr txBox="1"/>
              <p:nvPr/>
            </p:nvSpPr>
            <p:spPr>
              <a:xfrm>
                <a:off x="535159" y="5993667"/>
                <a:ext cx="2832507" cy="5270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>
                    <a:latin typeface="Cambria Math" panose="02040503050406030204" pitchFamily="18" charset="0"/>
                    <a:ea typeface="Google Sans Text"/>
                  </a:rPr>
                  <a:t>ID: decoder layer index</a:t>
                </a:r>
              </a:p>
              <a:p>
                <a14:m>
                  <m:oMath xmlns:m="http://schemas.openxmlformats.org/officeDocument/2006/math">
                    <m:r>
                      <a:rPr lang="zh-TW" altLang="zh-TW" sz="1400" i="1" dirty="0">
                        <a:latin typeface="Cambria Math" panose="02040503050406030204" pitchFamily="18" charset="0"/>
                        <a:ea typeface="Google Sans Text"/>
                      </a:rPr>
                      <m:t>𝐷𝑒</m:t>
                    </m:r>
                    <m:sSup>
                      <m:sSupPr>
                        <m:ctrlPr>
                          <a:rPr lang="zh-TW" altLang="zh-TW" sz="1400" i="1" dirty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pPr>
                      <m:e>
                        <m:r>
                          <a:rPr lang="zh-TW" altLang="zh-TW" sz="1400" i="1" dirty="0">
                            <a:latin typeface="Cambria Math" panose="02040503050406030204" pitchFamily="18" charset="0"/>
                            <a:ea typeface="Google Sans Text"/>
                          </a:rPr>
                          <m:t>𝑡</m:t>
                        </m:r>
                      </m:e>
                      <m:sup>
                        <m:r>
                          <a:rPr lang="zh-TW" altLang="zh-TW" sz="1400" i="1" dirty="0">
                            <a:latin typeface="Cambria Math" panose="02040503050406030204" pitchFamily="18" charset="0"/>
                            <a:ea typeface="Google Sans Text"/>
                          </a:rPr>
                          <m:t>𝑘</m:t>
                        </m:r>
                      </m:sup>
                    </m:sSup>
                    <m:r>
                      <a:rPr lang="en-US" altLang="zh-TW" sz="1400" b="0" i="0" dirty="0" smtClean="0">
                        <a:latin typeface="Cambria Math" panose="02040503050406030204" pitchFamily="18" charset="0"/>
                        <a:ea typeface="Google Sans Text"/>
                      </a:rPr>
                      <m:t>:</m:t>
                    </m:r>
                  </m:oMath>
                </a14:m>
                <a:r>
                  <a:rPr lang="zh-TW" altLang="en-US" sz="1400" dirty="0"/>
                  <a:t> </a:t>
                </a:r>
                <a:r>
                  <a:rPr lang="en-US" altLang="zh-TW" sz="1400" dirty="0"/>
                  <a:t>detector with k decoder layers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90460AA-43AB-529D-5C08-3D9F1D00F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59" y="5993667"/>
                <a:ext cx="2832507" cy="527004"/>
              </a:xfrm>
              <a:prstGeom prst="rect">
                <a:avLst/>
              </a:prstGeom>
              <a:blipFill>
                <a:blip r:embed="rId4"/>
                <a:stretch>
                  <a:fillRect l="-647" t="-3448" b="-114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728C10BB-CC38-76C7-A6B7-13B1D8813814}"/>
              </a:ext>
            </a:extLst>
          </p:cNvPr>
          <p:cNvSpPr txBox="1"/>
          <p:nvPr/>
        </p:nvSpPr>
        <p:spPr>
          <a:xfrm>
            <a:off x="6405316" y="3012597"/>
            <a:ext cx="4836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dirty="0"/>
              <a:t>When the number of decoder layers is set to 6, the RT-DETR R50 achieves the best accuracy 53.1% AP. Therefore,</a:t>
            </a:r>
            <a:r>
              <a:rPr lang="zh-TW" altLang="en-US" dirty="0"/>
              <a:t> </a:t>
            </a:r>
            <a:r>
              <a:rPr lang="en-US" altLang="zh-TW" dirty="0"/>
              <a:t>RT-DETR supports flexible speed tuning by adjusting the number of decoder layers without retraining, thus improving its practicality.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3664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5CDA4-24DB-27D9-D872-D15E2120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IV. Conclusion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B83462-DE88-93EE-2206-7D8324FD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35ED43-91A3-C700-E38A-8F5854B1B9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TW" dirty="0"/>
              <a:t>The authors introduce </a:t>
            </a:r>
            <a:r>
              <a:rPr lang="en-US" altLang="zh-TW" b="1" dirty="0"/>
              <a:t>RT-DETR</a:t>
            </a:r>
            <a:r>
              <a:rPr lang="en-US" altLang="zh-TW" dirty="0"/>
              <a:t>, the first real-time end-to-end object detector.</a:t>
            </a:r>
            <a:br>
              <a:rPr lang="en-US" altLang="zh-TW" dirty="0"/>
            </a:br>
            <a:r>
              <a:rPr lang="en-US" altLang="zh-TW" dirty="0"/>
              <a:t>It successfully adapts the DETR architecture to real-time scenarios and achieves </a:t>
            </a:r>
            <a:r>
              <a:rPr lang="en-US" altLang="zh-TW" b="1" dirty="0"/>
              <a:t>state-of-the-art (SOTA)</a:t>
            </a:r>
            <a:r>
              <a:rPr lang="en-US" altLang="zh-TW" dirty="0"/>
              <a:t> performance</a:t>
            </a:r>
          </a:p>
          <a:p>
            <a:r>
              <a:rPr lang="en-US" altLang="zh-TW" dirty="0"/>
              <a:t>By introducing an </a:t>
            </a:r>
            <a:r>
              <a:rPr lang="en-US" altLang="zh-TW" b="1" dirty="0"/>
              <a:t>Efficient Hybrid Encoder </a:t>
            </a:r>
            <a:r>
              <a:rPr lang="en-US" altLang="zh-TW" dirty="0"/>
              <a:t>that decouples intra-scale interaction from cross-scale fusion to reduce computational cost, and an Uncertainty-Minimal Query Selection strategy that optimizes epistemic uncertainty to generate higher-quality initial queries, RT-DETR effectively removes both the speed and accuracy bottlenecks and achieves real-time end-to-end detection performance.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ACFF75-2A84-2570-0EE4-36D15B19E26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157551"/>
      </p:ext>
    </p:extLst>
  </p:cSld>
  <p:clrMapOvr>
    <a:masterClrMapping/>
  </p:clrMapOvr>
</p:sld>
</file>

<file path=ppt/theme/theme1.xml><?xml version="1.0" encoding="utf-8"?>
<a:theme xmlns:a="http://schemas.openxmlformats.org/drawingml/2006/main" name="NCUE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CUEE" id="{4D309C3F-E183-4FB4-AEDB-7CCE43E5FED5}" vid="{04B2A469-F8F0-40CC-A4FD-E8EC6971CFD5}"/>
    </a:ext>
  </a:extLst>
</a:theme>
</file>

<file path=ppt/theme/theme2.xml><?xml version="1.0" encoding="utf-8"?>
<a:theme xmlns:a="http://schemas.openxmlformats.org/drawingml/2006/main" name="NCUE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CUEE" id="{4D309C3F-E183-4FB4-AEDB-7CCE43E5FED5}" vid="{04B2A469-F8F0-40CC-A4FD-E8EC6971CFD5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01D057C34BA4346AFC101E54BFF0B4A" ma:contentTypeVersion="5" ma:contentTypeDescription="建立新的文件。" ma:contentTypeScope="" ma:versionID="a0a6beb63d380da9c56ed11622043d5d">
  <xsd:schema xmlns:xsd="http://www.w3.org/2001/XMLSchema" xmlns:xs="http://www.w3.org/2001/XMLSchema" xmlns:p="http://schemas.microsoft.com/office/2006/metadata/properties" xmlns:ns3="9f277c6e-4667-4e89-a9a0-04ef23c7621b" targetNamespace="http://schemas.microsoft.com/office/2006/metadata/properties" ma:root="true" ma:fieldsID="5166e0dbef0bc47bdad1eb1077a5c76a" ns3:_="">
    <xsd:import namespace="9f277c6e-4667-4e89-a9a0-04ef23c7621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277c6e-4667-4e89-a9a0-04ef23c7621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277c6e-4667-4e89-a9a0-04ef23c7621b" xsi:nil="true"/>
  </documentManagement>
</p:properties>
</file>

<file path=customXml/itemProps1.xml><?xml version="1.0" encoding="utf-8"?>
<ds:datastoreItem xmlns:ds="http://schemas.openxmlformats.org/officeDocument/2006/customXml" ds:itemID="{7D72FB4E-D123-4D18-8152-3D27E1C891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54207D-B331-4976-97D0-BEF0A147B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277c6e-4667-4e89-a9a0-04ef23c762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9A375C-DF77-4DDE-899A-09A1D9F7B3DF}">
  <ds:schemaRefs>
    <ds:schemaRef ds:uri="http://purl.org/dc/dcmitype/"/>
    <ds:schemaRef ds:uri="http://www.w3.org/XML/1998/namespace"/>
    <ds:schemaRef ds:uri="http://schemas.microsoft.com/office/infopath/2007/PartnerControls"/>
    <ds:schemaRef ds:uri="9f277c6e-4667-4e89-a9a0-04ef23c7621b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NCUEE</Template>
  <TotalTime>77009</TotalTime>
  <Words>5981</Words>
  <Application>Microsoft Office PowerPoint</Application>
  <PresentationFormat>寬螢幕</PresentationFormat>
  <Paragraphs>349</Paragraphs>
  <Slides>25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25</vt:i4>
      </vt:variant>
    </vt:vector>
  </HeadingPairs>
  <TitlesOfParts>
    <vt:vector size="35" baseType="lpstr">
      <vt:lpstr>Aptos</vt:lpstr>
      <vt:lpstr>Arial</vt:lpstr>
      <vt:lpstr>Calibri</vt:lpstr>
      <vt:lpstr>Cambria Math</vt:lpstr>
      <vt:lpstr>Georgia</vt:lpstr>
      <vt:lpstr>Times</vt:lpstr>
      <vt:lpstr>Times New Roman</vt:lpstr>
      <vt:lpstr>Wingdings</vt:lpstr>
      <vt:lpstr>NCUEE</vt:lpstr>
      <vt:lpstr>NCUEE</vt:lpstr>
      <vt:lpstr>DETRs Beat YOLOs on Real-time Object Detection</vt:lpstr>
      <vt:lpstr>Outline</vt:lpstr>
      <vt:lpstr>I. Introduction </vt:lpstr>
      <vt:lpstr>I. Introduction </vt:lpstr>
      <vt:lpstr>I. Introduction </vt:lpstr>
      <vt:lpstr>I. Introduction </vt:lpstr>
      <vt:lpstr>Outline</vt:lpstr>
      <vt:lpstr>II. Related Work </vt:lpstr>
      <vt:lpstr>Outline</vt:lpstr>
      <vt:lpstr>III. End-to-end Speed of Detectors</vt:lpstr>
      <vt:lpstr>III. End-to-end Speed of Detectors</vt:lpstr>
      <vt:lpstr>III. End-to-end Speed of Detectors</vt:lpstr>
      <vt:lpstr>Outline</vt:lpstr>
      <vt:lpstr>IV. The Real-time DETR</vt:lpstr>
      <vt:lpstr>IV. The Real-time DETR</vt:lpstr>
      <vt:lpstr>IV. The Real-time DETR</vt:lpstr>
      <vt:lpstr>IV. The Real-time DETR</vt:lpstr>
      <vt:lpstr>IV. The Real-time DETR</vt:lpstr>
      <vt:lpstr>IV. The Real-time DETR</vt:lpstr>
      <vt:lpstr>IV. The Real-time DETR</vt:lpstr>
      <vt:lpstr>Outline</vt:lpstr>
      <vt:lpstr>V. Experiment </vt:lpstr>
      <vt:lpstr>V. Experiment </vt:lpstr>
      <vt:lpstr>V. Experiment </vt:lpstr>
      <vt:lpstr>IV.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賴應賢 (113521105)</dc:creator>
  <cp:lastModifiedBy>王翊丞 (114527014)</cp:lastModifiedBy>
  <cp:revision>105</cp:revision>
  <dcterms:created xsi:type="dcterms:W3CDTF">2024-09-18T08:55:23Z</dcterms:created>
  <dcterms:modified xsi:type="dcterms:W3CDTF">2025-11-28T08:16:30Z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0x010100D01D057C34BA4346AFC101E54BFF0B4A</vt:lpwstr>
  </property>
</Properties>
</file>