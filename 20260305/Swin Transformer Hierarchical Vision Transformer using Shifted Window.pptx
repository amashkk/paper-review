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3" r:id="rId5"/>
  </p:sldMasterIdLst>
  <p:notesMasterIdLst>
    <p:notesMasterId r:id="rId30"/>
  </p:notesMasterIdLst>
  <p:sldIdLst>
    <p:sldId id="256" r:id="rId6"/>
    <p:sldId id="394" r:id="rId7"/>
    <p:sldId id="258" r:id="rId8"/>
    <p:sldId id="318" r:id="rId9"/>
    <p:sldId id="411" r:id="rId10"/>
    <p:sldId id="386" r:id="rId11"/>
    <p:sldId id="387" r:id="rId12"/>
    <p:sldId id="396" r:id="rId13"/>
    <p:sldId id="388" r:id="rId14"/>
    <p:sldId id="389" r:id="rId15"/>
    <p:sldId id="397" r:id="rId16"/>
    <p:sldId id="402" r:id="rId17"/>
    <p:sldId id="400" r:id="rId18"/>
    <p:sldId id="401" r:id="rId19"/>
    <p:sldId id="410" r:id="rId20"/>
    <p:sldId id="403" r:id="rId21"/>
    <p:sldId id="390" r:id="rId22"/>
    <p:sldId id="404" r:id="rId23"/>
    <p:sldId id="408" r:id="rId24"/>
    <p:sldId id="405" r:id="rId25"/>
    <p:sldId id="409" r:id="rId26"/>
    <p:sldId id="406" r:id="rId27"/>
    <p:sldId id="391" r:id="rId28"/>
    <p:sldId id="393" r:id="rId2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59" autoAdjust="0"/>
    <p:restoredTop sz="80879" autoAdjust="0"/>
  </p:normalViewPr>
  <p:slideViewPr>
    <p:cSldViewPr snapToGrid="0">
      <p:cViewPr varScale="1">
        <p:scale>
          <a:sx n="89" d="100"/>
          <a:sy n="89" d="100"/>
        </p:scale>
        <p:origin x="1380" y="66"/>
      </p:cViewPr>
      <p:guideLst/>
    </p:cSldViewPr>
  </p:slideViewPr>
  <p:outlineViewPr>
    <p:cViewPr>
      <p:scale>
        <a:sx n="33" d="100"/>
        <a:sy n="33" d="100"/>
      </p:scale>
      <p:origin x="0" y="-35964"/>
    </p:cViewPr>
  </p:outlin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09118-D757-465C-AB1A-5DF74F985BCA}" type="datetimeFigureOut">
              <a:rPr lang="zh-TW" altLang="en-US" smtClean="0"/>
              <a:t>2026/3/3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C9C8E-8CA7-443A-832F-F0F3F7A96022}" type="slidenum">
              <a:rPr lang="zh-TW" altLang="en-US" smtClean="0"/>
              <a:t>‹#›</a:t>
            </a:fld>
            <a:endParaRPr lang="zh-TW" altLang="en-US"/>
          </a:p>
        </p:txBody>
      </p:sp>
    </p:spTree>
    <p:extLst>
      <p:ext uri="{BB962C8B-B14F-4D97-AF65-F5344CB8AC3E}">
        <p14:creationId xmlns:p14="http://schemas.microsoft.com/office/powerpoint/2010/main" val="397113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4FFC9C8E-8CA7-443A-832F-F0F3F7A96022}" type="slidenum">
              <a:rPr lang="zh-TW" altLang="en-US" smtClean="0"/>
              <a:t>1</a:t>
            </a:fld>
            <a:endParaRPr lang="zh-TW" altLang="en-US"/>
          </a:p>
        </p:txBody>
      </p:sp>
    </p:spTree>
    <p:extLst>
      <p:ext uri="{BB962C8B-B14F-4D97-AF65-F5344CB8AC3E}">
        <p14:creationId xmlns:p14="http://schemas.microsoft.com/office/powerpoint/2010/main" val="1914570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566B-A5B5-41FE-1412-D117CA434B9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35A0D36-D587-2DF3-FBF9-2D59C6B8C23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A1E2C90-4CBE-4BCA-2566-A472D1464521}"/>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F26FA543-8DE4-88B8-18C0-58CD5690DA39}"/>
              </a:ext>
            </a:extLst>
          </p:cNvPr>
          <p:cNvSpPr>
            <a:spLocks noGrp="1"/>
          </p:cNvSpPr>
          <p:nvPr>
            <p:ph type="sldNum" sz="quarter" idx="5"/>
          </p:nvPr>
        </p:nvSpPr>
        <p:spPr/>
        <p:txBody>
          <a:bodyPr/>
          <a:lstStyle/>
          <a:p>
            <a:fld id="{4FFC9C8E-8CA7-443A-832F-F0F3F7A96022}" type="slidenum">
              <a:rPr lang="zh-TW" altLang="en-US" smtClean="0"/>
              <a:t>2</a:t>
            </a:fld>
            <a:endParaRPr lang="zh-TW" altLang="en-US"/>
          </a:p>
        </p:txBody>
      </p:sp>
    </p:spTree>
    <p:extLst>
      <p:ext uri="{BB962C8B-B14F-4D97-AF65-F5344CB8AC3E}">
        <p14:creationId xmlns:p14="http://schemas.microsoft.com/office/powerpoint/2010/main" val="29074920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20D26-2FF2-6AFE-6AC8-2909DCD1944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559A7C1-8B80-1EC1-C0B2-EA4D15D883F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F5C683-BB22-A471-985F-1A0BBBBD381E}"/>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D216C04D-94A6-9B18-610A-747B60162067}"/>
              </a:ext>
            </a:extLst>
          </p:cNvPr>
          <p:cNvSpPr>
            <a:spLocks noGrp="1"/>
          </p:cNvSpPr>
          <p:nvPr>
            <p:ph type="sldNum" sz="quarter" idx="5"/>
          </p:nvPr>
        </p:nvSpPr>
        <p:spPr/>
        <p:txBody>
          <a:bodyPr/>
          <a:lstStyle/>
          <a:p>
            <a:fld id="{4FFC9C8E-8CA7-443A-832F-F0F3F7A96022}" type="slidenum">
              <a:rPr lang="zh-TW" altLang="en-US" smtClean="0"/>
              <a:t>4</a:t>
            </a:fld>
            <a:endParaRPr lang="zh-TW" altLang="en-US"/>
          </a:p>
        </p:txBody>
      </p:sp>
    </p:spTree>
    <p:extLst>
      <p:ext uri="{BB962C8B-B14F-4D97-AF65-F5344CB8AC3E}">
        <p14:creationId xmlns:p14="http://schemas.microsoft.com/office/powerpoint/2010/main" val="398824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F68DA-8320-BDF5-E490-BF744073F9C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17D76FA-E725-05E2-708C-72A00BB7D42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2296208-2933-0900-1534-1464158C5644}"/>
              </a:ext>
            </a:extLst>
          </p:cNvPr>
          <p:cNvSpPr>
            <a:spLocks noGrp="1"/>
          </p:cNvSpPr>
          <p:nvPr>
            <p:ph type="body" idx="1"/>
          </p:nvPr>
        </p:nvSpPr>
        <p:spPr/>
        <p:txBody>
          <a:bodyPr/>
          <a:lstStyle/>
          <a:p>
            <a:r>
              <a:rPr lang="zh-TW" altLang="en-US" dirty="0"/>
              <a:t>以前的 </a:t>
            </a:r>
            <a:r>
              <a:rPr lang="en-US" altLang="zh-TW" dirty="0" err="1"/>
              <a:t>ViT</a:t>
            </a:r>
            <a:r>
              <a:rPr lang="en-US" altLang="zh-TW" dirty="0"/>
              <a:t> </a:t>
            </a:r>
            <a:r>
              <a:rPr lang="zh-TW" altLang="en-US" dirty="0"/>
              <a:t>模型，從頭到尾都維持著單一的解析度（例如永遠都是 </a:t>
            </a:r>
            <a:r>
              <a:rPr lang="en-US" altLang="zh-TW" dirty="0"/>
              <a:t>16x </a:t>
            </a:r>
            <a:r>
              <a:rPr lang="zh-TW" altLang="en-US" dirty="0"/>
              <a:t>下採樣）。 </a:t>
            </a:r>
            <a:r>
              <a:rPr lang="en-US" altLang="zh-TW" dirty="0"/>
              <a:t>-&gt; </a:t>
            </a:r>
            <a:r>
              <a:rPr lang="zh-TW" altLang="en-US" dirty="0"/>
              <a:t>在真實世界的圖片裡，物體的大小差異極大（多尺度）。一台近處的車可能很大，遠處的行人可能只剩幾個像素。如果模型永遠只能用同一種「固定大小的網格」去看世界，它就無法同時處理巨大和微小的物體。</a:t>
            </a:r>
            <a:endParaRPr lang="en-US" altLang="zh-TW" dirty="0"/>
          </a:p>
          <a:p>
            <a:endParaRPr lang="en-US" altLang="zh-TW" dirty="0"/>
          </a:p>
          <a:p>
            <a:r>
              <a:rPr lang="zh-TW" altLang="en-US" sz="1200" b="0" i="0" kern="1200" dirty="0">
                <a:solidFill>
                  <a:schemeClr val="tx1"/>
                </a:solidFill>
                <a:effectLst/>
                <a:latin typeface="+mn-lt"/>
                <a:ea typeface="+mn-ea"/>
                <a:cs typeface="+mn-cs"/>
              </a:rPr>
              <a:t>之前的</a:t>
            </a:r>
            <a:r>
              <a:rPr lang="en-US" altLang="zh-TW" sz="1200" b="0" i="0" kern="1200" dirty="0">
                <a:solidFill>
                  <a:schemeClr val="tx1"/>
                </a:solidFill>
                <a:effectLst/>
                <a:latin typeface="+mn-lt"/>
                <a:ea typeface="+mn-ea"/>
                <a:cs typeface="+mn-cs"/>
              </a:rPr>
              <a:t>Vision Transformer</a:t>
            </a:r>
            <a:r>
              <a:rPr lang="zh-TW" altLang="en-US" sz="1200" b="0" i="0" kern="1200" dirty="0">
                <a:solidFill>
                  <a:schemeClr val="tx1"/>
                </a:solidFill>
                <a:effectLst/>
                <a:latin typeface="+mn-lt"/>
                <a:ea typeface="+mn-ea"/>
                <a:cs typeface="+mn-cs"/>
              </a:rPr>
              <a:t>中是一開始就直接下取樣</a:t>
            </a:r>
            <a:r>
              <a:rPr lang="en-US" altLang="zh-TW" sz="1200" b="0" i="0" kern="1200" dirty="0">
                <a:solidFill>
                  <a:schemeClr val="tx1"/>
                </a:solidFill>
                <a:effectLst/>
                <a:latin typeface="+mn-lt"/>
                <a:ea typeface="+mn-ea"/>
                <a:cs typeface="+mn-cs"/>
              </a:rPr>
              <a:t>16</a:t>
            </a:r>
            <a:r>
              <a:rPr lang="zh-TW" altLang="en-US" sz="1200" b="0" i="0" kern="1200" dirty="0">
                <a:solidFill>
                  <a:schemeClr val="tx1"/>
                </a:solidFill>
                <a:effectLst/>
                <a:latin typeface="+mn-lt"/>
                <a:ea typeface="+mn-ea"/>
                <a:cs typeface="+mn-cs"/>
              </a:rPr>
              <a:t>倍，後面的特徵圖也是維持這個下取樣率不變</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F4D2F2BE-B8D9-FE8E-FEA3-EF2569CFECA4}"/>
              </a:ext>
            </a:extLst>
          </p:cNvPr>
          <p:cNvSpPr>
            <a:spLocks noGrp="1"/>
          </p:cNvSpPr>
          <p:nvPr>
            <p:ph type="sldNum" sz="quarter" idx="5"/>
          </p:nvPr>
        </p:nvSpPr>
        <p:spPr/>
        <p:txBody>
          <a:bodyPr/>
          <a:lstStyle/>
          <a:p>
            <a:fld id="{4FFC9C8E-8CA7-443A-832F-F0F3F7A96022}" type="slidenum">
              <a:rPr lang="zh-TW" altLang="en-US" smtClean="0"/>
              <a:t>5</a:t>
            </a:fld>
            <a:endParaRPr lang="zh-TW" altLang="en-US"/>
          </a:p>
        </p:txBody>
      </p:sp>
    </p:spTree>
    <p:extLst>
      <p:ext uri="{BB962C8B-B14F-4D97-AF65-F5344CB8AC3E}">
        <p14:creationId xmlns:p14="http://schemas.microsoft.com/office/powerpoint/2010/main" val="4108052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E0A3A-FF82-C30E-AE83-3CE5E45D351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BC849E2B-6C29-C00C-BEE4-212BF404016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967432C-0DC8-7F3C-4CC8-312B918E7283}"/>
              </a:ext>
            </a:extLst>
          </p:cNvPr>
          <p:cNvSpPr>
            <a:spLocks noGrp="1"/>
          </p:cNvSpPr>
          <p:nvPr>
            <p:ph type="body" idx="1"/>
          </p:nvPr>
        </p:nvSpPr>
        <p:spPr/>
        <p:txBody>
          <a:bodyPr/>
          <a:lstStyle/>
          <a:p>
            <a:r>
              <a:rPr lang="zh-TW" altLang="en-US" dirty="0"/>
              <a:t>過去十年來，卷積神經網路 </a:t>
            </a:r>
            <a:r>
              <a:rPr lang="en-US" altLang="zh-TW" dirty="0"/>
              <a:t>(CNN) </a:t>
            </a:r>
            <a:r>
              <a:rPr lang="zh-TW" altLang="en-US" dirty="0"/>
              <a:t>一直是視覺任務的標準配備。從早期的 </a:t>
            </a:r>
            <a:r>
              <a:rPr lang="en-US" altLang="zh-TW" dirty="0" err="1"/>
              <a:t>AlexNet</a:t>
            </a:r>
            <a:r>
              <a:rPr lang="en-US" altLang="zh-TW" dirty="0"/>
              <a:t> </a:t>
            </a:r>
            <a:r>
              <a:rPr lang="zh-TW" altLang="en-US" dirty="0"/>
              <a:t>到廣泛應用的 </a:t>
            </a:r>
            <a:r>
              <a:rPr lang="en-US" altLang="zh-TW" dirty="0" err="1"/>
              <a:t>ResNet</a:t>
            </a:r>
            <a:r>
              <a:rPr lang="zh-TW" altLang="en-US" dirty="0"/>
              <a:t>，</a:t>
            </a:r>
            <a:r>
              <a:rPr lang="en-US" altLang="zh-TW" dirty="0"/>
              <a:t>CNN </a:t>
            </a:r>
            <a:r>
              <a:rPr lang="zh-TW" altLang="en-US" dirty="0"/>
              <a:t>憑藉著優異的局部特徵萃取能力，確立了它作為標準骨幹網路 </a:t>
            </a:r>
            <a:r>
              <a:rPr lang="en-US" altLang="zh-TW" dirty="0"/>
              <a:t>(Backbone) </a:t>
            </a:r>
            <a:r>
              <a:rPr lang="zh-TW" altLang="en-US" dirty="0"/>
              <a:t>的地位。然而，隨著自然語言處理領域的技術跨界，近期的研究強烈顯示：基於自注意力機制 </a:t>
            </a:r>
            <a:r>
              <a:rPr lang="en-US" altLang="zh-TW" dirty="0"/>
              <a:t>(Self-attention) </a:t>
            </a:r>
            <a:r>
              <a:rPr lang="zh-TW" altLang="en-US" dirty="0"/>
              <a:t>的 </a:t>
            </a:r>
            <a:r>
              <a:rPr lang="en-US" altLang="zh-TW" dirty="0"/>
              <a:t>Transformer </a:t>
            </a:r>
            <a:r>
              <a:rPr lang="zh-TW" altLang="en-US" dirty="0"/>
              <a:t>架構，同樣具備成為</a:t>
            </a:r>
            <a:r>
              <a:rPr lang="en-US" altLang="zh-TW" dirty="0"/>
              <a:t>『</a:t>
            </a:r>
            <a:r>
              <a:rPr lang="zh-TW" altLang="en-US" dirty="0"/>
              <a:t>通用視覺骨幹網路</a:t>
            </a:r>
            <a:r>
              <a:rPr lang="en-US" altLang="zh-TW" dirty="0"/>
              <a:t>』</a:t>
            </a:r>
            <a:r>
              <a:rPr lang="zh-TW" altLang="en-US" dirty="0"/>
              <a:t>的強大潛力。而這篇 </a:t>
            </a:r>
            <a:r>
              <a:rPr lang="en-US" altLang="zh-TW" dirty="0"/>
              <a:t>Swin Transformer </a:t>
            </a:r>
            <a:r>
              <a:rPr lang="zh-TW" altLang="en-US" dirty="0"/>
              <a:t>論文的核心貢獻，正是為了解決 </a:t>
            </a:r>
            <a:r>
              <a:rPr lang="en-US" altLang="zh-TW" dirty="0"/>
              <a:t>Transformer </a:t>
            </a:r>
            <a:r>
              <a:rPr lang="zh-TW" altLang="en-US" dirty="0"/>
              <a:t>在視覺任務上的硬體運算瓶頸，正式挑戰 </a:t>
            </a:r>
            <a:r>
              <a:rPr lang="en-US" altLang="zh-TW" dirty="0"/>
              <a:t>CNN </a:t>
            </a:r>
            <a:r>
              <a:rPr lang="zh-TW" altLang="en-US" dirty="0"/>
              <a:t>長期以來的霸主地位。」</a:t>
            </a:r>
          </a:p>
          <a:p>
            <a:endParaRPr lang="en-US" altLang="zh-TW" b="0" i="0" dirty="0">
              <a:solidFill>
                <a:srgbClr val="333333"/>
              </a:solidFill>
              <a:effectLst/>
              <a:latin typeface="Georgia" panose="02040502050405020303" pitchFamily="18" charset="0"/>
            </a:endParaRPr>
          </a:p>
          <a:p>
            <a:r>
              <a:rPr lang="zh-TW" altLang="en-US" dirty="0"/>
              <a:t>雖然先前的研究嘗試以局部自注意力機制取代傳統卷積，並取得了不錯的理論運算量與準確率折衷（</a:t>
            </a:r>
            <a:r>
              <a:rPr lang="en-US" altLang="zh-TW" dirty="0"/>
              <a:t>Accuracy-FLOPs trade-offs</a:t>
            </a:r>
            <a:r>
              <a:rPr lang="zh-TW" altLang="en-US" dirty="0"/>
              <a:t>）。但是，他們採用的</a:t>
            </a:r>
            <a:r>
              <a:rPr lang="en-US" altLang="zh-TW" dirty="0"/>
              <a:t>『</a:t>
            </a:r>
            <a:r>
              <a:rPr lang="zh-TW" altLang="en-US" dirty="0"/>
              <a:t>滑動視窗（</a:t>
            </a:r>
            <a:r>
              <a:rPr lang="en-US" altLang="zh-TW" dirty="0"/>
              <a:t>Sliding Window</a:t>
            </a:r>
            <a:r>
              <a:rPr lang="zh-TW" altLang="en-US" dirty="0"/>
              <a:t>）</a:t>
            </a:r>
            <a:r>
              <a:rPr lang="en-US" altLang="zh-TW" dirty="0"/>
              <a:t>』</a:t>
            </a:r>
            <a:r>
              <a:rPr lang="zh-TW" altLang="en-US" dirty="0"/>
              <a:t>設計，在底層硬體上會引發極高昂的記憶體存取成本，導致實際推論的延遲（</a:t>
            </a:r>
            <a:r>
              <a:rPr lang="en-US" altLang="zh-TW" dirty="0"/>
              <a:t>Latency</a:t>
            </a:r>
            <a:r>
              <a:rPr lang="zh-TW" altLang="en-US" dirty="0"/>
              <a:t>）遠高於傳統的卷積神經網路。</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C2639180-F54D-717C-76A4-2C3D3C52B712}"/>
              </a:ext>
            </a:extLst>
          </p:cNvPr>
          <p:cNvSpPr>
            <a:spLocks noGrp="1"/>
          </p:cNvSpPr>
          <p:nvPr>
            <p:ph type="sldNum" sz="quarter" idx="5"/>
          </p:nvPr>
        </p:nvSpPr>
        <p:spPr/>
        <p:txBody>
          <a:bodyPr/>
          <a:lstStyle/>
          <a:p>
            <a:fld id="{4FFC9C8E-8CA7-443A-832F-F0F3F7A96022}" type="slidenum">
              <a:rPr lang="zh-TW" altLang="en-US" smtClean="0"/>
              <a:t>7</a:t>
            </a:fld>
            <a:endParaRPr lang="zh-TW" altLang="en-US"/>
          </a:p>
        </p:txBody>
      </p:sp>
    </p:spTree>
    <p:extLst>
      <p:ext uri="{BB962C8B-B14F-4D97-AF65-F5344CB8AC3E}">
        <p14:creationId xmlns:p14="http://schemas.microsoft.com/office/powerpoint/2010/main" val="17954153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6839E-A85E-C069-0BAE-C549E7F608F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D0A204C-A964-30E6-A7BC-5CE5A8C1B9A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9F59727-FDCD-EB5B-EDC7-67BA7AAD542B}"/>
              </a:ext>
            </a:extLst>
          </p:cNvPr>
          <p:cNvSpPr>
            <a:spLocks noGrp="1"/>
          </p:cNvSpPr>
          <p:nvPr>
            <p:ph type="body" idx="1"/>
          </p:nvPr>
        </p:nvSpPr>
        <p:spPr/>
        <p:txBody>
          <a:bodyPr/>
          <a:lstStyle/>
          <a:p>
            <a:r>
              <a:rPr lang="zh-TW" altLang="en-US" dirty="0"/>
              <a:t>當時有許多研究（例如 </a:t>
            </a:r>
            <a:r>
              <a:rPr lang="en-US" altLang="zh-TW" dirty="0"/>
              <a:t>DETR</a:t>
            </a:r>
            <a:r>
              <a:rPr lang="zh-TW" altLang="en-US" dirty="0"/>
              <a:t>），是保留傳統 </a:t>
            </a:r>
            <a:r>
              <a:rPr lang="en-US" altLang="zh-TW" dirty="0"/>
              <a:t>CNN </a:t>
            </a:r>
            <a:r>
              <a:rPr lang="zh-TW" altLang="en-US" dirty="0"/>
              <a:t>作為底層的特徵萃取器，並將 </a:t>
            </a:r>
            <a:r>
              <a:rPr lang="en-US" altLang="zh-TW" dirty="0"/>
              <a:t>Transformer </a:t>
            </a:r>
            <a:r>
              <a:rPr lang="zh-TW" altLang="en-US" dirty="0"/>
              <a:t>放置在網路的末端（如預測頭），專門用來處理物件之間的全局關聯性。</a:t>
            </a:r>
          </a:p>
          <a:p>
            <a:r>
              <a:rPr lang="zh-TW" altLang="en-US" dirty="0"/>
              <a:t>然而，本篇論文的 </a:t>
            </a:r>
            <a:r>
              <a:rPr lang="en-US" altLang="zh-TW" dirty="0"/>
              <a:t>Swin Transformer </a:t>
            </a:r>
            <a:r>
              <a:rPr lang="zh-TW" altLang="en-US" dirty="0"/>
              <a:t>走的是完全不同的路線。作者的目標，是讓 </a:t>
            </a:r>
            <a:r>
              <a:rPr lang="en-US" altLang="zh-TW" dirty="0"/>
              <a:t>Transformer </a:t>
            </a:r>
            <a:r>
              <a:rPr lang="zh-TW" altLang="en-US" dirty="0"/>
              <a:t>直接執行</a:t>
            </a:r>
            <a:r>
              <a:rPr lang="en-US" altLang="zh-TW" dirty="0"/>
              <a:t>『</a:t>
            </a:r>
            <a:r>
              <a:rPr lang="zh-TW" altLang="en-US" dirty="0"/>
              <a:t>最基礎的視覺特徵擷取</a:t>
            </a:r>
            <a:r>
              <a:rPr lang="en-US" altLang="zh-TW" dirty="0"/>
              <a:t>』</a:t>
            </a:r>
            <a:r>
              <a:rPr lang="zh-TW" altLang="en-US" dirty="0"/>
              <a:t>，也就是徹底取代 </a:t>
            </a:r>
            <a:r>
              <a:rPr lang="en-US" altLang="zh-TW" dirty="0"/>
              <a:t>CNN </a:t>
            </a:r>
            <a:r>
              <a:rPr lang="zh-TW" altLang="en-US" dirty="0"/>
              <a:t>作為 </a:t>
            </a:r>
            <a:r>
              <a:rPr lang="en-US" altLang="zh-TW" dirty="0"/>
              <a:t>Backbone</a:t>
            </a:r>
            <a:r>
              <a:rPr lang="zh-TW" altLang="en-US" dirty="0"/>
              <a:t>（骨幹網路）的角色。</a:t>
            </a:r>
          </a:p>
          <a:p>
            <a:endParaRPr lang="en-US" altLang="zh-TW" b="0" i="0" dirty="0">
              <a:solidFill>
                <a:srgbClr val="333333"/>
              </a:solidFill>
              <a:effectLst/>
              <a:latin typeface="Georgia" panose="02040502050405020303" pitchFamily="18" charset="0"/>
            </a:endParaRPr>
          </a:p>
          <a:p>
            <a:r>
              <a:rPr lang="zh-TW" altLang="en-US" sz="1200" kern="1200" dirty="0">
                <a:solidFill>
                  <a:schemeClr val="tx1"/>
                </a:solidFill>
                <a:effectLst/>
                <a:latin typeface="+mn-lt"/>
                <a:ea typeface="+mn-ea"/>
                <a:cs typeface="+mn-cs"/>
              </a:rPr>
              <a:t>雖然先前的 </a:t>
            </a:r>
            <a:r>
              <a:rPr lang="en-US" altLang="zh-TW" sz="1200" kern="1200" dirty="0" err="1">
                <a:solidFill>
                  <a:schemeClr val="tx1"/>
                </a:solidFill>
                <a:effectLst/>
                <a:latin typeface="+mn-lt"/>
                <a:ea typeface="+mn-ea"/>
                <a:cs typeface="+mn-cs"/>
              </a:rPr>
              <a:t>ViT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與 </a:t>
            </a:r>
            <a:r>
              <a:rPr lang="en-US" altLang="zh-TW" sz="1200" kern="1200" dirty="0" err="1">
                <a:solidFill>
                  <a:schemeClr val="tx1"/>
                </a:solidFill>
                <a:effectLst/>
                <a:latin typeface="+mn-lt"/>
                <a:ea typeface="+mn-ea"/>
                <a:cs typeface="+mn-cs"/>
              </a:rPr>
              <a:t>DeiT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證明了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在</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影像分類</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上的可行性，但當面對需要精準標記每一個像素的</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密集視覺任務（如物件偵測與分割）</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時，它們卻因為缺乏高解析度特徵圖，以及具有平方級別 </a:t>
            </a:r>
            <a:r>
              <a:rPr lang="en-US" altLang="zh-TW" sz="1200" kern="1200" dirty="0">
                <a:solidFill>
                  <a:schemeClr val="tx1"/>
                </a:solidFill>
                <a:effectLst/>
                <a:latin typeface="+mn-lt"/>
                <a:ea typeface="+mn-ea"/>
                <a:cs typeface="+mn-cs"/>
              </a:rPr>
              <a:t>($O(N^2)$) </a:t>
            </a:r>
            <a:r>
              <a:rPr lang="zh-TW" altLang="en-US" sz="1200" kern="1200" dirty="0">
                <a:solidFill>
                  <a:schemeClr val="tx1"/>
                </a:solidFill>
                <a:effectLst/>
                <a:latin typeface="+mn-lt"/>
                <a:ea typeface="+mn-ea"/>
                <a:cs typeface="+mn-cs"/>
              </a:rPr>
              <a:t>的龐大運算複雜度，而無法成為通用的骨幹網路。</a:t>
            </a:r>
          </a:p>
          <a:p>
            <a:r>
              <a:rPr lang="zh-TW" altLang="en-US" sz="1200" kern="1200" dirty="0">
                <a:solidFill>
                  <a:schemeClr val="tx1"/>
                </a:solidFill>
                <a:effectLst/>
                <a:latin typeface="+mn-lt"/>
                <a:ea typeface="+mn-ea"/>
                <a:cs typeface="+mn-cs"/>
              </a:rPr>
              <a:t>相對地，本篇論文提出的 </a:t>
            </a:r>
            <a:r>
              <a:rPr lang="en-US" altLang="zh-TW" sz="1200" kern="1200" dirty="0">
                <a:solidFill>
                  <a:schemeClr val="tx1"/>
                </a:solidFill>
                <a:effectLst/>
                <a:latin typeface="+mn-lt"/>
                <a:ea typeface="+mn-ea"/>
                <a:cs typeface="+mn-cs"/>
              </a:rPr>
              <a:t>Swin Transformer</a:t>
            </a:r>
            <a:r>
              <a:rPr lang="zh-TW" altLang="en-US" sz="1200" kern="1200" dirty="0">
                <a:solidFill>
                  <a:schemeClr val="tx1"/>
                </a:solidFill>
                <a:effectLst/>
                <a:latin typeface="+mn-lt"/>
                <a:ea typeface="+mn-ea"/>
                <a:cs typeface="+mn-cs"/>
              </a:rPr>
              <a:t>，透過局部視窗操作，成功將計算複雜度大幅降低至線性級別 </a:t>
            </a:r>
            <a:r>
              <a:rPr lang="en-US" altLang="zh-TW" sz="1200" kern="1200" dirty="0">
                <a:solidFill>
                  <a:schemeClr val="tx1"/>
                </a:solidFill>
                <a:effectLst/>
                <a:latin typeface="+mn-lt"/>
                <a:ea typeface="+mn-ea"/>
                <a:cs typeface="+mn-cs"/>
              </a:rPr>
              <a:t>($O(N)$)</a:t>
            </a:r>
            <a:r>
              <a:rPr lang="zh-TW" altLang="en-US" sz="1200" kern="1200" dirty="0">
                <a:solidFill>
                  <a:schemeClr val="tx1"/>
                </a:solidFill>
                <a:effectLst/>
                <a:latin typeface="+mn-lt"/>
                <a:ea typeface="+mn-ea"/>
                <a:cs typeface="+mn-cs"/>
              </a:rPr>
              <a:t>，並建構了階層式的特徵圖。這不僅徹底解決了前代 </a:t>
            </a:r>
            <a:r>
              <a:rPr lang="en-US" altLang="zh-TW" sz="1200" kern="1200" dirty="0">
                <a:solidFill>
                  <a:schemeClr val="tx1"/>
                </a:solidFill>
                <a:effectLst/>
                <a:latin typeface="+mn-lt"/>
                <a:ea typeface="+mn-ea"/>
                <a:cs typeface="+mn-cs"/>
              </a:rPr>
              <a:t>Transformer </a:t>
            </a:r>
            <a:r>
              <a:rPr lang="zh-TW" altLang="en-US" sz="1200" kern="1200" dirty="0">
                <a:solidFill>
                  <a:schemeClr val="tx1"/>
                </a:solidFill>
                <a:effectLst/>
                <a:latin typeface="+mn-lt"/>
                <a:ea typeface="+mn-ea"/>
                <a:cs typeface="+mn-cs"/>
              </a:rPr>
              <a:t>的硬體瓶頸，更證明了它是真正能勝任所有下游視覺任務的通用架構，而我們前面看到的 </a:t>
            </a:r>
            <a:r>
              <a:rPr lang="en-US" altLang="zh-TW" sz="1200" kern="1200" dirty="0">
                <a:solidFill>
                  <a:schemeClr val="tx1"/>
                </a:solidFill>
                <a:effectLst/>
                <a:latin typeface="+mn-lt"/>
                <a:ea typeface="+mn-ea"/>
                <a:cs typeface="+mn-cs"/>
              </a:rPr>
              <a:t>COCO </a:t>
            </a:r>
            <a:r>
              <a:rPr lang="zh-TW" altLang="en-US" sz="1200" kern="1200" dirty="0">
                <a:solidFill>
                  <a:schemeClr val="tx1"/>
                </a:solidFill>
                <a:effectLst/>
                <a:latin typeface="+mn-lt"/>
                <a:ea typeface="+mn-ea"/>
                <a:cs typeface="+mn-cs"/>
              </a:rPr>
              <a:t>與 </a:t>
            </a:r>
            <a:r>
              <a:rPr lang="en-US" altLang="zh-TW" sz="1200" kern="1200" dirty="0">
                <a:solidFill>
                  <a:schemeClr val="tx1"/>
                </a:solidFill>
                <a:effectLst/>
                <a:latin typeface="+mn-lt"/>
                <a:ea typeface="+mn-ea"/>
                <a:cs typeface="+mn-cs"/>
              </a:rPr>
              <a:t>ADE20K </a:t>
            </a:r>
            <a:r>
              <a:rPr lang="zh-TW" altLang="en-US" sz="1200" kern="1200" dirty="0">
                <a:solidFill>
                  <a:schemeClr val="tx1"/>
                </a:solidFill>
                <a:effectLst/>
                <a:latin typeface="+mn-lt"/>
                <a:ea typeface="+mn-ea"/>
                <a:cs typeface="+mn-cs"/>
              </a:rPr>
              <a:t>歷史最高分，正是這個架構優勢的具體展現。」</a:t>
            </a:r>
          </a:p>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26F660F6-520B-ED59-8117-4D5C241C9A05}"/>
              </a:ext>
            </a:extLst>
          </p:cNvPr>
          <p:cNvSpPr>
            <a:spLocks noGrp="1"/>
          </p:cNvSpPr>
          <p:nvPr>
            <p:ph type="sldNum" sz="quarter" idx="5"/>
          </p:nvPr>
        </p:nvSpPr>
        <p:spPr/>
        <p:txBody>
          <a:bodyPr/>
          <a:lstStyle/>
          <a:p>
            <a:fld id="{4FFC9C8E-8CA7-443A-832F-F0F3F7A96022}" type="slidenum">
              <a:rPr lang="zh-TW" altLang="en-US" smtClean="0"/>
              <a:t>8</a:t>
            </a:fld>
            <a:endParaRPr lang="zh-TW" altLang="en-US"/>
          </a:p>
        </p:txBody>
      </p:sp>
    </p:spTree>
    <p:extLst>
      <p:ext uri="{BB962C8B-B14F-4D97-AF65-F5344CB8AC3E}">
        <p14:creationId xmlns:p14="http://schemas.microsoft.com/office/powerpoint/2010/main" val="4006497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6B1B6-EDA7-5409-91CB-D04375BE33A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D6FA9FF-06B6-C6A9-95C2-768B2BD426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79F7AFB-AE97-D5A1-CEA3-63E11DF042CB}"/>
              </a:ext>
            </a:extLst>
          </p:cNvPr>
          <p:cNvSpPr>
            <a:spLocks noGrp="1"/>
          </p:cNvSpPr>
          <p:nvPr>
            <p:ph type="body" idx="1"/>
          </p:nvPr>
        </p:nvSpPr>
        <p:spPr/>
        <p:txBody>
          <a:bodyPr/>
          <a:lstStyle/>
          <a:p>
            <a:r>
              <a:rPr lang="zh-TW" altLang="en-US" sz="1200" b="0" i="0" kern="1200" dirty="0">
                <a:solidFill>
                  <a:schemeClr val="tx1"/>
                </a:solidFill>
                <a:effectLst/>
                <a:latin typeface="+mn-lt"/>
                <a:ea typeface="+mn-ea"/>
                <a:cs typeface="+mn-cs"/>
              </a:rPr>
              <a:t>首先將一張圖片按給定大小分成一堆 </a:t>
            </a:r>
            <a:r>
              <a:rPr lang="en-US" altLang="zh-TW" sz="1200" b="0" i="0" kern="1200" dirty="0">
                <a:solidFill>
                  <a:schemeClr val="tx1"/>
                </a:solidFill>
                <a:effectLst/>
                <a:latin typeface="+mn-lt"/>
                <a:ea typeface="+mn-ea"/>
                <a:cs typeface="+mn-cs"/>
              </a:rPr>
              <a:t>Patches</a:t>
            </a:r>
            <a:r>
              <a:rPr lang="zh-TW" altLang="en-US" sz="1200" b="0" i="0" kern="1200" dirty="0">
                <a:solidFill>
                  <a:schemeClr val="tx1"/>
                </a:solidFill>
                <a:effectLst/>
                <a:latin typeface="+mn-lt"/>
                <a:ea typeface="+mn-ea"/>
                <a:cs typeface="+mn-cs"/>
              </a:rPr>
              <a:t>，將輸入圖片 </a:t>
            </a:r>
            <a:r>
              <a:rPr lang="en-US" altLang="zh-TW" sz="1200" b="0" i="0" kern="1200" dirty="0">
                <a:solidFill>
                  <a:schemeClr val="tx1"/>
                </a:solidFill>
                <a:effectLst/>
                <a:latin typeface="+mn-lt"/>
                <a:ea typeface="+mn-ea"/>
                <a:cs typeface="+mn-cs"/>
              </a:rPr>
              <a:t>[H, W, 3] </a:t>
            </a:r>
            <a:r>
              <a:rPr lang="zh-TW" altLang="en-US" sz="1200" b="0" i="0" kern="1200" dirty="0">
                <a:solidFill>
                  <a:schemeClr val="tx1"/>
                </a:solidFill>
                <a:effectLst/>
                <a:latin typeface="+mn-lt"/>
                <a:ea typeface="+mn-ea"/>
                <a:cs typeface="+mn-cs"/>
              </a:rPr>
              <a:t>按照 </a:t>
            </a:r>
            <a:r>
              <a:rPr lang="en-US" altLang="zh-TW" sz="1200" b="0" i="0" kern="1200" dirty="0">
                <a:solidFill>
                  <a:schemeClr val="tx1"/>
                </a:solidFill>
                <a:effectLst/>
                <a:latin typeface="+mn-lt"/>
                <a:ea typeface="+mn-ea"/>
                <a:cs typeface="+mn-cs"/>
              </a:rPr>
              <a:t>4x4 </a:t>
            </a:r>
            <a:r>
              <a:rPr lang="zh-TW" altLang="en-US" sz="1200" b="0" i="0" kern="1200" dirty="0">
                <a:solidFill>
                  <a:schemeClr val="tx1"/>
                </a:solidFill>
                <a:effectLst/>
                <a:latin typeface="+mn-lt"/>
                <a:ea typeface="+mn-ea"/>
                <a:cs typeface="+mn-cs"/>
              </a:rPr>
              <a:t>大小的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進行劃分，劃分後會得到 </a:t>
            </a:r>
            <a:r>
              <a:rPr lang="en-US" altLang="zh-TW" sz="1200" b="0" i="0" kern="1200" dirty="0">
                <a:solidFill>
                  <a:schemeClr val="tx1"/>
                </a:solidFill>
                <a:effectLst/>
                <a:latin typeface="+mn-lt"/>
                <a:ea typeface="+mn-ea"/>
                <a:cs typeface="+mn-cs"/>
              </a:rPr>
              <a:t>[H/4, W/4, 48] </a:t>
            </a:r>
            <a:r>
              <a:rPr lang="zh-TW" altLang="en-US" sz="1200" b="0" i="0" kern="1200" dirty="0">
                <a:solidFill>
                  <a:schemeClr val="tx1"/>
                </a:solidFill>
                <a:effectLst/>
                <a:latin typeface="+mn-lt"/>
                <a:ea typeface="+mn-ea"/>
                <a:cs typeface="+mn-cs"/>
              </a:rPr>
              <a:t>個 </a:t>
            </a:r>
            <a:r>
              <a:rPr lang="en-US" altLang="zh-TW" sz="1200" b="0" i="0" kern="1200" dirty="0">
                <a:solidFill>
                  <a:schemeClr val="tx1"/>
                </a:solidFill>
                <a:effectLst/>
                <a:latin typeface="+mn-lt"/>
                <a:ea typeface="+mn-ea"/>
                <a:cs typeface="+mn-cs"/>
              </a:rPr>
              <a:t>Patches</a:t>
            </a:r>
            <a:r>
              <a:rPr lang="zh-TW" altLang="en-US" sz="1200" b="0" i="0" kern="1200" dirty="0">
                <a:solidFill>
                  <a:schemeClr val="tx1"/>
                </a:solidFill>
                <a:effectLst/>
                <a:latin typeface="+mn-lt"/>
                <a:ea typeface="+mn-ea"/>
                <a:cs typeface="+mn-cs"/>
              </a:rPr>
              <a:t>。因為每個 </a:t>
            </a:r>
            <a:r>
              <a:rPr lang="en-US" altLang="zh-TW" sz="1200" b="0" i="0" kern="1200" dirty="0">
                <a:solidFill>
                  <a:schemeClr val="tx1"/>
                </a:solidFill>
                <a:effectLst/>
                <a:latin typeface="+mn-lt"/>
                <a:ea typeface="+mn-ea"/>
                <a:cs typeface="+mn-cs"/>
              </a:rPr>
              <a:t>Patches </a:t>
            </a:r>
            <a:r>
              <a:rPr lang="zh-TW" altLang="en-US" sz="1200" b="0" i="0" kern="1200" dirty="0">
                <a:solidFill>
                  <a:schemeClr val="tx1"/>
                </a:solidFill>
                <a:effectLst/>
                <a:latin typeface="+mn-lt"/>
                <a:ea typeface="+mn-ea"/>
                <a:cs typeface="+mn-cs"/>
              </a:rPr>
              <a:t>裡有 </a:t>
            </a:r>
            <a:r>
              <a:rPr lang="en-US" altLang="zh-TW" sz="1200" b="0" i="0" kern="1200" dirty="0">
                <a:solidFill>
                  <a:schemeClr val="tx1"/>
                </a:solidFill>
                <a:effectLst/>
                <a:latin typeface="+mn-lt"/>
                <a:ea typeface="+mn-ea"/>
                <a:cs typeface="+mn-cs"/>
              </a:rPr>
              <a:t>4x4=16 </a:t>
            </a:r>
            <a:r>
              <a:rPr lang="zh-TW" altLang="en-US" sz="1200" b="0" i="0" kern="1200" dirty="0">
                <a:solidFill>
                  <a:schemeClr val="tx1"/>
                </a:solidFill>
                <a:effectLst/>
                <a:latin typeface="+mn-lt"/>
                <a:ea typeface="+mn-ea"/>
                <a:cs typeface="+mn-cs"/>
              </a:rPr>
              <a:t>個像素，然後每個像素有 </a:t>
            </a:r>
            <a:r>
              <a:rPr lang="en-US" altLang="zh-TW" sz="1200" b="0" i="0" kern="1200" dirty="0">
                <a:solidFill>
                  <a:schemeClr val="tx1"/>
                </a:solidFill>
                <a:effectLst/>
                <a:latin typeface="+mn-lt"/>
                <a:ea typeface="+mn-ea"/>
                <a:cs typeface="+mn-cs"/>
              </a:rPr>
              <a:t>R</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G</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B </a:t>
            </a:r>
            <a:r>
              <a:rPr lang="zh-TW" altLang="en-US" sz="1200" b="0" i="0" kern="1200" dirty="0">
                <a:solidFill>
                  <a:schemeClr val="tx1"/>
                </a:solidFill>
                <a:effectLst/>
                <a:latin typeface="+mn-lt"/>
                <a:ea typeface="+mn-ea"/>
                <a:cs typeface="+mn-cs"/>
              </a:rPr>
              <a:t>三個值所以展平後是 </a:t>
            </a:r>
            <a:r>
              <a:rPr lang="en-US" altLang="zh-TW" sz="1200" b="0" i="0" kern="1200" dirty="0">
                <a:solidFill>
                  <a:schemeClr val="tx1"/>
                </a:solidFill>
                <a:effectLst/>
                <a:latin typeface="+mn-lt"/>
                <a:ea typeface="+mn-ea"/>
                <a:cs typeface="+mn-cs"/>
              </a:rPr>
              <a:t>16x3=48</a:t>
            </a:r>
            <a:r>
              <a:rPr lang="zh-TW" altLang="en-US" sz="1200" b="0" i="0" kern="1200" dirty="0">
                <a:solidFill>
                  <a:schemeClr val="tx1"/>
                </a:solidFill>
                <a:effectLst/>
                <a:latin typeface="+mn-lt"/>
                <a:ea typeface="+mn-ea"/>
                <a:cs typeface="+mn-cs"/>
              </a:rPr>
              <a:t>。接著通過 </a:t>
            </a:r>
            <a:r>
              <a:rPr lang="en-US" altLang="zh-TW" sz="1200" b="0" i="0" kern="1200" dirty="0">
                <a:solidFill>
                  <a:schemeClr val="tx1"/>
                </a:solidFill>
                <a:effectLst/>
                <a:latin typeface="+mn-lt"/>
                <a:ea typeface="+mn-ea"/>
                <a:cs typeface="+mn-cs"/>
              </a:rPr>
              <a:t>Embedding </a:t>
            </a:r>
            <a:r>
              <a:rPr lang="zh-TW" altLang="en-US" sz="1200" b="0" i="0" kern="1200" dirty="0">
                <a:solidFill>
                  <a:schemeClr val="tx1"/>
                </a:solidFill>
                <a:effectLst/>
                <a:latin typeface="+mn-lt"/>
                <a:ea typeface="+mn-ea"/>
                <a:cs typeface="+mn-cs"/>
              </a:rPr>
              <a:t>層將每個 </a:t>
            </a:r>
            <a:r>
              <a:rPr lang="en-US" altLang="zh-TW" sz="1200" b="0" i="0" kern="1200" dirty="0">
                <a:solidFill>
                  <a:schemeClr val="tx1"/>
                </a:solidFill>
                <a:effectLst/>
                <a:latin typeface="+mn-lt"/>
                <a:ea typeface="+mn-ea"/>
                <a:cs typeface="+mn-cs"/>
              </a:rPr>
              <a:t>Patch </a:t>
            </a:r>
            <a:r>
              <a:rPr lang="zh-TW" altLang="en-US" sz="1200" b="0" i="0" kern="1200" dirty="0">
                <a:solidFill>
                  <a:schemeClr val="tx1"/>
                </a:solidFill>
                <a:effectLst/>
                <a:latin typeface="+mn-lt"/>
                <a:ea typeface="+mn-ea"/>
                <a:cs typeface="+mn-cs"/>
              </a:rPr>
              <a:t>的 </a:t>
            </a:r>
            <a:r>
              <a:rPr lang="en-US" altLang="zh-TW" sz="1200" b="0" i="0" kern="1200" dirty="0">
                <a:solidFill>
                  <a:schemeClr val="tx1"/>
                </a:solidFill>
                <a:effectLst/>
                <a:latin typeface="+mn-lt"/>
                <a:ea typeface="+mn-ea"/>
                <a:cs typeface="+mn-cs"/>
              </a:rPr>
              <a:t>Channel </a:t>
            </a:r>
            <a:r>
              <a:rPr lang="zh-TW" altLang="en-US" sz="1200" b="0" i="0" kern="1200" dirty="0">
                <a:solidFill>
                  <a:schemeClr val="tx1"/>
                </a:solidFill>
                <a:effectLst/>
                <a:latin typeface="+mn-lt"/>
                <a:ea typeface="+mn-ea"/>
                <a:cs typeface="+mn-cs"/>
              </a:rPr>
              <a:t>數據做線性映射，由 </a:t>
            </a:r>
            <a:r>
              <a:rPr lang="en-US" altLang="zh-TW" sz="1200" b="0" i="0" kern="1200" dirty="0">
                <a:solidFill>
                  <a:schemeClr val="tx1"/>
                </a:solidFill>
                <a:effectLst/>
                <a:latin typeface="+mn-lt"/>
                <a:ea typeface="+mn-ea"/>
                <a:cs typeface="+mn-cs"/>
              </a:rPr>
              <a:t>48 </a:t>
            </a:r>
            <a:r>
              <a:rPr lang="zh-TW" altLang="en-US" sz="1200" b="0" i="0" kern="1200" dirty="0">
                <a:solidFill>
                  <a:schemeClr val="tx1"/>
                </a:solidFill>
                <a:effectLst/>
                <a:latin typeface="+mn-lt"/>
                <a:ea typeface="+mn-ea"/>
                <a:cs typeface="+mn-cs"/>
              </a:rPr>
              <a:t>變成 </a:t>
            </a:r>
            <a:r>
              <a:rPr lang="en-US" altLang="zh-TW" sz="1200" b="0" i="0" kern="1200" dirty="0">
                <a:solidFill>
                  <a:schemeClr val="tx1"/>
                </a:solidFill>
                <a:effectLst/>
                <a:latin typeface="+mn-lt"/>
                <a:ea typeface="+mn-ea"/>
                <a:cs typeface="+mn-cs"/>
              </a:rPr>
              <a:t>C</a:t>
            </a:r>
            <a:r>
              <a:rPr lang="zh-TW" altLang="en-US" sz="1200" b="0" i="0" kern="1200" dirty="0">
                <a:solidFill>
                  <a:schemeClr val="tx1"/>
                </a:solidFill>
                <a:effectLst/>
                <a:latin typeface="+mn-lt"/>
                <a:ea typeface="+mn-ea"/>
                <a:cs typeface="+mn-cs"/>
              </a:rPr>
              <a:t>。這樣每個 </a:t>
            </a:r>
            <a:r>
              <a:rPr lang="en-US" altLang="zh-TW" sz="1200" b="0" i="0" kern="1200" dirty="0" err="1">
                <a:solidFill>
                  <a:schemeClr val="tx1"/>
                </a:solidFill>
                <a:effectLst/>
                <a:latin typeface="+mn-lt"/>
                <a:ea typeface="+mn-ea"/>
                <a:cs typeface="+mn-cs"/>
              </a:rPr>
              <a:t>Patche</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數據 </a:t>
            </a:r>
            <a:r>
              <a:rPr lang="en-US" altLang="zh-TW" sz="1200" b="0" i="0" kern="1200" dirty="0">
                <a:solidFill>
                  <a:schemeClr val="tx1"/>
                </a:solidFill>
                <a:effectLst/>
                <a:latin typeface="+mn-lt"/>
                <a:ea typeface="+mn-ea"/>
                <a:cs typeface="+mn-cs"/>
              </a:rPr>
              <a:t>Shape </a:t>
            </a:r>
            <a:r>
              <a:rPr lang="zh-TW" altLang="en-US" sz="1200" b="0" i="0" kern="1200" dirty="0">
                <a:solidFill>
                  <a:schemeClr val="tx1"/>
                </a:solidFill>
                <a:effectLst/>
                <a:latin typeface="+mn-lt"/>
                <a:ea typeface="+mn-ea"/>
                <a:cs typeface="+mn-cs"/>
              </a:rPr>
              <a:t>從 </a:t>
            </a:r>
            <a:r>
              <a:rPr lang="en-US" altLang="zh-TW" sz="1200" b="0" i="0" kern="1200" dirty="0">
                <a:solidFill>
                  <a:schemeClr val="tx1"/>
                </a:solidFill>
                <a:effectLst/>
                <a:latin typeface="+mn-lt"/>
                <a:ea typeface="+mn-ea"/>
                <a:cs typeface="+mn-cs"/>
              </a:rPr>
              <a:t>[H/4, W/4, 48] </a:t>
            </a:r>
            <a:r>
              <a:rPr lang="zh-TW" altLang="en-US" sz="1200" b="0" i="0" kern="1200" dirty="0">
                <a:solidFill>
                  <a:schemeClr val="tx1"/>
                </a:solidFill>
                <a:effectLst/>
                <a:latin typeface="+mn-lt"/>
                <a:ea typeface="+mn-ea"/>
                <a:cs typeface="+mn-cs"/>
              </a:rPr>
              <a:t>變為 </a:t>
            </a:r>
            <a:r>
              <a:rPr lang="en-US" altLang="zh-TW" sz="1200" b="0" i="0" kern="1200" dirty="0">
                <a:solidFill>
                  <a:schemeClr val="tx1"/>
                </a:solidFill>
                <a:effectLst/>
                <a:latin typeface="+mn-lt"/>
                <a:ea typeface="+mn-ea"/>
                <a:cs typeface="+mn-cs"/>
              </a:rPr>
              <a:t>[H/4, W/4, C] </a:t>
            </a:r>
            <a:r>
              <a:rPr lang="zh-TW" altLang="en-US" sz="1200" b="0" i="0" kern="1200" dirty="0">
                <a:solidFill>
                  <a:schemeClr val="tx1"/>
                </a:solidFill>
                <a:effectLst/>
                <a:latin typeface="+mn-lt"/>
                <a:ea typeface="+mn-ea"/>
                <a:cs typeface="+mn-cs"/>
              </a:rPr>
              <a:t>。</a:t>
            </a:r>
            <a:r>
              <a:rPr lang="en-US" altLang="zh-TW" sz="1200" b="0" i="0" kern="1200" dirty="0">
                <a:solidFill>
                  <a:schemeClr val="tx1"/>
                </a:solidFill>
                <a:effectLst/>
                <a:latin typeface="+mn-lt"/>
                <a:ea typeface="+mn-ea"/>
                <a:cs typeface="+mn-cs"/>
              </a:rPr>
              <a:t>Source Code </a:t>
            </a:r>
            <a:r>
              <a:rPr lang="zh-TW" altLang="en-US" sz="1200" b="0" i="0" kern="1200" dirty="0">
                <a:solidFill>
                  <a:schemeClr val="tx1"/>
                </a:solidFill>
                <a:effectLst/>
                <a:latin typeface="+mn-lt"/>
                <a:ea typeface="+mn-ea"/>
                <a:cs typeface="+mn-cs"/>
              </a:rPr>
              <a:t>中 </a:t>
            </a:r>
            <a:r>
              <a:rPr lang="en-US" altLang="zh-TW" sz="1200" b="0" i="0" kern="1200" dirty="0">
                <a:solidFill>
                  <a:schemeClr val="tx1"/>
                </a:solidFill>
                <a:effectLst/>
                <a:latin typeface="+mn-lt"/>
                <a:ea typeface="+mn-ea"/>
                <a:cs typeface="+mn-cs"/>
              </a:rPr>
              <a:t>Patch Partition </a:t>
            </a:r>
            <a:r>
              <a:rPr lang="zh-TW" altLang="en-US" sz="1200" b="0" i="0" kern="1200" dirty="0">
                <a:solidFill>
                  <a:schemeClr val="tx1"/>
                </a:solidFill>
                <a:effectLst/>
                <a:latin typeface="+mn-lt"/>
                <a:ea typeface="+mn-ea"/>
                <a:cs typeface="+mn-cs"/>
              </a:rPr>
              <a:t>和 </a:t>
            </a:r>
            <a:r>
              <a:rPr lang="en-US" altLang="zh-TW" sz="1200" b="0" i="0" kern="1200" dirty="0">
                <a:solidFill>
                  <a:schemeClr val="tx1"/>
                </a:solidFill>
                <a:effectLst/>
                <a:latin typeface="+mn-lt"/>
                <a:ea typeface="+mn-ea"/>
                <a:cs typeface="+mn-cs"/>
              </a:rPr>
              <a:t>Linear </a:t>
            </a:r>
            <a:r>
              <a:rPr lang="en-US" altLang="zh-TW" sz="1200" b="0" i="0" kern="1200" dirty="0" err="1">
                <a:solidFill>
                  <a:schemeClr val="tx1"/>
                </a:solidFill>
                <a:effectLst/>
                <a:latin typeface="+mn-lt"/>
                <a:ea typeface="+mn-ea"/>
                <a:cs typeface="+mn-cs"/>
              </a:rPr>
              <a:t>Embeding</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就是直接通過一個卷積層實現的，和之前 </a:t>
            </a:r>
            <a:r>
              <a:rPr lang="en-US" altLang="zh-TW" sz="1200" b="0" i="0" kern="1200" dirty="0">
                <a:solidFill>
                  <a:schemeClr val="tx1"/>
                </a:solidFill>
                <a:effectLst/>
                <a:latin typeface="+mn-lt"/>
                <a:ea typeface="+mn-ea"/>
                <a:cs typeface="+mn-cs"/>
              </a:rPr>
              <a:t>Vision-Transformer </a:t>
            </a:r>
            <a:r>
              <a:rPr lang="zh-TW" altLang="en-US" sz="1200" b="0" i="0" kern="1200" dirty="0">
                <a:solidFill>
                  <a:schemeClr val="tx1"/>
                </a:solidFill>
                <a:effectLst/>
                <a:latin typeface="+mn-lt"/>
                <a:ea typeface="+mn-ea"/>
                <a:cs typeface="+mn-cs"/>
              </a:rPr>
              <a:t>中講的 </a:t>
            </a:r>
            <a:r>
              <a:rPr lang="en-US" altLang="zh-TW" sz="1200" b="0" i="0" kern="1200" dirty="0">
                <a:solidFill>
                  <a:schemeClr val="tx1"/>
                </a:solidFill>
                <a:effectLst/>
                <a:latin typeface="+mn-lt"/>
                <a:ea typeface="+mn-ea"/>
                <a:cs typeface="+mn-cs"/>
              </a:rPr>
              <a:t>Embedding </a:t>
            </a:r>
            <a:r>
              <a:rPr lang="zh-TW" altLang="en-US" sz="1200" b="0" i="0" kern="1200" dirty="0">
                <a:solidFill>
                  <a:schemeClr val="tx1"/>
                </a:solidFill>
                <a:effectLst/>
                <a:latin typeface="+mn-lt"/>
                <a:ea typeface="+mn-ea"/>
                <a:cs typeface="+mn-cs"/>
              </a:rPr>
              <a:t>層結構一模一樣。</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8C21A92D-07B8-3229-0C13-4153A153F57E}"/>
              </a:ext>
            </a:extLst>
          </p:cNvPr>
          <p:cNvSpPr>
            <a:spLocks noGrp="1"/>
          </p:cNvSpPr>
          <p:nvPr>
            <p:ph type="sldNum" sz="quarter" idx="5"/>
          </p:nvPr>
        </p:nvSpPr>
        <p:spPr/>
        <p:txBody>
          <a:bodyPr/>
          <a:lstStyle/>
          <a:p>
            <a:fld id="{4FFC9C8E-8CA7-443A-832F-F0F3F7A96022}" type="slidenum">
              <a:rPr lang="zh-TW" altLang="en-US" smtClean="0"/>
              <a:t>10</a:t>
            </a:fld>
            <a:endParaRPr lang="zh-TW" altLang="en-US"/>
          </a:p>
        </p:txBody>
      </p:sp>
    </p:spTree>
    <p:extLst>
      <p:ext uri="{BB962C8B-B14F-4D97-AF65-F5344CB8AC3E}">
        <p14:creationId xmlns:p14="http://schemas.microsoft.com/office/powerpoint/2010/main" val="2127434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BDE04-5133-459E-F1D4-A9A2D8F81BC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3E5450C-4C5A-A5E8-2FAC-03D337AE5A2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CEC3500-55AA-826A-B3FE-2B643EE362E3}"/>
              </a:ext>
            </a:extLst>
          </p:cNvPr>
          <p:cNvSpPr>
            <a:spLocks noGrp="1"/>
          </p:cNvSpPr>
          <p:nvPr>
            <p:ph type="body" idx="1"/>
          </p:nvPr>
        </p:nvSpPr>
        <p:spPr/>
        <p:txBody>
          <a:bodyPr/>
          <a:lstStyle/>
          <a:p>
            <a:r>
              <a:rPr lang="zh-TW" altLang="en-US" sz="1200" b="1" kern="1200" dirty="0">
                <a:solidFill>
                  <a:schemeClr val="tx1"/>
                </a:solidFill>
                <a:effectLst/>
                <a:latin typeface="+mn-lt"/>
                <a:ea typeface="+mn-ea"/>
                <a:cs typeface="+mn-cs"/>
              </a:rPr>
              <a:t>難題一：全局計算太慢 靠 </a:t>
            </a:r>
            <a:r>
              <a:rPr lang="en-US" altLang="zh-TW" sz="1200" b="1" kern="1200" dirty="0">
                <a:solidFill>
                  <a:schemeClr val="tx1"/>
                </a:solidFill>
                <a:effectLst/>
                <a:latin typeface="+mn-lt"/>
                <a:ea typeface="+mn-ea"/>
                <a:cs typeface="+mn-cs"/>
              </a:rPr>
              <a:t>W-MSA </a:t>
            </a:r>
            <a:r>
              <a:rPr lang="zh-TW" altLang="en-US" sz="1200" b="1" kern="1200" dirty="0">
                <a:solidFill>
                  <a:schemeClr val="tx1"/>
                </a:solidFill>
                <a:effectLst/>
                <a:latin typeface="+mn-lt"/>
                <a:ea typeface="+mn-ea"/>
                <a:cs typeface="+mn-cs"/>
              </a:rPr>
              <a:t>解決</a:t>
            </a:r>
            <a:endParaRPr lang="zh-TW" altLang="en-US"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如果像傳統 </a:t>
            </a:r>
            <a:r>
              <a:rPr lang="en-US" altLang="zh-TW" sz="1200" kern="1200" dirty="0" err="1">
                <a:solidFill>
                  <a:schemeClr val="tx1"/>
                </a:solidFill>
                <a:effectLst/>
                <a:latin typeface="+mn-lt"/>
                <a:ea typeface="+mn-ea"/>
                <a:cs typeface="+mn-cs"/>
              </a:rPr>
              <a:t>ViT</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那樣讓整張圖的所有 </a:t>
            </a:r>
            <a:r>
              <a:rPr lang="en-US" altLang="zh-TW" sz="1200" kern="1200" dirty="0">
                <a:solidFill>
                  <a:schemeClr val="tx1"/>
                </a:solidFill>
                <a:effectLst/>
                <a:latin typeface="+mn-lt"/>
                <a:ea typeface="+mn-ea"/>
                <a:cs typeface="+mn-cs"/>
              </a:rPr>
              <a:t>Patch </a:t>
            </a:r>
            <a:r>
              <a:rPr lang="zh-TW" altLang="en-US" sz="1200" kern="1200" dirty="0">
                <a:solidFill>
                  <a:schemeClr val="tx1"/>
                </a:solidFill>
                <a:effectLst/>
                <a:latin typeface="+mn-lt"/>
                <a:ea typeface="+mn-ea"/>
                <a:cs typeface="+mn-cs"/>
              </a:rPr>
              <a:t>互相算 </a:t>
            </a:r>
            <a:r>
              <a:rPr lang="en-US" altLang="zh-TW" sz="1200" kern="1200" dirty="0">
                <a:solidFill>
                  <a:schemeClr val="tx1"/>
                </a:solidFill>
                <a:effectLst/>
                <a:latin typeface="+mn-lt"/>
                <a:ea typeface="+mn-ea"/>
                <a:cs typeface="+mn-cs"/>
              </a:rPr>
              <a:t>Attention</a:t>
            </a:r>
            <a:r>
              <a:rPr lang="zh-TW" altLang="en-US" sz="1200" kern="1200" dirty="0">
                <a:solidFill>
                  <a:schemeClr val="tx1"/>
                </a:solidFill>
                <a:effectLst/>
                <a:latin typeface="+mn-lt"/>
                <a:ea typeface="+mn-ea"/>
                <a:cs typeface="+mn-cs"/>
              </a:rPr>
              <a:t>，運算量會跟圖片大小呈</a:t>
            </a:r>
            <a:r>
              <a:rPr lang="zh-TW" altLang="en-US" sz="1200" b="1" kern="1200" dirty="0">
                <a:solidFill>
                  <a:schemeClr val="tx1"/>
                </a:solidFill>
                <a:effectLst/>
                <a:latin typeface="+mn-lt"/>
                <a:ea typeface="+mn-ea"/>
                <a:cs typeface="+mn-cs"/>
              </a:rPr>
              <a:t>平方級別</a:t>
            </a:r>
            <a:r>
              <a:rPr lang="zh-TW" altLang="en-US" sz="1200" kern="1200" dirty="0">
                <a:solidFill>
                  <a:schemeClr val="tx1"/>
                </a:solidFill>
                <a:effectLst/>
                <a:latin typeface="+mn-lt"/>
                <a:ea typeface="+mn-ea"/>
                <a:cs typeface="+mn-cs"/>
              </a:rPr>
              <a:t>暴增。圖片稍微大一點，顯示卡就直接燒掉（</a:t>
            </a:r>
            <a:r>
              <a:rPr lang="en-US" altLang="zh-TW" sz="1200" kern="1200" dirty="0">
                <a:solidFill>
                  <a:schemeClr val="tx1"/>
                </a:solidFill>
                <a:effectLst/>
                <a:latin typeface="+mn-lt"/>
                <a:ea typeface="+mn-ea"/>
                <a:cs typeface="+mn-cs"/>
              </a:rPr>
              <a:t>Out of Memory</a:t>
            </a:r>
            <a:r>
              <a:rPr lang="zh-TW" altLang="en-US" sz="1200" kern="1200" dirty="0">
                <a:solidFill>
                  <a:schemeClr val="tx1"/>
                </a:solidFill>
                <a:effectLst/>
                <a:latin typeface="+mn-lt"/>
                <a:ea typeface="+mn-ea"/>
                <a:cs typeface="+mn-cs"/>
              </a:rPr>
              <a:t>）。</a:t>
            </a:r>
          </a:p>
          <a:p>
            <a:r>
              <a:rPr lang="en-US" altLang="zh-TW" sz="1200" b="1" kern="1200" dirty="0">
                <a:solidFill>
                  <a:schemeClr val="tx1"/>
                </a:solidFill>
                <a:effectLst/>
                <a:latin typeface="+mn-lt"/>
                <a:ea typeface="+mn-ea"/>
                <a:cs typeface="+mn-cs"/>
              </a:rPr>
              <a:t>W-MSA </a:t>
            </a:r>
            <a:r>
              <a:rPr lang="zh-TW" altLang="en-US" sz="1200" b="1" kern="1200" dirty="0">
                <a:solidFill>
                  <a:schemeClr val="tx1"/>
                </a:solidFill>
                <a:effectLst/>
                <a:latin typeface="+mn-lt"/>
                <a:ea typeface="+mn-ea"/>
                <a:cs typeface="+mn-cs"/>
              </a:rPr>
              <a:t>的好處</a:t>
            </a:r>
            <a:r>
              <a:rPr lang="zh-TW" altLang="en-US" sz="1200" kern="1200" dirty="0">
                <a:solidFill>
                  <a:schemeClr val="tx1"/>
                </a:solidFill>
                <a:effectLst/>
                <a:latin typeface="+mn-lt"/>
                <a:ea typeface="+mn-ea"/>
                <a:cs typeface="+mn-cs"/>
              </a:rPr>
              <a:t>：把計算嚴格限制在局部的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裡，運算量瞬間降為</a:t>
            </a:r>
            <a:r>
              <a:rPr lang="zh-TW" altLang="en-US" sz="1200" b="1" kern="1200" dirty="0">
                <a:solidFill>
                  <a:schemeClr val="tx1"/>
                </a:solidFill>
                <a:effectLst/>
                <a:latin typeface="+mn-lt"/>
                <a:ea typeface="+mn-ea"/>
                <a:cs typeface="+mn-cs"/>
              </a:rPr>
              <a:t>線性級別</a:t>
            </a:r>
            <a:r>
              <a:rPr lang="zh-TW" altLang="en-US" sz="1200" kern="1200" dirty="0">
                <a:solidFill>
                  <a:schemeClr val="tx1"/>
                </a:solidFill>
                <a:effectLst/>
                <a:latin typeface="+mn-lt"/>
                <a:ea typeface="+mn-ea"/>
                <a:cs typeface="+mn-cs"/>
              </a:rPr>
              <a:t>。這保證了模型可以處理高解析度的圖片。</a:t>
            </a:r>
          </a:p>
          <a:p>
            <a:r>
              <a:rPr lang="zh-TW" altLang="en-US" sz="1200" b="1" kern="1200" dirty="0">
                <a:solidFill>
                  <a:schemeClr val="tx1"/>
                </a:solidFill>
                <a:effectLst/>
                <a:latin typeface="+mn-lt"/>
                <a:ea typeface="+mn-ea"/>
                <a:cs typeface="+mn-cs"/>
              </a:rPr>
              <a:t>難題二：視窗之間無法溝通 靠 </a:t>
            </a:r>
            <a:r>
              <a:rPr lang="en-US" altLang="zh-TW" sz="1200" b="1" kern="1200" dirty="0">
                <a:solidFill>
                  <a:schemeClr val="tx1"/>
                </a:solidFill>
                <a:effectLst/>
                <a:latin typeface="+mn-lt"/>
                <a:ea typeface="+mn-ea"/>
                <a:cs typeface="+mn-cs"/>
              </a:rPr>
              <a:t>SW-MSA </a:t>
            </a:r>
            <a:r>
              <a:rPr lang="zh-TW" altLang="en-US" sz="1200" b="1" kern="1200" dirty="0">
                <a:solidFill>
                  <a:schemeClr val="tx1"/>
                </a:solidFill>
                <a:effectLst/>
                <a:latin typeface="+mn-lt"/>
                <a:ea typeface="+mn-ea"/>
                <a:cs typeface="+mn-cs"/>
              </a:rPr>
              <a:t>解決</a:t>
            </a:r>
            <a:endParaRPr lang="zh-TW" altLang="en-US"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W-MSA </a:t>
            </a:r>
            <a:r>
              <a:rPr lang="zh-TW" altLang="en-US" sz="1200" kern="1200" dirty="0">
                <a:solidFill>
                  <a:schemeClr val="tx1"/>
                </a:solidFill>
                <a:effectLst/>
                <a:latin typeface="+mn-lt"/>
                <a:ea typeface="+mn-ea"/>
                <a:cs typeface="+mn-cs"/>
              </a:rPr>
              <a:t>雖然快，但會造成**「楚河漢界」**的效應。每個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都在閉門造車，左邊的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永遠不知道右邊的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發生了什麼事。這對於需要看懂大範圍物件（例如橫跨兩個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的一台車）是致命傷。</a:t>
            </a:r>
          </a:p>
          <a:p>
            <a:r>
              <a:rPr lang="en-US" altLang="zh-TW" sz="1200" b="1" kern="1200" dirty="0">
                <a:solidFill>
                  <a:schemeClr val="tx1"/>
                </a:solidFill>
                <a:effectLst/>
                <a:latin typeface="+mn-lt"/>
                <a:ea typeface="+mn-ea"/>
                <a:cs typeface="+mn-cs"/>
              </a:rPr>
              <a:t>SW-MSA </a:t>
            </a:r>
            <a:r>
              <a:rPr lang="zh-TW" altLang="en-US" sz="1200" b="1" kern="1200" dirty="0">
                <a:solidFill>
                  <a:schemeClr val="tx1"/>
                </a:solidFill>
                <a:effectLst/>
                <a:latin typeface="+mn-lt"/>
                <a:ea typeface="+mn-ea"/>
                <a:cs typeface="+mn-cs"/>
              </a:rPr>
              <a:t>的好處</a:t>
            </a:r>
            <a:r>
              <a:rPr lang="zh-TW" altLang="en-US" sz="1200" kern="1200" dirty="0">
                <a:solidFill>
                  <a:schemeClr val="tx1"/>
                </a:solidFill>
                <a:effectLst/>
                <a:latin typeface="+mn-lt"/>
                <a:ea typeface="+mn-ea"/>
                <a:cs typeface="+mn-cs"/>
              </a:rPr>
              <a:t>：透過「平移視窗」，它巧妙地打破了上一層的邊界！它讓原本屬於不同 </a:t>
            </a:r>
            <a:r>
              <a:rPr lang="en-US" altLang="zh-TW" sz="1200" kern="1200" dirty="0">
                <a:solidFill>
                  <a:schemeClr val="tx1"/>
                </a:solidFill>
                <a:effectLst/>
                <a:latin typeface="+mn-lt"/>
                <a:ea typeface="+mn-ea"/>
                <a:cs typeface="+mn-cs"/>
              </a:rPr>
              <a:t>Window </a:t>
            </a:r>
            <a:r>
              <a:rPr lang="zh-TW" altLang="en-US" sz="1200" kern="1200" dirty="0">
                <a:solidFill>
                  <a:schemeClr val="tx1"/>
                </a:solidFill>
                <a:effectLst/>
                <a:latin typeface="+mn-lt"/>
                <a:ea typeface="+mn-ea"/>
                <a:cs typeface="+mn-cs"/>
              </a:rPr>
              <a:t>的邊緣 </a:t>
            </a:r>
            <a:r>
              <a:rPr lang="en-US" altLang="zh-TW" sz="1200" kern="1200" dirty="0">
                <a:solidFill>
                  <a:schemeClr val="tx1"/>
                </a:solidFill>
                <a:effectLst/>
                <a:latin typeface="+mn-lt"/>
                <a:ea typeface="+mn-ea"/>
                <a:cs typeface="+mn-cs"/>
              </a:rPr>
              <a:t>Patch</a:t>
            </a:r>
            <a:r>
              <a:rPr lang="zh-TW" altLang="en-US" sz="1200" kern="1200" dirty="0">
                <a:solidFill>
                  <a:schemeClr val="tx1"/>
                </a:solidFill>
                <a:effectLst/>
                <a:latin typeface="+mn-lt"/>
                <a:ea typeface="+mn-ea"/>
                <a:cs typeface="+mn-cs"/>
              </a:rPr>
              <a:t>，在下一層能夠互相交流資訊。</a:t>
            </a:r>
          </a:p>
          <a:p>
            <a:endParaRPr lang="en-US" altLang="zh-TW" b="0" i="0" dirty="0">
              <a:solidFill>
                <a:srgbClr val="333333"/>
              </a:solidFill>
              <a:effectLst/>
              <a:latin typeface="Georgia" panose="02040502050405020303" pitchFamily="18" charset="0"/>
            </a:endParaRPr>
          </a:p>
          <a:p>
            <a:r>
              <a:rPr lang="en-US" altLang="zh-TW" sz="1200" b="1" i="0" kern="1200" dirty="0">
                <a:solidFill>
                  <a:schemeClr val="tx1"/>
                </a:solidFill>
                <a:effectLst/>
                <a:latin typeface="+mn-lt"/>
                <a:ea typeface="+mn-ea"/>
                <a:cs typeface="+mn-cs"/>
              </a:rPr>
              <a:t>Residual Connection</a:t>
            </a:r>
            <a:r>
              <a:rPr lang="zh-TW" altLang="en-US" sz="1200" b="0" i="0" kern="1200" dirty="0">
                <a:solidFill>
                  <a:schemeClr val="tx1"/>
                </a:solidFill>
                <a:effectLst/>
                <a:latin typeface="+mn-lt"/>
                <a:ea typeface="+mn-ea"/>
                <a:cs typeface="+mn-cs"/>
              </a:rPr>
              <a:t> 目的是保留原始輸入信息，因為當我們在一個神經網絡中進行多個層的運算時，有時候我們擔心模型可能會丟失原始輸入的重要信息，通過將前一層的輸出與當前層的輸入相加，確保了原始輸入信息的傳遞。</a:t>
            </a:r>
            <a:endParaRPr lang="en-US" altLang="zh-TW" sz="1200" b="0" i="0" kern="1200" dirty="0">
              <a:solidFill>
                <a:schemeClr val="tx1"/>
              </a:solidFill>
              <a:effectLst/>
              <a:latin typeface="+mn-lt"/>
              <a:ea typeface="+mn-ea"/>
              <a:cs typeface="+mn-cs"/>
            </a:endParaRPr>
          </a:p>
          <a:p>
            <a:r>
              <a:rPr lang="zh-TW" altLang="en-US" b="1" dirty="0"/>
              <a:t>防止「梯度消失」 </a:t>
            </a:r>
            <a:r>
              <a:rPr lang="en-US" altLang="zh-TW" b="1" dirty="0"/>
              <a:t>(Vanishing Gradient)</a:t>
            </a:r>
            <a:r>
              <a:rPr lang="zh-TW" altLang="en-US" dirty="0"/>
              <a:t>：當網路疊到幾十層、甚至上百層時，數學上的梯度（也就是更新模型的訊號）在回傳時會越乘越小，最後導致前面的層學不到東西。</a:t>
            </a:r>
            <a:endParaRPr lang="en-US" altLang="zh-TW" dirty="0"/>
          </a:p>
          <a:p>
            <a:endParaRPr lang="zh-TW" altLang="en-US" sz="1200" b="0" i="0" kern="1200" dirty="0">
              <a:solidFill>
                <a:schemeClr val="tx1"/>
              </a:solidFill>
              <a:effectLst/>
              <a:latin typeface="+mn-lt"/>
              <a:ea typeface="+mn-ea"/>
              <a:cs typeface="+mn-cs"/>
            </a:endParaRPr>
          </a:p>
          <a:p>
            <a:r>
              <a:rPr lang="en-US" altLang="zh-TW" sz="1200" b="1" i="0" kern="1200" dirty="0">
                <a:solidFill>
                  <a:schemeClr val="tx1"/>
                </a:solidFill>
                <a:effectLst/>
                <a:latin typeface="+mn-lt"/>
                <a:ea typeface="+mn-ea"/>
                <a:cs typeface="+mn-cs"/>
              </a:rPr>
              <a:t>Layer Normalization</a:t>
            </a:r>
            <a:r>
              <a:rPr lang="zh-TW" altLang="en-US" sz="1200" b="0" i="0" kern="1200" dirty="0">
                <a:solidFill>
                  <a:schemeClr val="tx1"/>
                </a:solidFill>
                <a:effectLst/>
                <a:latin typeface="+mn-lt"/>
                <a:ea typeface="+mn-ea"/>
                <a:cs typeface="+mn-cs"/>
              </a:rPr>
              <a:t> 用於正規化每一層的輸出，以確保模型在訓練過程中更穩定，提高訓練的穩定性，有助於模型更快地收斂到最優解。</a:t>
            </a:r>
          </a:p>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46EB2E01-5955-41FB-8550-15C225165A48}"/>
              </a:ext>
            </a:extLst>
          </p:cNvPr>
          <p:cNvSpPr>
            <a:spLocks noGrp="1"/>
          </p:cNvSpPr>
          <p:nvPr>
            <p:ph type="sldNum" sz="quarter" idx="5"/>
          </p:nvPr>
        </p:nvSpPr>
        <p:spPr/>
        <p:txBody>
          <a:bodyPr/>
          <a:lstStyle/>
          <a:p>
            <a:fld id="{4FFC9C8E-8CA7-443A-832F-F0F3F7A96022}" type="slidenum">
              <a:rPr lang="zh-TW" altLang="en-US" smtClean="0"/>
              <a:t>11</a:t>
            </a:fld>
            <a:endParaRPr lang="zh-TW" altLang="en-US"/>
          </a:p>
        </p:txBody>
      </p:sp>
    </p:spTree>
    <p:extLst>
      <p:ext uri="{BB962C8B-B14F-4D97-AF65-F5344CB8AC3E}">
        <p14:creationId xmlns:p14="http://schemas.microsoft.com/office/powerpoint/2010/main" val="11392371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7DA6-E382-B2B2-02ED-8013E8C3138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08598C8-A766-21AD-7032-682DAB6161F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D31D325-8A3C-6E45-85C9-77F36E0EE59D}"/>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A787D3F9-5E26-1BB4-E475-467E6A11446E}"/>
              </a:ext>
            </a:extLst>
          </p:cNvPr>
          <p:cNvSpPr>
            <a:spLocks noGrp="1"/>
          </p:cNvSpPr>
          <p:nvPr>
            <p:ph type="sldNum" sz="quarter" idx="5"/>
          </p:nvPr>
        </p:nvSpPr>
        <p:spPr/>
        <p:txBody>
          <a:bodyPr/>
          <a:lstStyle/>
          <a:p>
            <a:fld id="{4FFC9C8E-8CA7-443A-832F-F0F3F7A96022}" type="slidenum">
              <a:rPr lang="zh-TW" altLang="en-US" smtClean="0"/>
              <a:t>12</a:t>
            </a:fld>
            <a:endParaRPr lang="zh-TW" altLang="en-US"/>
          </a:p>
        </p:txBody>
      </p:sp>
    </p:spTree>
    <p:extLst>
      <p:ext uri="{BB962C8B-B14F-4D97-AF65-F5344CB8AC3E}">
        <p14:creationId xmlns:p14="http://schemas.microsoft.com/office/powerpoint/2010/main" val="763899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C33C8-BE70-BD34-233A-08090FA2BD0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3919A09-394D-59A7-E264-4CEE4334A1F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1D4F28D-5EE4-74E9-3E97-90E9A0EB3631}"/>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9167671E-B906-07B3-5757-A8FA09E8441A}"/>
              </a:ext>
            </a:extLst>
          </p:cNvPr>
          <p:cNvSpPr>
            <a:spLocks noGrp="1"/>
          </p:cNvSpPr>
          <p:nvPr>
            <p:ph type="sldNum" sz="quarter" idx="5"/>
          </p:nvPr>
        </p:nvSpPr>
        <p:spPr/>
        <p:txBody>
          <a:bodyPr/>
          <a:lstStyle/>
          <a:p>
            <a:fld id="{4FFC9C8E-8CA7-443A-832F-F0F3F7A96022}" type="slidenum">
              <a:rPr lang="zh-TW" altLang="en-US" smtClean="0"/>
              <a:t>13</a:t>
            </a:fld>
            <a:endParaRPr lang="zh-TW" altLang="en-US"/>
          </a:p>
        </p:txBody>
      </p:sp>
    </p:spTree>
    <p:extLst>
      <p:ext uri="{BB962C8B-B14F-4D97-AF65-F5344CB8AC3E}">
        <p14:creationId xmlns:p14="http://schemas.microsoft.com/office/powerpoint/2010/main" val="1858717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718D7-8E52-0494-59FA-CBD64DB90B6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CF5179F-CC8B-E337-F918-B3A888A52FB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FA36EA6-D78D-B9C2-08F5-DBE933F9CBE9}"/>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993591C9-C67C-F76E-32B7-03A7DB5576A7}"/>
              </a:ext>
            </a:extLst>
          </p:cNvPr>
          <p:cNvSpPr>
            <a:spLocks noGrp="1"/>
          </p:cNvSpPr>
          <p:nvPr>
            <p:ph type="sldNum" sz="quarter" idx="5"/>
          </p:nvPr>
        </p:nvSpPr>
        <p:spPr/>
        <p:txBody>
          <a:bodyPr/>
          <a:lstStyle/>
          <a:p>
            <a:fld id="{4FFC9C8E-8CA7-443A-832F-F0F3F7A96022}" type="slidenum">
              <a:rPr lang="zh-TW" altLang="en-US" smtClean="0"/>
              <a:t>14</a:t>
            </a:fld>
            <a:endParaRPr lang="zh-TW" altLang="en-US"/>
          </a:p>
        </p:txBody>
      </p:sp>
    </p:spTree>
    <p:extLst>
      <p:ext uri="{BB962C8B-B14F-4D97-AF65-F5344CB8AC3E}">
        <p14:creationId xmlns:p14="http://schemas.microsoft.com/office/powerpoint/2010/main" val="4028534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CAF44-E9B0-D1F4-BE2D-38D44753CF4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47201B5-0645-DC91-A3EE-207EA322FAA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99AA455B-8375-278E-5ED9-F96C67F8EB25}"/>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084B8241-4F13-4EA8-818E-D12F04B0BAC5}"/>
              </a:ext>
            </a:extLst>
          </p:cNvPr>
          <p:cNvSpPr>
            <a:spLocks noGrp="1"/>
          </p:cNvSpPr>
          <p:nvPr>
            <p:ph type="sldNum" sz="quarter" idx="5"/>
          </p:nvPr>
        </p:nvSpPr>
        <p:spPr/>
        <p:txBody>
          <a:bodyPr/>
          <a:lstStyle/>
          <a:p>
            <a:fld id="{4FFC9C8E-8CA7-443A-832F-F0F3F7A96022}" type="slidenum">
              <a:rPr lang="zh-TW" altLang="en-US" smtClean="0"/>
              <a:t>15</a:t>
            </a:fld>
            <a:endParaRPr lang="zh-TW" altLang="en-US"/>
          </a:p>
        </p:txBody>
      </p:sp>
    </p:spTree>
    <p:extLst>
      <p:ext uri="{BB962C8B-B14F-4D97-AF65-F5344CB8AC3E}">
        <p14:creationId xmlns:p14="http://schemas.microsoft.com/office/powerpoint/2010/main" val="3580647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1DB63-6837-2427-2CF9-D26856E2F71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B9418A7-6464-93D2-5AE1-F73EF8FEA3C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02E062E-CD34-A8D3-58C8-37732129C322}"/>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9187EE8A-24CA-36A4-7BC1-50D355374A06}"/>
              </a:ext>
            </a:extLst>
          </p:cNvPr>
          <p:cNvSpPr>
            <a:spLocks noGrp="1"/>
          </p:cNvSpPr>
          <p:nvPr>
            <p:ph type="sldNum" sz="quarter" idx="5"/>
          </p:nvPr>
        </p:nvSpPr>
        <p:spPr/>
        <p:txBody>
          <a:bodyPr/>
          <a:lstStyle/>
          <a:p>
            <a:fld id="{4FFC9C8E-8CA7-443A-832F-F0F3F7A96022}" type="slidenum">
              <a:rPr lang="zh-TW" altLang="en-US" smtClean="0"/>
              <a:t>16</a:t>
            </a:fld>
            <a:endParaRPr lang="zh-TW" altLang="en-US"/>
          </a:p>
        </p:txBody>
      </p:sp>
    </p:spTree>
    <p:extLst>
      <p:ext uri="{BB962C8B-B14F-4D97-AF65-F5344CB8AC3E}">
        <p14:creationId xmlns:p14="http://schemas.microsoft.com/office/powerpoint/2010/main" val="2988303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28A10-EC80-2480-3877-7035102895B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FAFDF12-78D0-32EE-1398-FACE78A4FDD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F8C6A2A-6681-4943-FE4A-9B700FB67FE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1" dirty="0"/>
              <a:t>ImageNet-1k : 1.28 million training images</a:t>
            </a:r>
            <a:r>
              <a:rPr lang="en-US" altLang="zh-TW" dirty="0"/>
              <a:t> and </a:t>
            </a:r>
            <a:r>
              <a:rPr lang="en-US" altLang="zh-TW" b="1" dirty="0"/>
              <a:t>50,000 validation images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/16</a:t>
            </a:r>
            <a:r>
              <a:rPr lang="zh-TW" altLang="en-US" dirty="0"/>
              <a:t> </a:t>
            </a:r>
            <a:r>
              <a:rPr lang="en-US" altLang="zh-TW" dirty="0"/>
              <a:t>-&gt; patch size = 16 x 16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1" dirty="0"/>
              <a:t>缺點</a:t>
            </a:r>
            <a:r>
              <a:rPr lang="en-US" altLang="zh-TW" b="1" dirty="0"/>
              <a:t>:</a:t>
            </a:r>
          </a:p>
          <a:p>
            <a:r>
              <a:rPr lang="en-US" altLang="zh-TW" b="1" dirty="0"/>
              <a:t>RegNetY-4G (</a:t>
            </a:r>
            <a:r>
              <a:rPr lang="zh-TW" altLang="en-US" b="1" dirty="0"/>
              <a:t>傳統 </a:t>
            </a:r>
            <a:r>
              <a:rPr lang="en-US" altLang="zh-TW" b="1" dirty="0"/>
              <a:t>CNN)</a:t>
            </a:r>
            <a:r>
              <a:rPr lang="zh-TW" altLang="en-US" dirty="0"/>
              <a:t>：理論運算量 </a:t>
            </a:r>
            <a:r>
              <a:rPr lang="en-US" altLang="zh-TW" dirty="0"/>
              <a:t>FLOPs </a:t>
            </a:r>
            <a:r>
              <a:rPr lang="zh-TW" altLang="en-US" dirty="0"/>
              <a:t>是 </a:t>
            </a:r>
            <a:r>
              <a:rPr lang="en-US" altLang="zh-TW" b="1" dirty="0"/>
              <a:t>4.0G</a:t>
            </a:r>
            <a:r>
              <a:rPr lang="zh-TW" altLang="en-US" dirty="0"/>
              <a:t>，實際每秒能跑 </a:t>
            </a:r>
            <a:r>
              <a:rPr lang="en-US" altLang="zh-TW" b="1" dirty="0"/>
              <a:t>1156.7</a:t>
            </a:r>
            <a:r>
              <a:rPr lang="zh-TW" altLang="en-US" dirty="0"/>
              <a:t> 張圖片。</a:t>
            </a:r>
          </a:p>
          <a:p>
            <a:r>
              <a:rPr lang="en-US" altLang="zh-TW" b="1" dirty="0"/>
              <a:t>Swin-T (Transformer)</a:t>
            </a:r>
            <a:r>
              <a:rPr lang="zh-TW" altLang="en-US" dirty="0"/>
              <a:t>：理論運算量 </a:t>
            </a:r>
            <a:r>
              <a:rPr lang="en-US" altLang="zh-TW" dirty="0"/>
              <a:t>FLOPs </a:t>
            </a:r>
            <a:r>
              <a:rPr lang="zh-TW" altLang="en-US" dirty="0"/>
              <a:t>是 </a:t>
            </a:r>
            <a:r>
              <a:rPr lang="en-US" altLang="zh-TW" b="1" dirty="0"/>
              <a:t>4.5G</a:t>
            </a:r>
            <a:r>
              <a:rPr lang="zh-TW" altLang="en-US" dirty="0"/>
              <a:t>，實際每秒只能跑 </a:t>
            </a:r>
            <a:r>
              <a:rPr lang="en-US" altLang="zh-TW" b="1" dirty="0"/>
              <a:t>755.2</a:t>
            </a:r>
            <a:r>
              <a:rPr lang="zh-TW" altLang="en-US" dirty="0"/>
              <a:t> 張圖片。</a:t>
            </a:r>
            <a:endParaRPr lang="en-US" altLang="zh-TW"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雖然 </a:t>
            </a:r>
            <a:r>
              <a:rPr lang="en-US" altLang="zh-TW" dirty="0"/>
              <a:t>Swin Transformer </a:t>
            </a:r>
            <a:r>
              <a:rPr lang="zh-TW" altLang="en-US" dirty="0"/>
              <a:t>在數學紙本上（</a:t>
            </a:r>
            <a:r>
              <a:rPr lang="en-US" altLang="zh-TW" dirty="0"/>
              <a:t>FLOPs</a:t>
            </a:r>
            <a:r>
              <a:rPr lang="zh-TW" altLang="en-US" dirty="0"/>
              <a:t>）把運算量壓得很低，看似跟 </a:t>
            </a:r>
            <a:r>
              <a:rPr lang="en-US" altLang="zh-TW" dirty="0"/>
              <a:t>CNN </a:t>
            </a:r>
            <a:r>
              <a:rPr lang="zh-TW" altLang="en-US" dirty="0"/>
              <a:t>一樣輕量；但在真實硬體運作時，因為它需要頻繁搬動記憶體（切視窗與平移），導致它實際的處理速度（</a:t>
            </a:r>
            <a:r>
              <a:rPr lang="en-US" altLang="zh-TW" dirty="0"/>
              <a:t>Throughput</a:t>
            </a:r>
            <a:r>
              <a:rPr lang="zh-TW" altLang="en-US" dirty="0"/>
              <a:t>）還是明顯輸給了高度優化的 </a:t>
            </a:r>
            <a:r>
              <a:rPr lang="en-US" altLang="zh-TW" dirty="0"/>
              <a:t>CNN</a:t>
            </a:r>
            <a:r>
              <a:rPr lang="zh-TW" altLang="en-US" dirty="0"/>
              <a:t>。</a:t>
            </a:r>
            <a:endParaRPr lang="en-US" altLang="zh-TW" b="1" dirty="0"/>
          </a:p>
          <a:p>
            <a:r>
              <a:rPr lang="en-US" altLang="zh-TW" b="1" dirty="0"/>
              <a:t>throughput (</a:t>
            </a:r>
            <a:r>
              <a:rPr lang="zh-TW" altLang="en-US" b="1" dirty="0"/>
              <a:t>執行速度</a:t>
            </a:r>
            <a:r>
              <a:rPr lang="en-US" altLang="zh-TW" b="1" dirty="0"/>
              <a:t>)</a:t>
            </a:r>
          </a:p>
          <a:p>
            <a:r>
              <a:rPr lang="zh-TW" altLang="en-US" b="1" dirty="0"/>
              <a:t>意思是</a:t>
            </a:r>
            <a:r>
              <a:rPr lang="zh-TW" altLang="en-US" dirty="0"/>
              <a:t>：</a:t>
            </a:r>
            <a:r>
              <a:rPr lang="zh-TW" altLang="en-US" b="1" dirty="0"/>
              <a:t>真實速度</a:t>
            </a:r>
            <a:r>
              <a:rPr lang="zh-TW" altLang="en-US" dirty="0"/>
              <a:t>（一秒鐘能處理幾張圖）。</a:t>
            </a:r>
          </a:p>
          <a:p>
            <a:r>
              <a:rPr lang="zh-TW" altLang="en-US" b="1" dirty="0"/>
              <a:t>單位</a:t>
            </a:r>
            <a:r>
              <a:rPr lang="zh-TW" altLang="en-US" dirty="0"/>
              <a:t>：</a:t>
            </a:r>
            <a:r>
              <a:rPr lang="en-US" altLang="zh-TW" b="1" dirty="0"/>
              <a:t>image/s</a:t>
            </a:r>
            <a:r>
              <a:rPr lang="en-US" altLang="zh-TW" dirty="0"/>
              <a:t> (images per second)</a:t>
            </a:r>
            <a:r>
              <a:rPr lang="zh-TW" altLang="en-US" dirty="0"/>
              <a:t>。</a:t>
            </a:r>
            <a:endParaRPr lang="en-US" altLang="zh-TW" dirty="0"/>
          </a:p>
          <a:p>
            <a:endParaRPr lang="zh-TW" altLang="en-US" dirty="0"/>
          </a:p>
          <a:p>
            <a:r>
              <a:rPr lang="zh-TW" altLang="en-US" b="1" dirty="0"/>
              <a:t>影響</a:t>
            </a:r>
            <a:r>
              <a:rPr lang="zh-TW" altLang="en-US" dirty="0"/>
              <a:t>：</a:t>
            </a:r>
          </a:p>
          <a:p>
            <a:pPr lvl="1"/>
            <a:r>
              <a:rPr lang="zh-TW" altLang="en-US" dirty="0"/>
              <a:t>這是最現實的指標。</a:t>
            </a:r>
            <a:r>
              <a:rPr lang="en-US" altLang="zh-TW" dirty="0"/>
              <a:t>FLOPs </a:t>
            </a:r>
            <a:r>
              <a:rPr lang="zh-TW" altLang="en-US" dirty="0"/>
              <a:t>只是理論值，</a:t>
            </a:r>
            <a:r>
              <a:rPr lang="en-US" altLang="zh-TW" dirty="0"/>
              <a:t>Throughput </a:t>
            </a:r>
            <a:r>
              <a:rPr lang="zh-TW" altLang="en-US" dirty="0"/>
              <a:t>才是你跑起來的感覺。</a:t>
            </a:r>
          </a:p>
          <a:p>
            <a:pPr lvl="1"/>
            <a:r>
              <a:rPr lang="zh-TW" altLang="en-US" dirty="0"/>
              <a:t>數字越大越好（跑得越快）。</a:t>
            </a:r>
          </a:p>
          <a:p>
            <a:pPr lvl="1"/>
            <a:r>
              <a:rPr lang="zh-TW" altLang="en-US" i="1" dirty="0"/>
              <a:t>例如：</a:t>
            </a:r>
            <a:r>
              <a:rPr lang="en-US" altLang="zh-TW" i="1" dirty="0"/>
              <a:t>Swin-T </a:t>
            </a:r>
            <a:r>
              <a:rPr lang="zh-TW" altLang="en-US" i="1" dirty="0"/>
              <a:t>一秒能跑 </a:t>
            </a:r>
            <a:r>
              <a:rPr lang="en-US" altLang="zh-TW" i="1" dirty="0"/>
              <a:t>755.2 </a:t>
            </a:r>
            <a:r>
              <a:rPr lang="zh-TW" altLang="en-US" i="1" dirty="0"/>
              <a:t>張圖，超快；</a:t>
            </a:r>
            <a:r>
              <a:rPr lang="en-US" altLang="zh-TW" i="1" dirty="0"/>
              <a:t>Swin-B (384) </a:t>
            </a:r>
            <a:r>
              <a:rPr lang="zh-TW" altLang="en-US" i="1" dirty="0"/>
              <a:t>一秒只能跑 </a:t>
            </a:r>
            <a:r>
              <a:rPr lang="en-US" altLang="zh-TW" i="1" dirty="0"/>
              <a:t>84.7 </a:t>
            </a:r>
            <a:r>
              <a:rPr lang="zh-TW" altLang="en-US" i="1" dirty="0"/>
              <a:t>張。</a:t>
            </a:r>
            <a:endParaRPr lang="en-US" altLang="zh-TW" i="1" dirty="0"/>
          </a:p>
          <a:p>
            <a:pPr lvl="1"/>
            <a:endParaRPr lang="zh-TW" altLang="en-US" dirty="0"/>
          </a:p>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DBB50BE4-4896-8C41-9206-95B537ABE550}"/>
              </a:ext>
            </a:extLst>
          </p:cNvPr>
          <p:cNvSpPr>
            <a:spLocks noGrp="1"/>
          </p:cNvSpPr>
          <p:nvPr>
            <p:ph type="sldNum" sz="quarter" idx="5"/>
          </p:nvPr>
        </p:nvSpPr>
        <p:spPr/>
        <p:txBody>
          <a:bodyPr/>
          <a:lstStyle/>
          <a:p>
            <a:fld id="{4FFC9C8E-8CA7-443A-832F-F0F3F7A96022}" type="slidenum">
              <a:rPr lang="zh-TW" altLang="en-US" smtClean="0"/>
              <a:t>18</a:t>
            </a:fld>
            <a:endParaRPr lang="zh-TW" altLang="en-US"/>
          </a:p>
        </p:txBody>
      </p:sp>
    </p:spTree>
    <p:extLst>
      <p:ext uri="{BB962C8B-B14F-4D97-AF65-F5344CB8AC3E}">
        <p14:creationId xmlns:p14="http://schemas.microsoft.com/office/powerpoint/2010/main" val="3869880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9CC96-A5F2-42F9-4F43-171F990487B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38E1D17-96C9-CF9D-50A9-ED70FAFCD08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A003F1D-EFD1-0035-AA0A-EB988F30887A}"/>
              </a:ext>
            </a:extLst>
          </p:cNvPr>
          <p:cNvSpPr>
            <a:spLocks noGrp="1"/>
          </p:cNvSpPr>
          <p:nvPr>
            <p:ph type="body" idx="1"/>
          </p:nvPr>
        </p:nvSpPr>
        <p:spPr/>
        <p:txBody>
          <a:bodyPr/>
          <a:lstStyle/>
          <a:p>
            <a:r>
              <a:rPr lang="en-US" altLang="zh-TW" dirty="0"/>
              <a:t>ImageNet-22K </a:t>
            </a:r>
            <a:r>
              <a:rPr lang="zh-TW" altLang="en-US" dirty="0"/>
              <a:t>裡面大約有「</a:t>
            </a:r>
            <a:r>
              <a:rPr lang="en-US" altLang="zh-TW" dirty="0"/>
              <a:t>1400 </a:t>
            </a:r>
            <a:r>
              <a:rPr lang="zh-TW" altLang="en-US" dirty="0"/>
              <a:t>萬張」圖片</a:t>
            </a:r>
            <a:endParaRPr lang="en-US" altLang="zh-TW" b="1" dirty="0"/>
          </a:p>
          <a:p>
            <a:r>
              <a:rPr lang="en-US" altLang="zh-TW" b="1" dirty="0"/>
              <a:t>R-101</a:t>
            </a:r>
            <a:r>
              <a:rPr lang="zh-TW" altLang="en-US" dirty="0"/>
              <a:t>：代表擁有 </a:t>
            </a:r>
            <a:r>
              <a:rPr lang="en-US" altLang="zh-TW" dirty="0"/>
              <a:t>101 </a:t>
            </a:r>
            <a:r>
              <a:rPr lang="zh-TW" altLang="en-US" dirty="0"/>
              <a:t>層。</a:t>
            </a:r>
          </a:p>
          <a:p>
            <a:r>
              <a:rPr lang="en-US" altLang="zh-TW" b="1" dirty="0"/>
              <a:t>R-152</a:t>
            </a:r>
            <a:r>
              <a:rPr lang="zh-TW" altLang="en-US" dirty="0"/>
              <a:t>：代表擁有 </a:t>
            </a:r>
            <a:r>
              <a:rPr lang="en-US" altLang="zh-TW" dirty="0"/>
              <a:t>152 </a:t>
            </a:r>
            <a:r>
              <a:rPr lang="zh-TW" altLang="en-US" dirty="0"/>
              <a:t>層。</a:t>
            </a:r>
          </a:p>
          <a:p>
            <a:r>
              <a:rPr lang="en-US" altLang="zh-TW" b="1" dirty="0"/>
              <a:t>x3</a:t>
            </a:r>
            <a:r>
              <a:rPr lang="zh-TW" altLang="en-US" dirty="0"/>
              <a:t>：代表將每一層的通道數強制放大 </a:t>
            </a:r>
            <a:r>
              <a:rPr lang="en-US" altLang="zh-TW" dirty="0"/>
              <a:t>3 </a:t>
            </a:r>
            <a:r>
              <a:rPr lang="zh-TW" altLang="en-US" dirty="0"/>
              <a:t>倍。</a:t>
            </a:r>
          </a:p>
          <a:p>
            <a:r>
              <a:rPr lang="en-US" altLang="zh-TW" b="1" dirty="0"/>
              <a:t>x4</a:t>
            </a:r>
            <a:r>
              <a:rPr lang="zh-TW" altLang="en-US" dirty="0"/>
              <a:t>：代表將每一層的通道數強制放大 </a:t>
            </a:r>
            <a:r>
              <a:rPr lang="en-US" altLang="zh-TW" dirty="0"/>
              <a:t>4 </a:t>
            </a:r>
            <a:r>
              <a:rPr lang="zh-TW" altLang="en-US" dirty="0"/>
              <a:t>倍。</a:t>
            </a:r>
          </a:p>
          <a:p>
            <a:endParaRPr lang="en-US" altLang="zh-TW" b="1" dirty="0"/>
          </a:p>
          <a:p>
            <a:r>
              <a:rPr lang="en-US" altLang="zh-TW" b="1" dirty="0"/>
              <a:t>throughput (</a:t>
            </a:r>
            <a:r>
              <a:rPr lang="zh-TW" altLang="en-US" b="1" dirty="0"/>
              <a:t>執行速度</a:t>
            </a:r>
            <a:r>
              <a:rPr lang="en-US" altLang="zh-TW" b="1" dirty="0"/>
              <a:t>)</a:t>
            </a:r>
          </a:p>
          <a:p>
            <a:r>
              <a:rPr lang="zh-TW" altLang="en-US" b="1" dirty="0"/>
              <a:t>意思是</a:t>
            </a:r>
            <a:r>
              <a:rPr lang="zh-TW" altLang="en-US" dirty="0"/>
              <a:t>：</a:t>
            </a:r>
            <a:r>
              <a:rPr lang="zh-TW" altLang="en-US" b="1" dirty="0"/>
              <a:t>真實速度</a:t>
            </a:r>
            <a:r>
              <a:rPr lang="zh-TW" altLang="en-US" dirty="0"/>
              <a:t>（一秒鐘能處理幾張圖）。</a:t>
            </a:r>
          </a:p>
          <a:p>
            <a:r>
              <a:rPr lang="zh-TW" altLang="en-US" b="1" dirty="0"/>
              <a:t>單位</a:t>
            </a:r>
            <a:r>
              <a:rPr lang="zh-TW" altLang="en-US" dirty="0"/>
              <a:t>：</a:t>
            </a:r>
            <a:r>
              <a:rPr lang="en-US" altLang="zh-TW" b="1" dirty="0"/>
              <a:t>image/s</a:t>
            </a:r>
            <a:r>
              <a:rPr lang="en-US" altLang="zh-TW" dirty="0"/>
              <a:t> (images per second)</a:t>
            </a:r>
            <a:r>
              <a:rPr lang="zh-TW" altLang="en-US" dirty="0"/>
              <a:t>。</a:t>
            </a:r>
          </a:p>
          <a:p>
            <a:r>
              <a:rPr lang="zh-TW" altLang="en-US" b="1" dirty="0"/>
              <a:t>影響</a:t>
            </a:r>
            <a:r>
              <a:rPr lang="zh-TW" altLang="en-US" dirty="0"/>
              <a:t>：</a:t>
            </a:r>
          </a:p>
          <a:p>
            <a:pPr lvl="1"/>
            <a:r>
              <a:rPr lang="zh-TW" altLang="en-US" dirty="0"/>
              <a:t>這是最現實的指標。</a:t>
            </a:r>
            <a:r>
              <a:rPr lang="en-US" altLang="zh-TW" dirty="0"/>
              <a:t>FLOPs </a:t>
            </a:r>
            <a:r>
              <a:rPr lang="zh-TW" altLang="en-US" dirty="0"/>
              <a:t>只是理論值，</a:t>
            </a:r>
            <a:r>
              <a:rPr lang="en-US" altLang="zh-TW" dirty="0"/>
              <a:t>Throughput </a:t>
            </a:r>
            <a:r>
              <a:rPr lang="zh-TW" altLang="en-US" dirty="0"/>
              <a:t>才是你跑起來的感覺。</a:t>
            </a:r>
          </a:p>
          <a:p>
            <a:pPr lvl="1"/>
            <a:r>
              <a:rPr lang="zh-TW" altLang="en-US" dirty="0"/>
              <a:t>數字越大越好（跑得越快）。</a:t>
            </a:r>
          </a:p>
          <a:p>
            <a:pPr lvl="1"/>
            <a:r>
              <a:rPr lang="zh-TW" altLang="en-US" i="1" dirty="0"/>
              <a:t>例如：</a:t>
            </a:r>
            <a:r>
              <a:rPr lang="en-US" altLang="zh-TW" i="1" dirty="0"/>
              <a:t>Swin-T </a:t>
            </a:r>
            <a:r>
              <a:rPr lang="zh-TW" altLang="en-US" i="1" dirty="0"/>
              <a:t>一秒能跑 </a:t>
            </a:r>
            <a:r>
              <a:rPr lang="en-US" altLang="zh-TW" i="1" dirty="0"/>
              <a:t>755.2 </a:t>
            </a:r>
            <a:r>
              <a:rPr lang="zh-TW" altLang="en-US" i="1" dirty="0"/>
              <a:t>張圖，超快；</a:t>
            </a:r>
            <a:r>
              <a:rPr lang="en-US" altLang="zh-TW" i="1" dirty="0"/>
              <a:t>Swin-B (384) </a:t>
            </a:r>
            <a:r>
              <a:rPr lang="zh-TW" altLang="en-US" i="1" dirty="0"/>
              <a:t>一秒只能跑 </a:t>
            </a:r>
            <a:r>
              <a:rPr lang="en-US" altLang="zh-TW" i="1" dirty="0"/>
              <a:t>84.7 </a:t>
            </a:r>
            <a:r>
              <a:rPr lang="zh-TW" altLang="en-US" i="1" dirty="0"/>
              <a:t>張。</a:t>
            </a:r>
            <a:endParaRPr lang="zh-TW" altLang="en-US" dirty="0"/>
          </a:p>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4A091502-3FD0-C855-E0B0-08EC91E3EED2}"/>
              </a:ext>
            </a:extLst>
          </p:cNvPr>
          <p:cNvSpPr>
            <a:spLocks noGrp="1"/>
          </p:cNvSpPr>
          <p:nvPr>
            <p:ph type="sldNum" sz="quarter" idx="5"/>
          </p:nvPr>
        </p:nvSpPr>
        <p:spPr/>
        <p:txBody>
          <a:bodyPr/>
          <a:lstStyle/>
          <a:p>
            <a:fld id="{4FFC9C8E-8CA7-443A-832F-F0F3F7A96022}" type="slidenum">
              <a:rPr lang="zh-TW" altLang="en-US" smtClean="0"/>
              <a:t>19</a:t>
            </a:fld>
            <a:endParaRPr lang="zh-TW" altLang="en-US"/>
          </a:p>
        </p:txBody>
      </p:sp>
    </p:spTree>
    <p:extLst>
      <p:ext uri="{BB962C8B-B14F-4D97-AF65-F5344CB8AC3E}">
        <p14:creationId xmlns:p14="http://schemas.microsoft.com/office/powerpoint/2010/main" val="17720684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E3CD-817B-2866-A594-8D76E69E5637}"/>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CB86B5-164A-067B-6E99-F2815C9E189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3186E55-94F0-6EE9-2AA6-1D90CC7770AC}"/>
              </a:ext>
            </a:extLst>
          </p:cNvPr>
          <p:cNvSpPr>
            <a:spLocks noGrp="1"/>
          </p:cNvSpPr>
          <p:nvPr>
            <p:ph type="body" idx="1"/>
          </p:nvPr>
        </p:nvSpPr>
        <p:spPr/>
        <p:txBody>
          <a:bodyPr/>
          <a:lstStyle/>
          <a:p>
            <a:r>
              <a:rPr lang="en-US" altLang="zh-TW" sz="1200" b="1" dirty="0"/>
              <a:t>What is Cascade? (in Cascade R-CNN)</a:t>
            </a:r>
            <a:endParaRPr lang="en-US" altLang="zh-TW" sz="1200" dirty="0"/>
          </a:p>
          <a:p>
            <a:r>
              <a:rPr lang="en-US" altLang="zh-TW" sz="1200" b="1" dirty="0"/>
              <a:t>Concept</a:t>
            </a:r>
            <a:r>
              <a:rPr lang="en-US" altLang="zh-TW" sz="1200" dirty="0"/>
              <a:t>: A multi-stage architecture that sequentially refines detection results.</a:t>
            </a:r>
          </a:p>
          <a:p>
            <a:r>
              <a:rPr lang="en-US" altLang="zh-TW" dirty="0"/>
              <a:t>†</a:t>
            </a:r>
            <a:r>
              <a:rPr lang="zh-TW" altLang="en-US" dirty="0"/>
              <a:t> </a:t>
            </a:r>
            <a:r>
              <a:rPr lang="en-US" altLang="zh-TW" dirty="0"/>
              <a:t>denotes that additional </a:t>
            </a:r>
            <a:r>
              <a:rPr lang="en-US" altLang="zh-TW" dirty="0" err="1"/>
              <a:t>decovolution</a:t>
            </a:r>
            <a:r>
              <a:rPr lang="en-US" altLang="zh-TW" dirty="0"/>
              <a:t> layers are used to produce hierarchical feature maps.</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70F11D93-5C89-7E8E-83A8-610686D0A42E}"/>
              </a:ext>
            </a:extLst>
          </p:cNvPr>
          <p:cNvSpPr>
            <a:spLocks noGrp="1"/>
          </p:cNvSpPr>
          <p:nvPr>
            <p:ph type="sldNum" sz="quarter" idx="5"/>
          </p:nvPr>
        </p:nvSpPr>
        <p:spPr/>
        <p:txBody>
          <a:bodyPr/>
          <a:lstStyle/>
          <a:p>
            <a:fld id="{4FFC9C8E-8CA7-443A-832F-F0F3F7A96022}" type="slidenum">
              <a:rPr lang="zh-TW" altLang="en-US" smtClean="0"/>
              <a:t>20</a:t>
            </a:fld>
            <a:endParaRPr lang="zh-TW" altLang="en-US"/>
          </a:p>
        </p:txBody>
      </p:sp>
    </p:spTree>
    <p:extLst>
      <p:ext uri="{BB962C8B-B14F-4D97-AF65-F5344CB8AC3E}">
        <p14:creationId xmlns:p14="http://schemas.microsoft.com/office/powerpoint/2010/main" val="3311031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EEE2-BD2F-4E0E-0455-37722552413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51FF8A6-34D7-BF48-16B5-0C46D77C67D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AF6634C-4785-F78C-922D-0F39D3E48548}"/>
              </a:ext>
            </a:extLst>
          </p:cNvPr>
          <p:cNvSpPr>
            <a:spLocks noGrp="1"/>
          </p:cNvSpPr>
          <p:nvPr>
            <p:ph type="body" idx="1"/>
          </p:nvPr>
        </p:nvSpPr>
        <p:spPr/>
        <p:txBody>
          <a:bodyPr/>
          <a:lstStyle/>
          <a:p>
            <a:endParaRPr lang="en-US" altLang="zh-TW" b="1" dirty="0"/>
          </a:p>
          <a:p>
            <a:r>
              <a:rPr lang="en-US" altLang="zh-TW" b="1" dirty="0"/>
              <a:t>test-dev</a:t>
            </a:r>
            <a:r>
              <a:rPr lang="zh-TW" altLang="en-US" dirty="0"/>
              <a:t>：這是 </a:t>
            </a:r>
            <a:r>
              <a:rPr lang="en-US" altLang="zh-TW" dirty="0"/>
              <a:t>COCO </a:t>
            </a:r>
            <a:r>
              <a:rPr lang="zh-TW" altLang="en-US" dirty="0"/>
              <a:t>資料集裡最嚴格的測試集。它的標準答案是不公開的，研究人員必須將模型的預測結果上傳到官方伺服器進行評分，無法作弊，因此這裡的數據最具公信力。</a:t>
            </a:r>
            <a:endParaRPr lang="en-US" altLang="zh-TW" dirty="0"/>
          </a:p>
          <a:p>
            <a:endParaRPr lang="en-US" altLang="zh-TW" b="0" i="0" dirty="0">
              <a:solidFill>
                <a:srgbClr val="333333"/>
              </a:solidFill>
              <a:effectLst/>
              <a:latin typeface="Georgia" panose="02040502050405020303" pitchFamily="18" charset="0"/>
            </a:endParaRPr>
          </a:p>
          <a:p>
            <a:r>
              <a:rPr lang="en-US" altLang="zh-TW" b="1" dirty="0"/>
              <a:t>box AP</a:t>
            </a:r>
            <a:r>
              <a:rPr lang="zh-TW" altLang="en-US" dirty="0"/>
              <a:t> </a:t>
            </a:r>
            <a:r>
              <a:rPr lang="en-US" altLang="zh-TW" dirty="0"/>
              <a:t>= </a:t>
            </a:r>
            <a:r>
              <a:rPr lang="zh-TW" altLang="en-US" dirty="0"/>
              <a:t>評估 </a:t>
            </a:r>
            <a:r>
              <a:rPr lang="en-US" altLang="zh-TW" dirty="0"/>
              <a:t>AI </a:t>
            </a:r>
            <a:r>
              <a:rPr lang="zh-TW" altLang="en-US" dirty="0"/>
              <a:t>畫長方形框框畫得準不準的分數。</a:t>
            </a:r>
          </a:p>
          <a:p>
            <a:r>
              <a:rPr lang="en-US" altLang="zh-TW" b="1" dirty="0"/>
              <a:t>mask AP</a:t>
            </a:r>
            <a:r>
              <a:rPr lang="zh-TW" altLang="en-US" dirty="0"/>
              <a:t> </a:t>
            </a:r>
            <a:r>
              <a:rPr lang="en-US" altLang="zh-TW" dirty="0"/>
              <a:t>= </a:t>
            </a:r>
            <a:r>
              <a:rPr lang="zh-TW" altLang="en-US" dirty="0"/>
              <a:t>評估 </a:t>
            </a:r>
            <a:r>
              <a:rPr lang="en-US" altLang="zh-TW" dirty="0"/>
              <a:t>AI </a:t>
            </a:r>
            <a:r>
              <a:rPr lang="zh-TW" altLang="en-US" dirty="0"/>
              <a:t>沿著物體邊緣精準塗色（分割像素）塗得準不準的分數。</a:t>
            </a:r>
          </a:p>
          <a:p>
            <a:endParaRPr lang="en-US" altLang="zh-TW" b="0" i="0" dirty="0">
              <a:solidFill>
                <a:srgbClr val="333333"/>
              </a:solidFill>
              <a:effectLst/>
              <a:latin typeface="Georgia" panose="02040502050405020303" pitchFamily="18" charset="0"/>
            </a:endParaRPr>
          </a:p>
          <a:p>
            <a:r>
              <a:rPr lang="zh-TW" altLang="en-US" sz="1200" kern="1200" dirty="0">
                <a:solidFill>
                  <a:schemeClr val="tx1"/>
                </a:solidFill>
                <a:effectLst/>
                <a:latin typeface="+mn-lt"/>
                <a:ea typeface="+mn-ea"/>
                <a:cs typeface="+mn-cs"/>
              </a:rPr>
              <a:t>在 </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物件偵測</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任務上，之前的最高分是由 </a:t>
            </a:r>
            <a:r>
              <a:rPr lang="en-US" altLang="zh-TW" sz="1200" kern="1200" dirty="0">
                <a:solidFill>
                  <a:schemeClr val="tx1"/>
                </a:solidFill>
                <a:effectLst/>
                <a:latin typeface="+mn-lt"/>
                <a:ea typeface="+mn-ea"/>
                <a:cs typeface="+mn-cs"/>
              </a:rPr>
              <a:t>Google </a:t>
            </a:r>
            <a:r>
              <a:rPr lang="zh-TW" altLang="en-US" sz="1200" kern="1200" dirty="0">
                <a:solidFill>
                  <a:schemeClr val="tx1"/>
                </a:solidFill>
                <a:effectLst/>
                <a:latin typeface="+mn-lt"/>
                <a:ea typeface="+mn-ea"/>
                <a:cs typeface="+mn-cs"/>
              </a:rPr>
              <a:t>的 </a:t>
            </a:r>
            <a:r>
              <a:rPr lang="en-US" altLang="zh-TW" sz="1200" b="1" kern="1200" dirty="0">
                <a:solidFill>
                  <a:schemeClr val="tx1"/>
                </a:solidFill>
                <a:effectLst/>
                <a:latin typeface="+mn-lt"/>
                <a:ea typeface="+mn-ea"/>
                <a:cs typeface="+mn-cs"/>
              </a:rPr>
              <a:t>Copy-paste [23]</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所創下的 </a:t>
            </a:r>
            <a:r>
              <a:rPr lang="en-US" altLang="zh-TW" sz="1200" b="1" kern="1200" dirty="0">
                <a:solidFill>
                  <a:schemeClr val="tx1"/>
                </a:solidFill>
                <a:effectLst/>
                <a:latin typeface="+mn-lt"/>
                <a:ea typeface="+mn-ea"/>
                <a:cs typeface="+mn-cs"/>
              </a:rPr>
              <a:t>56.0</a:t>
            </a:r>
            <a:r>
              <a:rPr lang="zh-TW" altLang="en-US" sz="1200" kern="1200" dirty="0">
                <a:solidFill>
                  <a:schemeClr val="tx1"/>
                </a:solidFill>
                <a:effectLst/>
                <a:latin typeface="+mn-lt"/>
                <a:ea typeface="+mn-ea"/>
                <a:cs typeface="+mn-cs"/>
              </a:rPr>
              <a:t> 分 </a:t>
            </a:r>
            <a:r>
              <a:rPr lang="en-US" altLang="zh-TW" sz="1200" kern="1200" dirty="0">
                <a:solidFill>
                  <a:schemeClr val="tx1"/>
                </a:solidFill>
                <a:effectLst/>
                <a:latin typeface="+mn-lt"/>
                <a:ea typeface="+mn-ea"/>
                <a:cs typeface="+mn-cs"/>
              </a:rPr>
              <a:t>(test-dev </a:t>
            </a:r>
            <a:r>
              <a:rPr lang="zh-TW" altLang="en-US" sz="1200" kern="1200" dirty="0">
                <a:solidFill>
                  <a:schemeClr val="tx1"/>
                </a:solidFill>
                <a:effectLst/>
                <a:latin typeface="+mn-lt"/>
                <a:ea typeface="+mn-ea"/>
                <a:cs typeface="+mn-cs"/>
              </a:rPr>
              <a:t>數據</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p>
          <a:p>
            <a:r>
              <a:rPr lang="zh-TW" altLang="en-US" sz="1200" kern="1200" dirty="0">
                <a:solidFill>
                  <a:schemeClr val="tx1"/>
                </a:solidFill>
                <a:effectLst/>
                <a:latin typeface="+mn-lt"/>
                <a:ea typeface="+mn-ea"/>
                <a:cs typeface="+mn-cs"/>
              </a:rPr>
              <a:t>在 </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實例分割</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任務上，之前的最高分是由 </a:t>
            </a:r>
            <a:r>
              <a:rPr lang="en-US" altLang="zh-TW" sz="1200" b="1" kern="1200" dirty="0" err="1">
                <a:solidFill>
                  <a:schemeClr val="tx1"/>
                </a:solidFill>
                <a:effectLst/>
                <a:latin typeface="+mn-lt"/>
                <a:ea typeface="+mn-ea"/>
                <a:cs typeface="+mn-cs"/>
              </a:rPr>
              <a:t>DetectoRS</a:t>
            </a:r>
            <a:r>
              <a:rPr lang="en-US" altLang="zh-TW" sz="1200" b="1" kern="1200" dirty="0">
                <a:solidFill>
                  <a:schemeClr val="tx1"/>
                </a:solidFill>
                <a:effectLst/>
                <a:latin typeface="+mn-lt"/>
                <a:ea typeface="+mn-ea"/>
                <a:cs typeface="+mn-cs"/>
              </a:rPr>
              <a:t>* [42]</a:t>
            </a:r>
            <a:r>
              <a:rPr lang="en-US" altLang="zh-TW" sz="1200" kern="1200" dirty="0">
                <a:solidFill>
                  <a:schemeClr val="tx1"/>
                </a:solidFill>
                <a:effectLst/>
                <a:latin typeface="+mn-lt"/>
                <a:ea typeface="+mn-ea"/>
                <a:cs typeface="+mn-cs"/>
              </a:rPr>
              <a:t> </a:t>
            </a:r>
            <a:r>
              <a:rPr lang="zh-TW" altLang="en-US" sz="1200" kern="1200" dirty="0">
                <a:solidFill>
                  <a:schemeClr val="tx1"/>
                </a:solidFill>
                <a:effectLst/>
                <a:latin typeface="+mn-lt"/>
                <a:ea typeface="+mn-ea"/>
                <a:cs typeface="+mn-cs"/>
              </a:rPr>
              <a:t>創下的 </a:t>
            </a:r>
            <a:r>
              <a:rPr lang="en-US" altLang="zh-TW" sz="1200" b="1" kern="1200" dirty="0">
                <a:solidFill>
                  <a:schemeClr val="tx1"/>
                </a:solidFill>
                <a:effectLst/>
                <a:latin typeface="+mn-lt"/>
                <a:ea typeface="+mn-ea"/>
                <a:cs typeface="+mn-cs"/>
              </a:rPr>
              <a:t>48.5</a:t>
            </a:r>
            <a:r>
              <a:rPr lang="zh-TW" altLang="en-US" sz="1200" kern="1200" dirty="0">
                <a:solidFill>
                  <a:schemeClr val="tx1"/>
                </a:solidFill>
                <a:effectLst/>
                <a:latin typeface="+mn-lt"/>
                <a:ea typeface="+mn-ea"/>
                <a:cs typeface="+mn-cs"/>
              </a:rPr>
              <a:t> 分 </a:t>
            </a:r>
            <a:r>
              <a:rPr lang="en-US" altLang="zh-TW" sz="1200" kern="1200" dirty="0">
                <a:solidFill>
                  <a:schemeClr val="tx1"/>
                </a:solidFill>
                <a:effectLst/>
                <a:latin typeface="+mn-lt"/>
                <a:ea typeface="+mn-ea"/>
                <a:cs typeface="+mn-cs"/>
              </a:rPr>
              <a:t>(test-dev </a:t>
            </a:r>
            <a:r>
              <a:rPr lang="zh-TW" altLang="en-US" sz="1200" kern="1200" dirty="0">
                <a:solidFill>
                  <a:schemeClr val="tx1"/>
                </a:solidFill>
                <a:effectLst/>
                <a:latin typeface="+mn-lt"/>
                <a:ea typeface="+mn-ea"/>
                <a:cs typeface="+mn-cs"/>
              </a:rPr>
              <a:t>數據</a:t>
            </a:r>
            <a:r>
              <a:rPr lang="en-US"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a:t>
            </a:r>
          </a:p>
          <a:p>
            <a:endParaRPr lang="en-US" altLang="zh-TW" b="0" i="0" dirty="0">
              <a:solidFill>
                <a:srgbClr val="333333"/>
              </a:solidFill>
              <a:effectLst/>
              <a:latin typeface="Georgia" panose="02040502050405020303" pitchFamily="18" charset="0"/>
            </a:endParaRPr>
          </a:p>
          <a:p>
            <a:r>
              <a:rPr lang="zh-TW" altLang="en-US" dirty="0"/>
              <a:t>標註星號 </a:t>
            </a:r>
            <a:r>
              <a:rPr lang="zh-TW" altLang="en-US" sz="1200" kern="1200" dirty="0">
                <a:solidFill>
                  <a:schemeClr val="tx1"/>
                </a:solidFill>
                <a:latin typeface="+mn-lt"/>
                <a:ea typeface="+mn-ea"/>
                <a:cs typeface="+mn-cs"/>
              </a:rPr>
              <a:t>*</a:t>
            </a:r>
            <a:r>
              <a:rPr lang="zh-TW" altLang="en-US" dirty="0"/>
              <a:t> 的模型代表啟用了 </a:t>
            </a:r>
            <a:r>
              <a:rPr lang="en-US" altLang="zh-TW" b="1" dirty="0"/>
              <a:t>Multi-scale testing</a:t>
            </a:r>
            <a:r>
              <a:rPr lang="zh-TW" altLang="en-US" dirty="0"/>
              <a:t>。</a:t>
            </a:r>
          </a:p>
          <a:p>
            <a:r>
              <a:rPr lang="zh-TW" altLang="en-US" dirty="0"/>
              <a:t>這是一種推論階段的增強技術，透過讓模型在多個不同的解析度下重複觀察同一張影像，並融合最終預測結果，來進一步提升對不同尺度物件的偵測穩定性。</a:t>
            </a:r>
          </a:p>
          <a:p>
            <a:r>
              <a:rPr lang="zh-TW" altLang="en-US" dirty="0"/>
              <a:t>雖然這會顯著增加運算成本並降低 </a:t>
            </a:r>
            <a:r>
              <a:rPr lang="en-US" altLang="zh-TW" dirty="0"/>
              <a:t>FPS</a:t>
            </a:r>
          </a:p>
          <a:p>
            <a:endParaRPr lang="en-US" altLang="zh-TW" dirty="0"/>
          </a:p>
          <a:p>
            <a:r>
              <a:rPr lang="en-US" altLang="zh-TW" dirty="0"/>
              <a:t>Swin Transformer </a:t>
            </a:r>
            <a:r>
              <a:rPr lang="zh-TW" altLang="en-US" dirty="0"/>
              <a:t>本身是一個</a:t>
            </a:r>
            <a:r>
              <a:rPr lang="zh-TW" altLang="en-US" b="1" dirty="0"/>
              <a:t>特徵提取器（</a:t>
            </a:r>
            <a:r>
              <a:rPr lang="en-US" altLang="zh-TW" b="1" dirty="0"/>
              <a:t>Backbone</a:t>
            </a:r>
            <a:r>
              <a:rPr lang="zh-TW" altLang="en-US" b="1" dirty="0"/>
              <a:t>）</a:t>
            </a:r>
            <a:r>
              <a:rPr lang="zh-TW" altLang="en-US" dirty="0"/>
              <a:t>，它的強項在於透過階層式架構產生高品質的特徵表示。然而，要完成物件偵測或分割任務，我們必須將其接入一個</a:t>
            </a:r>
            <a:r>
              <a:rPr lang="zh-TW" altLang="en-US" b="1" dirty="0"/>
              <a:t>偵測框架</a:t>
            </a:r>
            <a:r>
              <a:rPr lang="en-US" altLang="zh-TW" b="1" dirty="0"/>
              <a:t>(HTC++)</a:t>
            </a:r>
            <a:r>
              <a:rPr lang="zh-TW" altLang="en-US" dirty="0"/>
              <a:t>。</a:t>
            </a:r>
          </a:p>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F04ABDD9-8BB0-14E1-72EE-E6AD0D621F49}"/>
              </a:ext>
            </a:extLst>
          </p:cNvPr>
          <p:cNvSpPr>
            <a:spLocks noGrp="1"/>
          </p:cNvSpPr>
          <p:nvPr>
            <p:ph type="sldNum" sz="quarter" idx="5"/>
          </p:nvPr>
        </p:nvSpPr>
        <p:spPr/>
        <p:txBody>
          <a:bodyPr/>
          <a:lstStyle/>
          <a:p>
            <a:fld id="{4FFC9C8E-8CA7-443A-832F-F0F3F7A96022}" type="slidenum">
              <a:rPr lang="zh-TW" altLang="en-US" smtClean="0"/>
              <a:t>21</a:t>
            </a:fld>
            <a:endParaRPr lang="zh-TW" altLang="en-US"/>
          </a:p>
        </p:txBody>
      </p:sp>
    </p:spTree>
    <p:extLst>
      <p:ext uri="{BB962C8B-B14F-4D97-AF65-F5344CB8AC3E}">
        <p14:creationId xmlns:p14="http://schemas.microsoft.com/office/powerpoint/2010/main" val="1293139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99AA-FDC5-ADB0-1D60-590230EFBB8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81F29D7-E899-200F-97A6-01B2C767C9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4623661-5E63-2239-4BE1-20D32B1E104C}"/>
              </a:ext>
            </a:extLst>
          </p:cNvPr>
          <p:cNvSpPr>
            <a:spLocks noGrp="1"/>
          </p:cNvSpPr>
          <p:nvPr>
            <p:ph type="body" idx="1"/>
          </p:nvPr>
        </p:nvSpPr>
        <p:spPr/>
        <p:txBody>
          <a:bodyPr/>
          <a:lstStyle/>
          <a:p>
            <a:r>
              <a:rPr lang="en-US" altLang="zh-TW" dirty="0" err="1"/>
              <a:t>UperNet</a:t>
            </a:r>
            <a:r>
              <a:rPr lang="en-US" altLang="zh-TW" dirty="0"/>
              <a:t> </a:t>
            </a:r>
            <a:r>
              <a:rPr lang="zh-TW" altLang="en-US" dirty="0"/>
              <a:t>這個框架的設計，</a:t>
            </a:r>
            <a:r>
              <a:rPr lang="zh-TW" altLang="en-US" b="1" dirty="0"/>
              <a:t>天生就需要吸收「多種不同解析度」的特徵圖</a:t>
            </a:r>
            <a:endParaRPr lang="en-US" altLang="zh-TW" b="1" dirty="0"/>
          </a:p>
          <a:p>
            <a:endParaRPr lang="en-US" altLang="zh-TW" b="1" i="0" dirty="0">
              <a:solidFill>
                <a:srgbClr val="333333"/>
              </a:solidFill>
              <a:effectLst/>
              <a:latin typeface="Georgia" panose="02040502050405020303" pitchFamily="18" charset="0"/>
            </a:endParaRPr>
          </a:p>
          <a:p>
            <a:r>
              <a:rPr lang="en-US" altLang="zh-TW" dirty="0"/>
              <a:t>ADE20K </a:t>
            </a:r>
            <a:r>
              <a:rPr lang="zh-TW" altLang="en-US" dirty="0"/>
              <a:t>裡面有 </a:t>
            </a:r>
            <a:r>
              <a:rPr lang="en-US" altLang="zh-TW" dirty="0"/>
              <a:t>150 </a:t>
            </a:r>
            <a:r>
              <a:rPr lang="zh-TW" altLang="en-US" dirty="0"/>
              <a:t>種又碎又複雜的類別（例如：牆壁、床、枕頭、窗戶）。 </a:t>
            </a:r>
            <a:r>
              <a:rPr lang="en-US" altLang="zh-TW" sz="1200" kern="1200" dirty="0" err="1">
                <a:solidFill>
                  <a:schemeClr val="tx1"/>
                </a:solidFill>
                <a:latin typeface="+mn-lt"/>
                <a:ea typeface="+mn-ea"/>
                <a:cs typeface="+mn-cs"/>
              </a:rPr>
              <a:t>UperNet</a:t>
            </a:r>
            <a:r>
              <a:rPr lang="zh-TW" altLang="en-US" dirty="0"/>
              <a:t>（</a:t>
            </a:r>
            <a:r>
              <a:rPr lang="en-US" altLang="zh-TW" dirty="0"/>
              <a:t>Unified Perceptual Parsing Network</a:t>
            </a:r>
            <a:r>
              <a:rPr lang="zh-TW" altLang="en-US" dirty="0"/>
              <a:t>）全名叫做「統一感知解析網路」，它本來就是在學術界公認處理這種「複雜場景解析」最頂尖、最權威的雙手。</a:t>
            </a:r>
            <a:endParaRPr lang="en-US" altLang="zh-TW" dirty="0"/>
          </a:p>
          <a:p>
            <a:endParaRPr lang="en-US" altLang="zh-TW" dirty="0"/>
          </a:p>
          <a:p>
            <a:r>
              <a:rPr lang="en-US" altLang="zh-TW" dirty="0"/>
              <a:t>† </a:t>
            </a:r>
            <a:r>
              <a:rPr lang="zh-TW" altLang="en-US" dirty="0"/>
              <a:t>代表加上額外的反卷積層來產生階層式特徵圖</a:t>
            </a:r>
            <a:endParaRPr lang="en-US" altLang="zh-TW" dirty="0"/>
          </a:p>
          <a:p>
            <a:r>
              <a:rPr lang="en-US" altLang="zh-TW" dirty="0"/>
              <a:t>‡</a:t>
            </a:r>
            <a:r>
              <a:rPr lang="zh-TW" altLang="en-US" dirty="0"/>
              <a:t> 代表有在</a:t>
            </a:r>
            <a:r>
              <a:rPr lang="en-US" altLang="zh-TW" dirty="0"/>
              <a:t>imagenet-22k </a:t>
            </a:r>
            <a:r>
              <a:rPr lang="zh-TW" altLang="en-US" dirty="0"/>
              <a:t>預訓練過</a:t>
            </a:r>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AA7488D1-C2CF-2487-A06B-FBA9D9328E84}"/>
              </a:ext>
            </a:extLst>
          </p:cNvPr>
          <p:cNvSpPr>
            <a:spLocks noGrp="1"/>
          </p:cNvSpPr>
          <p:nvPr>
            <p:ph type="sldNum" sz="quarter" idx="5"/>
          </p:nvPr>
        </p:nvSpPr>
        <p:spPr/>
        <p:txBody>
          <a:bodyPr/>
          <a:lstStyle/>
          <a:p>
            <a:fld id="{4FFC9C8E-8CA7-443A-832F-F0F3F7A96022}" type="slidenum">
              <a:rPr lang="zh-TW" altLang="en-US" smtClean="0"/>
              <a:t>22</a:t>
            </a:fld>
            <a:endParaRPr lang="zh-TW" altLang="en-US"/>
          </a:p>
        </p:txBody>
      </p:sp>
    </p:spTree>
    <p:extLst>
      <p:ext uri="{BB962C8B-B14F-4D97-AF65-F5344CB8AC3E}">
        <p14:creationId xmlns:p14="http://schemas.microsoft.com/office/powerpoint/2010/main" val="26938471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BEFBE-D544-AAF0-809D-4BA6E7E094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788A4F-6827-EFE0-28B4-43336BD19B4E}"/>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39F64573-E0DC-552C-EA78-006D3F8FAE78}"/>
              </a:ext>
            </a:extLst>
          </p:cNvPr>
          <p:cNvSpPr>
            <a:spLocks noGrp="1"/>
          </p:cNvSpPr>
          <p:nvPr>
            <p:ph type="body" idx="1"/>
          </p:nvPr>
        </p:nvSpPr>
        <p:spPr/>
        <p:txBody>
          <a:bodyPr/>
          <a:lstStyle/>
          <a:p>
            <a:endParaRPr lang="en-US" altLang="zh-TW" b="0" i="0" dirty="0">
              <a:solidFill>
                <a:srgbClr val="333333"/>
              </a:solidFill>
              <a:effectLst/>
              <a:latin typeface="Georgia" panose="02040502050405020303" pitchFamily="18" charset="0"/>
            </a:endParaRPr>
          </a:p>
        </p:txBody>
      </p:sp>
      <p:sp>
        <p:nvSpPr>
          <p:cNvPr id="4" name="投影片編號版面配置區 3">
            <a:extLst>
              <a:ext uri="{FF2B5EF4-FFF2-40B4-BE49-F238E27FC236}">
                <a16:creationId xmlns:a16="http://schemas.microsoft.com/office/drawing/2014/main" id="{B3A080BA-E0CB-E548-8649-B7AC51833A4E}"/>
              </a:ext>
            </a:extLst>
          </p:cNvPr>
          <p:cNvSpPr>
            <a:spLocks noGrp="1"/>
          </p:cNvSpPr>
          <p:nvPr>
            <p:ph type="sldNum" sz="quarter" idx="5"/>
          </p:nvPr>
        </p:nvSpPr>
        <p:spPr/>
        <p:txBody>
          <a:bodyPr/>
          <a:lstStyle/>
          <a:p>
            <a:fld id="{4FFC9C8E-8CA7-443A-832F-F0F3F7A96022}" type="slidenum">
              <a:rPr lang="zh-TW" altLang="en-US" smtClean="0"/>
              <a:t>24</a:t>
            </a:fld>
            <a:endParaRPr lang="zh-TW" altLang="en-US"/>
          </a:p>
        </p:txBody>
      </p:sp>
    </p:spTree>
    <p:extLst>
      <p:ext uri="{BB962C8B-B14F-4D97-AF65-F5344CB8AC3E}">
        <p14:creationId xmlns:p14="http://schemas.microsoft.com/office/powerpoint/2010/main" val="37718962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1757997"/>
          </a:xfrm>
        </p:spPr>
        <p:txBody>
          <a:bodyPr anchor="b"/>
          <a:lstStyle>
            <a:lvl1pPr algn="ctr">
              <a:defRPr sz="4500"/>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27974038-1076-4A1E-8E31-2BBAC68E9E1B}"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pic>
        <p:nvPicPr>
          <p:cNvPr id="8" name="Picture 4">
            <a:extLst>
              <a:ext uri="{FF2B5EF4-FFF2-40B4-BE49-F238E27FC236}">
                <a16:creationId xmlns:a16="http://schemas.microsoft.com/office/drawing/2014/main" id="{5DC7B609-95E6-97E1-41B8-B9A7D1CC4E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a:extLst>
              <a:ext uri="{FF2B5EF4-FFF2-40B4-BE49-F238E27FC236}">
                <a16:creationId xmlns:a16="http://schemas.microsoft.com/office/drawing/2014/main" id="{F2E541D3-00C6-2003-B805-933A89193576}"/>
              </a:ext>
            </a:extLst>
          </p:cNvPr>
          <p:cNvSpPr/>
          <p:nvPr/>
        </p:nvSpPr>
        <p:spPr>
          <a:xfrm>
            <a:off x="2250753" y="3020728"/>
            <a:ext cx="1513263" cy="147467"/>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1" name="矩形 10">
            <a:extLst>
              <a:ext uri="{FF2B5EF4-FFF2-40B4-BE49-F238E27FC236}">
                <a16:creationId xmlns:a16="http://schemas.microsoft.com/office/drawing/2014/main" id="{66FC8222-60FE-101C-4DA7-1FC8D6BB9A2A}"/>
              </a:ext>
            </a:extLst>
          </p:cNvPr>
          <p:cNvSpPr/>
          <p:nvPr/>
        </p:nvSpPr>
        <p:spPr>
          <a:xfrm>
            <a:off x="2267377" y="3125334"/>
            <a:ext cx="7483650" cy="88608"/>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TW" altLang="en-US" sz="1800" b="0" i="0" u="none" strike="noStrike" kern="1200" cap="none" spc="0" normalizeH="0" baseline="0" noProof="0">
              <a:ln>
                <a:noFill/>
              </a:ln>
              <a:solidFill>
                <a:prstClr val="white"/>
              </a:solidFill>
              <a:effectLst/>
              <a:uLnTx/>
              <a:uFillTx/>
              <a:latin typeface="Calibri" panose="020F0502020204030204"/>
              <a:ea typeface="新細明體" panose="02020500000000000000" pitchFamily="18" charset="-120"/>
              <a:cs typeface="+mn-cs"/>
            </a:endParaRPr>
          </a:p>
        </p:txBody>
      </p:sp>
      <p:sp>
        <p:nvSpPr>
          <p:cNvPr id="16" name="文字版面配置區 15">
            <a:extLst>
              <a:ext uri="{FF2B5EF4-FFF2-40B4-BE49-F238E27FC236}">
                <a16:creationId xmlns:a16="http://schemas.microsoft.com/office/drawing/2014/main" id="{B081DB5B-CF4B-0736-46C1-B843CE2F54B4}"/>
              </a:ext>
            </a:extLst>
          </p:cNvPr>
          <p:cNvSpPr>
            <a:spLocks noGrp="1"/>
          </p:cNvSpPr>
          <p:nvPr>
            <p:ph type="body" sz="quarter" idx="13" hasCustomPrompt="1"/>
          </p:nvPr>
        </p:nvSpPr>
        <p:spPr>
          <a:xfrm>
            <a:off x="1524000" y="3429000"/>
            <a:ext cx="9144000" cy="333375"/>
          </a:xfrm>
        </p:spPr>
        <p:txBody>
          <a:bodyPr/>
          <a:lstStyle>
            <a:lvl1pPr marL="0" indent="0" algn="ctr">
              <a:buNone/>
              <a:defRPr i="1"/>
            </a:lvl1pPr>
          </a:lstStyle>
          <a:p>
            <a:pPr lvl="0"/>
            <a:r>
              <a:rPr lang="en-US" dirty="0"/>
              <a:t>Resource</a:t>
            </a:r>
          </a:p>
        </p:txBody>
      </p:sp>
      <p:sp>
        <p:nvSpPr>
          <p:cNvPr id="18" name="文字版面配置區 17">
            <a:extLst>
              <a:ext uri="{FF2B5EF4-FFF2-40B4-BE49-F238E27FC236}">
                <a16:creationId xmlns:a16="http://schemas.microsoft.com/office/drawing/2014/main" id="{2DE982FB-EE64-4B78-EAD9-724C3D422216}"/>
              </a:ext>
            </a:extLst>
          </p:cNvPr>
          <p:cNvSpPr>
            <a:spLocks noGrp="1"/>
          </p:cNvSpPr>
          <p:nvPr>
            <p:ph type="body" sz="quarter" idx="14" hasCustomPrompt="1"/>
          </p:nvPr>
        </p:nvSpPr>
        <p:spPr>
          <a:xfrm>
            <a:off x="1524000" y="4105275"/>
            <a:ext cx="9144000" cy="476250"/>
          </a:xfrm>
        </p:spPr>
        <p:txBody>
          <a:bodyPr/>
          <a:lstStyle>
            <a:lvl1pPr marL="0" indent="0" algn="ctr">
              <a:buNone/>
              <a:defRPr/>
            </a:lvl1pPr>
            <a:lvl2pPr marL="342900" indent="0">
              <a:buNone/>
              <a:defRPr/>
            </a:lvl2pPr>
            <a:lvl5pPr marL="1371600" indent="0">
              <a:buNone/>
              <a:defRPr/>
            </a:lvl5pPr>
          </a:lstStyle>
          <a:p>
            <a:pPr lvl="0"/>
            <a:r>
              <a:rPr lang="en-US" dirty="0"/>
              <a:t>Authors</a:t>
            </a:r>
          </a:p>
        </p:txBody>
      </p:sp>
    </p:spTree>
    <p:extLst>
      <p:ext uri="{BB962C8B-B14F-4D97-AF65-F5344CB8AC3E}">
        <p14:creationId xmlns:p14="http://schemas.microsoft.com/office/powerpoint/2010/main" val="922739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3446164E-F4D1-4EFD-868B-3A45C0CA8A0C}"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章節標題">
    <p:spTree>
      <p:nvGrpSpPr>
        <p:cNvPr id="1" name=""/>
        <p:cNvGrpSpPr/>
        <p:nvPr/>
      </p:nvGrpSpPr>
      <p:grpSpPr>
        <a:xfrm>
          <a:off x="0" y="0"/>
          <a:ext cx="0" cy="0"/>
          <a:chOff x="0" y="0"/>
          <a:chExt cx="0" cy="0"/>
        </a:xfrm>
      </p:grpSpPr>
      <p:pic>
        <p:nvPicPr>
          <p:cNvPr id="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文字方塊 8"/>
          <p:cNvSpPr txBox="1"/>
          <p:nvPr/>
        </p:nvSpPr>
        <p:spPr>
          <a:xfrm>
            <a:off x="3160296" y="2823785"/>
            <a:ext cx="6351547" cy="830997"/>
          </a:xfrm>
          <a:prstGeom prst="rect">
            <a:avLst/>
          </a:prstGeom>
          <a:noFill/>
        </p:spPr>
        <p:txBody>
          <a:bodyPr wrap="none" rtlCol="0">
            <a:spAutoFit/>
          </a:bodyPr>
          <a:lstStyle/>
          <a:p>
            <a:r>
              <a:rPr kumimoji="1" lang="en-US" altLang="zh-TW" sz="4800" b="1" dirty="0">
                <a:latin typeface="Times New Roman" charset="0"/>
                <a:ea typeface="Times New Roman" charset="0"/>
                <a:cs typeface="Times New Roman" charset="0"/>
              </a:rPr>
              <a:t>Thank you for listening</a:t>
            </a:r>
            <a:endParaRPr kumimoji="1" lang="zh-TW" altLang="en-US" sz="4800" b="1" dirty="0">
              <a:latin typeface="Times New Roman" charset="0"/>
              <a:ea typeface="Times New Roman" charset="0"/>
              <a:cs typeface="Times New Roman" charset="0"/>
            </a:endParaRPr>
          </a:p>
        </p:txBody>
      </p:sp>
      <p:sp>
        <p:nvSpPr>
          <p:cNvPr id="10" name="矩形 9"/>
          <p:cNvSpPr/>
          <p:nvPr/>
        </p:nvSpPr>
        <p:spPr>
          <a:xfrm>
            <a:off x="2409032" y="3654782"/>
            <a:ext cx="748365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1" name="矩形 10"/>
          <p:cNvSpPr/>
          <p:nvPr/>
        </p:nvSpPr>
        <p:spPr>
          <a:xfrm flipV="1">
            <a:off x="2387558" y="3715249"/>
            <a:ext cx="1513263" cy="90639"/>
          </a:xfrm>
          <a:prstGeom prst="rect">
            <a:avLst/>
          </a:prstGeom>
          <a:solidFill>
            <a:schemeClr val="accent1">
              <a:lumMod val="7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199755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p:cNvSpPr>
            <a:spLocks noGrp="1"/>
          </p:cNvSpPr>
          <p:nvPr>
            <p:ph type="dt" sz="half" idx="10"/>
          </p:nvPr>
        </p:nvSpPr>
        <p:spPr/>
        <p:txBody>
          <a:bodyPr/>
          <a:lstStyle/>
          <a:p>
            <a:fld id="{494547AD-64FF-47B8-A96D-63D79DCED579}" type="datetime1">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586946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7"/>
            <a:ext cx="10515600" cy="1325563"/>
          </a:xfrm>
        </p:spPr>
        <p:txBody>
          <a:bodyPr/>
          <a:lstStyle/>
          <a:p>
            <a:r>
              <a:rPr kumimoji="1" lang="zh-TW" altLang="en-US"/>
              <a:t>按一下以編輯母片標題樣式</a:t>
            </a:r>
          </a:p>
        </p:txBody>
      </p:sp>
      <p:sp>
        <p:nvSpPr>
          <p:cNvPr id="3" name="文字版面配置區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4" name="內容版面配置區 3"/>
          <p:cNvSpPr>
            <a:spLocks noGrp="1"/>
          </p:cNvSpPr>
          <p:nvPr>
            <p:ph sz="half" idx="2"/>
          </p:nvPr>
        </p:nvSpPr>
        <p:spPr>
          <a:xfrm>
            <a:off x="839789"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zh-TW" altLang="en-US"/>
              <a:t>按一下以編輯母片文字樣式</a:t>
            </a:r>
          </a:p>
        </p:txBody>
      </p:sp>
      <p:sp>
        <p:nvSpPr>
          <p:cNvPr id="6" name="內容版面配置區 5"/>
          <p:cNvSpPr>
            <a:spLocks noGrp="1"/>
          </p:cNvSpPr>
          <p:nvPr>
            <p:ph sz="quarter" idx="4"/>
          </p:nvPr>
        </p:nvSpPr>
        <p:spPr>
          <a:xfrm>
            <a:off x="6172201"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p:cNvSpPr>
            <a:spLocks noGrp="1"/>
          </p:cNvSpPr>
          <p:nvPr>
            <p:ph type="dt" sz="half" idx="10"/>
          </p:nvPr>
        </p:nvSpPr>
        <p:spPr/>
        <p:txBody>
          <a:bodyPr/>
          <a:lstStyle/>
          <a:p>
            <a:fld id="{DE9D9E29-26ED-4589-8ED1-8CA0CA665BC5}" type="datetime1">
              <a:rPr lang="zh-TW" altLang="en-US" smtClean="0"/>
              <a:t>2026/3/3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737906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日期版面配置區 2"/>
          <p:cNvSpPr>
            <a:spLocks noGrp="1"/>
          </p:cNvSpPr>
          <p:nvPr>
            <p:ph type="dt" sz="half" idx="10"/>
          </p:nvPr>
        </p:nvSpPr>
        <p:spPr/>
        <p:txBody>
          <a:bodyPr/>
          <a:lstStyle/>
          <a:p>
            <a:fld id="{783F30B6-1E80-477A-BAF0-4AC3039100C8}" type="datetime1">
              <a:rPr lang="zh-TW" altLang="en-US" smtClean="0"/>
              <a:t>2026/3/3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246253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9EA627F-07AA-4B63-A518-0E765A54DFE8}" type="datetime1">
              <a:rPr lang="zh-TW" altLang="en-US" smtClean="0"/>
              <a:t>2026/3/3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888768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內容版面配置區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5D3BBC4D-75F3-4AA0-A5B7-0E89C5073DFB}" type="datetime1">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993218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2400"/>
            </a:lvl1pPr>
          </a:lstStyle>
          <a:p>
            <a:r>
              <a:rPr kumimoji="1" lang="zh-TW" altLang="en-US"/>
              <a:t>按一下以編輯母片標題樣式</a:t>
            </a:r>
          </a:p>
        </p:txBody>
      </p:sp>
      <p:sp>
        <p:nvSpPr>
          <p:cNvPr id="3" name="圖片版面配置區 2"/>
          <p:cNvSpPr>
            <a:spLocks noGrp="1"/>
          </p:cNvSpPr>
          <p:nvPr>
            <p:ph type="pic" idx="1"/>
          </p:nvPr>
        </p:nvSpPr>
        <p:spPr>
          <a:xfrm>
            <a:off x="5183188" y="987427"/>
            <a:ext cx="617220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kumimoji="1" lang="zh-TW" altLang="en-US"/>
              <a:t>按一下圖示以新增圖片</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zh-TW" altLang="en-US"/>
              <a:t>按一下以編輯母片文字樣式</a:t>
            </a:r>
          </a:p>
        </p:txBody>
      </p:sp>
      <p:sp>
        <p:nvSpPr>
          <p:cNvPr id="5" name="日期版面配置區 4"/>
          <p:cNvSpPr>
            <a:spLocks noGrp="1"/>
          </p:cNvSpPr>
          <p:nvPr>
            <p:ph type="dt" sz="half" idx="10"/>
          </p:nvPr>
        </p:nvSpPr>
        <p:spPr/>
        <p:txBody>
          <a:bodyPr/>
          <a:lstStyle/>
          <a:p>
            <a:fld id="{02456B89-50A7-4791-8B31-A3CA86FB73B6}" type="datetime1">
              <a:rPr lang="zh-TW" altLang="en-US" smtClean="0"/>
              <a:t>2026/3/3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75188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1"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75CCAF2D-0C01-4352-81FC-2EA94307F2AF}"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168299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p:cNvSpPr>
            <a:spLocks noGrp="1"/>
          </p:cNvSpPr>
          <p:nvPr>
            <p:ph type="title" orient="vert"/>
          </p:nvPr>
        </p:nvSpPr>
        <p:spPr>
          <a:xfrm>
            <a:off x="8724901" y="365125"/>
            <a:ext cx="2628900" cy="5811838"/>
          </a:xfrm>
        </p:spPr>
        <p:txBody>
          <a:bodyPr vert="eaVert"/>
          <a:lstStyle/>
          <a:p>
            <a:r>
              <a:rPr kumimoji="1" lang="zh-TW" altLang="en-US"/>
              <a:t>按一下以編輯母片標題樣式</a:t>
            </a:r>
          </a:p>
        </p:txBody>
      </p:sp>
      <p:sp>
        <p:nvSpPr>
          <p:cNvPr id="3" name="直排文字版面配置區 2"/>
          <p:cNvSpPr>
            <a:spLocks noGrp="1"/>
          </p:cNvSpPr>
          <p:nvPr>
            <p:ph type="body" orient="vert" idx="1"/>
          </p:nvPr>
        </p:nvSpPr>
        <p:spPr>
          <a:xfrm>
            <a:off x="838201"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p:cNvSpPr>
            <a:spLocks noGrp="1"/>
          </p:cNvSpPr>
          <p:nvPr>
            <p:ph type="dt" sz="half" idx="10"/>
          </p:nvPr>
        </p:nvSpPr>
        <p:spPr/>
        <p:txBody>
          <a:bodyPr/>
          <a:lstStyle/>
          <a:p>
            <a:fld id="{3D9FF2C5-AF5F-4179-8261-9B74E1A757DD}"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405373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p:cNvSpPr>
            <a:spLocks noGrp="1"/>
          </p:cNvSpPr>
          <p:nvPr>
            <p:ph type="dt" sz="half" idx="10"/>
          </p:nvPr>
        </p:nvSpPr>
        <p:spPr/>
        <p:txBody>
          <a:bodyPr/>
          <a:lstStyle/>
          <a:p>
            <a:fld id="{7DE18E80-40FA-4E56-B1EB-B362DAB82C24}"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2922851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838200" y="88624"/>
            <a:ext cx="9601200" cy="856211"/>
          </a:xfrm>
        </p:spPr>
        <p:txBody>
          <a:bodyPr>
            <a:normAutofit/>
          </a:bodyPr>
          <a:lstStyle>
            <a:lvl1pPr algn="l">
              <a:defRPr sz="3200" b="1">
                <a:solidFill>
                  <a:schemeClr val="tx1"/>
                </a:solidFill>
                <a:latin typeface="+mj-lt"/>
              </a:defRPr>
            </a:lvl1pPr>
          </a:lstStyle>
          <a:p>
            <a:r>
              <a:rPr kumimoji="1" lang="zh-TW" altLang="en-US"/>
              <a:t>按一下以編輯母片標題樣式</a:t>
            </a:r>
            <a:endParaRPr kumimoji="1" lang="zh-TW" altLang="en-US" dirty="0"/>
          </a:p>
        </p:txBody>
      </p:sp>
      <p:sp>
        <p:nvSpPr>
          <p:cNvPr id="4" name="日期版面配置區 3"/>
          <p:cNvSpPr>
            <a:spLocks noGrp="1"/>
          </p:cNvSpPr>
          <p:nvPr>
            <p:ph type="dt" sz="half" idx="10"/>
          </p:nvPr>
        </p:nvSpPr>
        <p:spPr/>
        <p:txBody>
          <a:bodyPr/>
          <a:lstStyle/>
          <a:p>
            <a:fld id="{A03AA63B-833C-4A35-8393-67EFD8FA6E3E}" type="datetime1">
              <a:rPr lang="zh-TW" altLang="en-US" smtClean="0"/>
              <a:t>2026/3/3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11662755" y="6492875"/>
            <a:ext cx="539213" cy="365125"/>
          </a:xfrm>
        </p:spPr>
        <p:txBody>
          <a:bodyPr/>
          <a:lstStyle>
            <a:lvl1pPr>
              <a:defRPr sz="2000" b="1" i="0">
                <a:solidFill>
                  <a:schemeClr val="tx1"/>
                </a:solidFill>
                <a:latin typeface="Times New Roman" charset="0"/>
                <a:ea typeface="Times New Roman" charset="0"/>
                <a:cs typeface="Times New Roman" charset="0"/>
              </a:defRPr>
            </a:lvl1pPr>
          </a:lstStyle>
          <a:p>
            <a:fld id="{3E97B41F-AD73-4999-8C34-7D0FF5EF3CF5}" type="slidenum">
              <a:rPr lang="zh-TW" altLang="en-US" smtClean="0"/>
              <a:t>‹#›</a:t>
            </a:fld>
            <a:endParaRPr lang="zh-TW" altLang="en-US"/>
          </a:p>
        </p:txBody>
      </p:sp>
      <p:sp>
        <p:nvSpPr>
          <p:cNvPr id="10" name="標題 1">
            <a:extLst>
              <a:ext uri="{FF2B5EF4-FFF2-40B4-BE49-F238E27FC236}">
                <a16:creationId xmlns:a16="http://schemas.microsoft.com/office/drawing/2014/main" id="{91C7D7B7-44F8-4991-81DE-88616561D6D2}"/>
              </a:ext>
            </a:extLst>
          </p:cNvPr>
          <p:cNvSpPr txBox="1">
            <a:spLocks/>
          </p:cNvSpPr>
          <p:nvPr/>
        </p:nvSpPr>
        <p:spPr>
          <a:xfrm>
            <a:off x="2488352" y="184298"/>
            <a:ext cx="6582550" cy="581966"/>
          </a:xfrm>
          <a:prstGeom prst="rect">
            <a:avLst/>
          </a:prstGeom>
        </p:spPr>
        <p:txBody>
          <a:bodyPr vert="horz" lIns="68580" tIns="34290" rIns="68580" bIns="34290" rtlCol="0" anchor="ctr">
            <a:normAutofit fontScale="97500" lnSpcReduction="10000"/>
          </a:bodyPr>
          <a:lstStyle>
            <a:lvl1pPr algn="l" defTabSz="914377" rtl="0" eaLnBrk="1" latinLnBrk="0" hangingPunct="1">
              <a:lnSpc>
                <a:spcPct val="90000"/>
              </a:lnSpc>
              <a:spcBef>
                <a:spcPct val="0"/>
              </a:spcBef>
              <a:buNone/>
              <a:defRPr sz="4800" b="1" kern="1200" cap="none"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endParaRPr kumimoji="1" lang="zh-TW" altLang="en-US" sz="4000" dirty="0">
              <a:solidFill>
                <a:schemeClr val="tx1"/>
              </a:solidFill>
              <a:latin typeface="Times" charset="0"/>
              <a:ea typeface="Times" charset="0"/>
              <a:cs typeface="Times" charset="0"/>
            </a:endParaRPr>
          </a:p>
        </p:txBody>
      </p:sp>
      <p:sp>
        <p:nvSpPr>
          <p:cNvPr id="11" name="矩形 10">
            <a:extLst>
              <a:ext uri="{FF2B5EF4-FFF2-40B4-BE49-F238E27FC236}">
                <a16:creationId xmlns:a16="http://schemas.microsoft.com/office/drawing/2014/main" id="{5A9D7B77-591D-495A-ACB2-A95A59C2AEA1}"/>
              </a:ext>
            </a:extLst>
          </p:cNvPr>
          <p:cNvSpPr/>
          <p:nvPr/>
        </p:nvSpPr>
        <p:spPr>
          <a:xfrm>
            <a:off x="2411297" y="1180538"/>
            <a:ext cx="7047472" cy="400110"/>
          </a:xfrm>
          <a:prstGeom prst="rect">
            <a:avLst/>
          </a:prstGeom>
        </p:spPr>
        <p:txBody>
          <a:bodyPr wrap="square">
            <a:spAutoFit/>
          </a:bodyPr>
          <a:lstStyle/>
          <a:p>
            <a:pPr marL="342900" indent="-342900">
              <a:buFont typeface="Wingdings" panose="05000000000000000000" pitchFamily="2" charset="2"/>
              <a:buChar char="Ø"/>
            </a:pPr>
            <a:endParaRPr lang="zh-TW" altLang="en-US" sz="2000" dirty="0"/>
          </a:p>
        </p:txBody>
      </p:sp>
      <p:pic>
        <p:nvPicPr>
          <p:cNvPr id="1028" name="Picture 4">
            <a:extLst>
              <a:ext uri="{FF2B5EF4-FFF2-40B4-BE49-F238E27FC236}">
                <a16:creationId xmlns:a16="http://schemas.microsoft.com/office/drawing/2014/main" id="{BB7350BA-98A2-D52C-ECB3-83C1B118B3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99649" y="90768"/>
            <a:ext cx="1135390" cy="935592"/>
          </a:xfrm>
          <a:prstGeom prst="rect">
            <a:avLst/>
          </a:prstGeom>
          <a:noFill/>
          <a:extLst>
            <a:ext uri="{909E8E84-426E-40DD-AFC4-6F175D3DCCD1}">
              <a14:hiddenFill xmlns:a14="http://schemas.microsoft.com/office/drawing/2010/main">
                <a:solidFill>
                  <a:srgbClr val="FFFFFF"/>
                </a:solidFill>
              </a14:hiddenFill>
            </a:ext>
          </a:extLst>
        </p:spPr>
      </p:pic>
      <p:sp>
        <p:nvSpPr>
          <p:cNvPr id="9" name="矩形 8">
            <a:extLst>
              <a:ext uri="{FF2B5EF4-FFF2-40B4-BE49-F238E27FC236}">
                <a16:creationId xmlns:a16="http://schemas.microsoft.com/office/drawing/2014/main" id="{8C5FEF00-0B61-6D7A-A9B1-0B92AD28E1C7}"/>
              </a:ext>
            </a:extLst>
          </p:cNvPr>
          <p:cNvSpPr/>
          <p:nvPr/>
        </p:nvSpPr>
        <p:spPr>
          <a:xfrm>
            <a:off x="838200" y="959251"/>
            <a:ext cx="9601200" cy="4571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內容版面配置區 7">
            <a:extLst>
              <a:ext uri="{FF2B5EF4-FFF2-40B4-BE49-F238E27FC236}">
                <a16:creationId xmlns:a16="http://schemas.microsoft.com/office/drawing/2014/main" id="{FD0FEA35-461C-A55C-8BDD-6E88714DBFD7}"/>
              </a:ext>
            </a:extLst>
          </p:cNvPr>
          <p:cNvSpPr>
            <a:spLocks noGrp="1"/>
          </p:cNvSpPr>
          <p:nvPr>
            <p:ph sz="quarter" idx="13"/>
          </p:nvPr>
        </p:nvSpPr>
        <p:spPr>
          <a:xfrm>
            <a:off x="838200" y="1298575"/>
            <a:ext cx="9601200" cy="4905375"/>
          </a:xfrm>
        </p:spPr>
        <p:txBody>
          <a:bodyPr>
            <a:normAutofit/>
          </a:bodyPr>
          <a:lstStyle>
            <a:lvl1pPr marL="342900" indent="-342900">
              <a:lnSpc>
                <a:spcPct val="100000"/>
              </a:lnSpc>
              <a:defRPr sz="2000">
                <a:latin typeface="+mn-lt"/>
              </a:defRPr>
            </a:lvl1pPr>
            <a:lvl2pPr marL="571500" indent="-228600">
              <a:defRPr sz="2000">
                <a:latin typeface="+mn-lt"/>
              </a:defRPr>
            </a:lvl2pPr>
            <a:lvl3pPr marL="914400" indent="-228600">
              <a:defRPr sz="2000">
                <a:latin typeface="+mn-lt"/>
              </a:defRPr>
            </a:lvl3pPr>
            <a:lvl4pPr marL="1257300" indent="-228600">
              <a:defRPr sz="2000">
                <a:latin typeface="+mn-lt"/>
              </a:defRPr>
            </a:lvl4pPr>
            <a:lvl5pPr marL="1600200" indent="-228600">
              <a:defRPr sz="2000">
                <a:latin typeface="+mn-lt"/>
              </a:defRPr>
            </a:lvl5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7" name="內容版面配置區 6">
            <a:extLst>
              <a:ext uri="{FF2B5EF4-FFF2-40B4-BE49-F238E27FC236}">
                <a16:creationId xmlns:a16="http://schemas.microsoft.com/office/drawing/2014/main" id="{5F5279E3-3B94-4F32-99E9-1F3FD8046D70}"/>
              </a:ext>
            </a:extLst>
          </p:cNvPr>
          <p:cNvSpPr>
            <a:spLocks noGrp="1"/>
          </p:cNvSpPr>
          <p:nvPr>
            <p:ph sz="quarter" idx="14" hasCustomPrompt="1"/>
          </p:nvPr>
        </p:nvSpPr>
        <p:spPr>
          <a:xfrm>
            <a:off x="0" y="6356353"/>
            <a:ext cx="11533517" cy="501648"/>
          </a:xfrm>
        </p:spPr>
        <p:txBody>
          <a:bodyPr anchor="b">
            <a:noAutofit/>
          </a:bodyPr>
          <a:lstStyle>
            <a:lvl1pPr marL="0" indent="0">
              <a:spcBef>
                <a:spcPts val="200"/>
              </a:spcBef>
              <a:buNone/>
              <a:defRPr sz="1000"/>
            </a:lvl1pPr>
          </a:lstStyle>
          <a:p>
            <a:pPr lvl="0"/>
            <a:r>
              <a:rPr lang="en-US" altLang="zh-TW" dirty="0"/>
              <a:t>Reference</a:t>
            </a:r>
            <a:endParaRPr lang="en-US" dirty="0"/>
          </a:p>
        </p:txBody>
      </p:sp>
    </p:spTree>
    <p:extLst>
      <p:ext uri="{BB962C8B-B14F-4D97-AF65-F5344CB8AC3E}">
        <p14:creationId xmlns:p14="http://schemas.microsoft.com/office/powerpoint/2010/main" val="180864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D38A2F8-4F65-43A2-B6F9-53DC0863478F}" type="datetime1">
              <a:rPr lang="zh-TW" altLang="en-US" smtClean="0"/>
              <a:t>2026/3/3</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kumimoji="1" lang="zh-TW" altLang="en-US" dirty="0"/>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dirty="0"/>
              <a:t>按一下以編輯母片文字樣式</a:t>
            </a:r>
          </a:p>
          <a:p>
            <a:pPr lvl="1"/>
            <a:r>
              <a:rPr kumimoji="1" lang="zh-TW" altLang="en-US" dirty="0"/>
              <a:t>第二層</a:t>
            </a:r>
          </a:p>
          <a:p>
            <a:pPr lvl="2"/>
            <a:r>
              <a:rPr kumimoji="1" lang="zh-TW" altLang="en-US" dirty="0"/>
              <a:t>第三層</a:t>
            </a:r>
          </a:p>
          <a:p>
            <a:pPr lvl="3"/>
            <a:r>
              <a:rPr kumimoji="1" lang="zh-TW" altLang="en-US" dirty="0"/>
              <a:t>第四層</a:t>
            </a:r>
          </a:p>
          <a:p>
            <a:pPr lvl="4"/>
            <a:r>
              <a:rPr kumimoji="1" lang="zh-TW" altLang="en-US" dirty="0"/>
              <a:t>第五層</a:t>
            </a:r>
          </a:p>
        </p:txBody>
      </p:sp>
      <p:sp>
        <p:nvSpPr>
          <p:cNvPr id="4" name="日期版面配置區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CB5854-4637-4174-A8C3-E4DAAE0BD63C}" type="datetime1">
              <a:rPr lang="zh-TW" altLang="en-US" smtClean="0"/>
              <a:t>2026/3/3</a:t>
            </a:fld>
            <a:endParaRPr lang="zh-TW" altLang="en-US"/>
          </a:p>
        </p:txBody>
      </p:sp>
      <p:sp>
        <p:nvSpPr>
          <p:cNvPr id="5" name="頁尾版面配置區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E97B41F-AD73-4999-8C34-7D0FF5EF3CF5}" type="slidenum">
              <a:rPr lang="zh-TW" altLang="en-US" smtClean="0"/>
              <a:t>‹#›</a:t>
            </a:fld>
            <a:endParaRPr lang="zh-TW" altLang="en-US"/>
          </a:p>
        </p:txBody>
      </p:sp>
    </p:spTree>
    <p:extLst>
      <p:ext uri="{BB962C8B-B14F-4D97-AF65-F5344CB8AC3E}">
        <p14:creationId xmlns:p14="http://schemas.microsoft.com/office/powerpoint/2010/main" val="3680232328"/>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just" defTabSz="685800" rtl="0" eaLnBrk="1" latinLnBrk="0" hangingPunct="1">
        <a:lnSpc>
          <a:spcPct val="90000"/>
        </a:lnSpc>
        <a:spcBef>
          <a:spcPts val="1200"/>
        </a:spcBef>
        <a:buFont typeface="Wingdings" panose="05000000000000000000" pitchFamily="2" charset="2"/>
        <a:buChar char="Ø"/>
        <a:defRPr sz="2200" kern="1200">
          <a:solidFill>
            <a:schemeClr val="tx1"/>
          </a:solidFill>
          <a:latin typeface="+mn-lt"/>
          <a:ea typeface="+mn-ea"/>
          <a:cs typeface="+mn-cs"/>
        </a:defRPr>
      </a:lvl1pPr>
      <a:lvl2pPr marL="514350" indent="-171450" algn="just" defTabSz="685800" rtl="0" eaLnBrk="1" latinLnBrk="0" hangingPunct="1">
        <a:lnSpc>
          <a:spcPct val="90000"/>
        </a:lnSpc>
        <a:spcBef>
          <a:spcPts val="1200"/>
        </a:spcBef>
        <a:buFont typeface="Arial" panose="020B0604020202020204" pitchFamily="34" charset="0"/>
        <a:buChar char="•"/>
        <a:defRPr sz="2200" kern="1200">
          <a:solidFill>
            <a:schemeClr val="tx1"/>
          </a:solidFill>
          <a:latin typeface="+mn-lt"/>
          <a:ea typeface="+mn-ea"/>
          <a:cs typeface="+mn-cs"/>
        </a:defRPr>
      </a:lvl2pPr>
      <a:lvl3pPr marL="8572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3pPr>
      <a:lvl4pPr marL="12001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4pPr>
      <a:lvl5pPr marL="1543050" indent="-171450" algn="just" defTabSz="685800" rtl="0" eaLnBrk="1" latinLnBrk="0" hangingPunct="1">
        <a:lnSpc>
          <a:spcPct val="90000"/>
        </a:lnSpc>
        <a:spcBef>
          <a:spcPts val="1200"/>
        </a:spcBef>
        <a:buFont typeface="Times New Roman" panose="02020603050405020304" pitchFamily="18" charset="0"/>
        <a:buChar char="‣"/>
        <a:defRPr sz="2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544932-6CD0-0CC1-C039-F3B92CA621B7}"/>
              </a:ext>
            </a:extLst>
          </p:cNvPr>
          <p:cNvSpPr>
            <a:spLocks noGrp="1"/>
          </p:cNvSpPr>
          <p:nvPr>
            <p:ph type="ctrTitle"/>
          </p:nvPr>
        </p:nvSpPr>
        <p:spPr>
          <a:xfrm>
            <a:off x="1267903" y="1141216"/>
            <a:ext cx="9656190" cy="1757997"/>
          </a:xfrm>
        </p:spPr>
        <p:txBody>
          <a:bodyPr>
            <a:normAutofit/>
          </a:bodyPr>
          <a:lstStyle/>
          <a:p>
            <a:r>
              <a:rPr lang="en-US" altLang="zh-TW" dirty="0"/>
              <a:t>Swin Transformer: Hierarchical </a:t>
            </a:r>
            <a:r>
              <a:rPr lang="en-US" altLang="zh-TW" dirty="0" err="1"/>
              <a:t>Visiosn</a:t>
            </a:r>
            <a:r>
              <a:rPr lang="en-US" altLang="zh-TW" dirty="0"/>
              <a:t> Transformer using Shifted Window</a:t>
            </a:r>
            <a:endParaRPr lang="zh-TW" altLang="en-US" dirty="0"/>
          </a:p>
        </p:txBody>
      </p:sp>
      <p:sp>
        <p:nvSpPr>
          <p:cNvPr id="3" name="文字版面配置區 2">
            <a:extLst>
              <a:ext uri="{FF2B5EF4-FFF2-40B4-BE49-F238E27FC236}">
                <a16:creationId xmlns:a16="http://schemas.microsoft.com/office/drawing/2014/main" id="{C2557B6C-599C-2E3B-959F-75B8B0174D4C}"/>
              </a:ext>
            </a:extLst>
          </p:cNvPr>
          <p:cNvSpPr>
            <a:spLocks noGrp="1"/>
          </p:cNvSpPr>
          <p:nvPr>
            <p:ph type="body" sz="quarter" idx="13"/>
          </p:nvPr>
        </p:nvSpPr>
        <p:spPr/>
        <p:txBody>
          <a:bodyPr>
            <a:normAutofit fontScale="92500" lnSpcReduction="20000"/>
          </a:bodyPr>
          <a:lstStyle/>
          <a:p>
            <a:r>
              <a:rPr lang="en-US" altLang="zh-TW" dirty="0"/>
              <a:t>IEEE/CVF International Conference on Computer Vision (ICCV)</a:t>
            </a:r>
            <a:r>
              <a:rPr lang="nl-NL" altLang="zh-TW" dirty="0"/>
              <a:t>2021</a:t>
            </a:r>
          </a:p>
          <a:p>
            <a:endParaRPr lang="zh-TW" altLang="en-US" dirty="0"/>
          </a:p>
        </p:txBody>
      </p:sp>
      <p:sp>
        <p:nvSpPr>
          <p:cNvPr id="4" name="文字版面配置區 3">
            <a:extLst>
              <a:ext uri="{FF2B5EF4-FFF2-40B4-BE49-F238E27FC236}">
                <a16:creationId xmlns:a16="http://schemas.microsoft.com/office/drawing/2014/main" id="{9F1F3752-FB47-57DF-3974-387C819F5E95}"/>
              </a:ext>
            </a:extLst>
          </p:cNvPr>
          <p:cNvSpPr>
            <a:spLocks noGrp="1"/>
          </p:cNvSpPr>
          <p:nvPr>
            <p:ph type="body" sz="quarter" idx="14"/>
          </p:nvPr>
        </p:nvSpPr>
        <p:spPr>
          <a:xfrm>
            <a:off x="525329" y="3958788"/>
            <a:ext cx="11141338" cy="476250"/>
          </a:xfrm>
        </p:spPr>
        <p:txBody>
          <a:bodyPr>
            <a:noAutofit/>
          </a:bodyPr>
          <a:lstStyle/>
          <a:p>
            <a:r>
              <a:rPr lang="en-US" altLang="zh-TW" sz="1800" dirty="0"/>
              <a:t>Ze Liu, Yutong Lin, Yue Cao, Han Hu, Yixuan Wei, Zheng Zhang, Stephen Lin, </a:t>
            </a:r>
            <a:r>
              <a:rPr lang="en-US" altLang="zh-TW" sz="1800" dirty="0" err="1"/>
              <a:t>Baining</a:t>
            </a:r>
            <a:r>
              <a:rPr lang="en-US" altLang="zh-TW" sz="1800" dirty="0"/>
              <a:t> Guo, Microsoft Research Asia University of Science and Technology of China, Xian </a:t>
            </a:r>
            <a:r>
              <a:rPr lang="en-US" altLang="zh-TW" sz="1800" dirty="0" err="1"/>
              <a:t>Jiaotong</a:t>
            </a:r>
            <a:r>
              <a:rPr lang="en-US" altLang="zh-TW" sz="1800" dirty="0"/>
              <a:t> University, Tsinghua University</a:t>
            </a:r>
            <a:endParaRPr lang="zh-TW" altLang="en-US" sz="1800" dirty="0"/>
          </a:p>
        </p:txBody>
      </p:sp>
      <p:sp>
        <p:nvSpPr>
          <p:cNvPr id="5" name="文字方塊 4">
            <a:extLst>
              <a:ext uri="{FF2B5EF4-FFF2-40B4-BE49-F238E27FC236}">
                <a16:creationId xmlns:a16="http://schemas.microsoft.com/office/drawing/2014/main" id="{76FB65E7-55E3-6436-9C6E-5824ACD6EDF9}"/>
              </a:ext>
            </a:extLst>
          </p:cNvPr>
          <p:cNvSpPr txBox="1"/>
          <p:nvPr/>
        </p:nvSpPr>
        <p:spPr>
          <a:xfrm>
            <a:off x="3929847" y="5014306"/>
            <a:ext cx="4332303" cy="923330"/>
          </a:xfrm>
          <a:prstGeom prst="rect">
            <a:avLst/>
          </a:prstGeom>
          <a:noFill/>
        </p:spPr>
        <p:txBody>
          <a:bodyPr wrap="square" rtlCol="0">
            <a:spAutoFit/>
          </a:bodyPr>
          <a:lstStyle/>
          <a:p>
            <a:r>
              <a:rPr lang="en-US" altLang="zh-TW" dirty="0"/>
              <a:t>Date : 2026/3/4</a:t>
            </a:r>
            <a:br>
              <a:rPr lang="en-US" altLang="zh-TW" dirty="0"/>
            </a:br>
            <a:r>
              <a:rPr lang="en-US" altLang="zh-TW" dirty="0"/>
              <a:t>Presenter : Yi-Cheng Wang (</a:t>
            </a:r>
            <a:r>
              <a:rPr lang="zh-TW" altLang="en-US" dirty="0"/>
              <a:t>王翊丞</a:t>
            </a:r>
            <a:r>
              <a:rPr lang="en-US" altLang="zh-TW" dirty="0"/>
              <a:t>)</a:t>
            </a:r>
            <a:br>
              <a:rPr lang="zh-TW" altLang="en-US" dirty="0"/>
            </a:br>
            <a:r>
              <a:rPr lang="en-US" altLang="zh-TW" dirty="0"/>
              <a:t>Advisor : Prof. Jim-Wei Wu (</a:t>
            </a:r>
            <a:r>
              <a:rPr lang="zh-TW" altLang="en-US" dirty="0"/>
              <a:t>吳俊緯</a:t>
            </a:r>
            <a:r>
              <a:rPr lang="en-US" altLang="zh-TW" dirty="0"/>
              <a:t>)</a:t>
            </a:r>
            <a:endParaRPr lang="zh-TW" altLang="en-US" dirty="0"/>
          </a:p>
        </p:txBody>
      </p:sp>
    </p:spTree>
    <p:extLst>
      <p:ext uri="{BB962C8B-B14F-4D97-AF65-F5344CB8AC3E}">
        <p14:creationId xmlns:p14="http://schemas.microsoft.com/office/powerpoint/2010/main" val="1606719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0D2DB-2D2D-5010-22B3-ADFBE7A3B88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3BDC7A-D2F6-1BD0-A961-B32F739D8410}"/>
              </a:ext>
            </a:extLst>
          </p:cNvPr>
          <p:cNvSpPr>
            <a:spLocks noGrp="1"/>
          </p:cNvSpPr>
          <p:nvPr>
            <p:ph type="title"/>
          </p:nvPr>
        </p:nvSpPr>
        <p:spPr/>
        <p:txBody>
          <a:bodyPr/>
          <a:lstStyle/>
          <a:p>
            <a:r>
              <a:rPr lang="en-US" altLang="zh-TW" dirty="0"/>
              <a:t>Summary</a:t>
            </a:r>
            <a:endParaRPr lang="zh-TW" altLang="en-US" dirty="0"/>
          </a:p>
        </p:txBody>
      </p:sp>
      <p:sp>
        <p:nvSpPr>
          <p:cNvPr id="3" name="投影片編號版面配置區 2">
            <a:extLst>
              <a:ext uri="{FF2B5EF4-FFF2-40B4-BE49-F238E27FC236}">
                <a16:creationId xmlns:a16="http://schemas.microsoft.com/office/drawing/2014/main" id="{9CA56638-F9FF-8EDA-0C8D-0CA5CEC0122B}"/>
              </a:ext>
            </a:extLst>
          </p:cNvPr>
          <p:cNvSpPr>
            <a:spLocks noGrp="1"/>
          </p:cNvSpPr>
          <p:nvPr>
            <p:ph type="sldNum" sz="quarter" idx="12"/>
          </p:nvPr>
        </p:nvSpPr>
        <p:spPr/>
        <p:txBody>
          <a:bodyPr/>
          <a:lstStyle/>
          <a:p>
            <a:fld id="{3E97B41F-AD73-4999-8C34-7D0FF5EF3CF5}" type="slidenum">
              <a:rPr lang="zh-TW" altLang="en-US" smtClean="0"/>
              <a:t>2</a:t>
            </a:fld>
            <a:endParaRPr lang="zh-TW" altLang="en-US"/>
          </a:p>
        </p:txBody>
      </p:sp>
      <p:sp>
        <p:nvSpPr>
          <p:cNvPr id="5" name="內容版面配置區 4">
            <a:extLst>
              <a:ext uri="{FF2B5EF4-FFF2-40B4-BE49-F238E27FC236}">
                <a16:creationId xmlns:a16="http://schemas.microsoft.com/office/drawing/2014/main" id="{DAE07938-042C-ACEC-8343-EC3B5C5E9E3F}"/>
              </a:ext>
            </a:extLst>
          </p:cNvPr>
          <p:cNvSpPr>
            <a:spLocks noGrp="1"/>
          </p:cNvSpPr>
          <p:nvPr>
            <p:ph sz="quarter" idx="14"/>
          </p:nvPr>
        </p:nvSpPr>
        <p:spPr/>
        <p:txBody>
          <a:bodyPr/>
          <a:lstStyle/>
          <a:p>
            <a:endParaRPr lang="en-US" dirty="0"/>
          </a:p>
        </p:txBody>
      </p:sp>
      <p:sp>
        <p:nvSpPr>
          <p:cNvPr id="8" name="文字方塊 7">
            <a:extLst>
              <a:ext uri="{FF2B5EF4-FFF2-40B4-BE49-F238E27FC236}">
                <a16:creationId xmlns:a16="http://schemas.microsoft.com/office/drawing/2014/main" id="{0F80115F-9338-79FA-A697-2DB233AF2A76}"/>
              </a:ext>
            </a:extLst>
          </p:cNvPr>
          <p:cNvSpPr txBox="1"/>
          <p:nvPr/>
        </p:nvSpPr>
        <p:spPr>
          <a:xfrm>
            <a:off x="838200" y="1097238"/>
            <a:ext cx="9601200" cy="4031873"/>
          </a:xfrm>
          <a:prstGeom prst="rect">
            <a:avLst/>
          </a:prstGeom>
          <a:noFill/>
        </p:spPr>
        <p:txBody>
          <a:bodyPr wrap="square">
            <a:spAutoFit/>
          </a:bodyPr>
          <a:lstStyle/>
          <a:p>
            <a:pPr marL="285750" indent="-285750">
              <a:buFont typeface="Wingdings" panose="05000000000000000000" pitchFamily="2" charset="2"/>
              <a:buChar char="Ø"/>
            </a:pPr>
            <a:r>
              <a:rPr lang="en-US" altLang="zh-TW" sz="2000" b="1" dirty="0"/>
              <a:t>Main Contributions of Swin Transformer</a:t>
            </a:r>
          </a:p>
          <a:p>
            <a:pPr marL="285750" indent="-285750">
              <a:buFont typeface="Wingdings" panose="05000000000000000000" pitchFamily="2" charset="2"/>
              <a:buChar char="Ø"/>
            </a:pPr>
            <a:endParaRPr lang="en-US" altLang="zh-TW" sz="2000" b="1" dirty="0"/>
          </a:p>
          <a:p>
            <a:pPr marL="742950" lvl="1" indent="-285750">
              <a:buFont typeface="Arial" panose="020B0604020202020204" pitchFamily="34" charset="0"/>
              <a:buChar char="•"/>
            </a:pPr>
            <a:r>
              <a:rPr lang="en-US" altLang="zh-TW" b="1" dirty="0"/>
              <a:t>Hierarchical Architecture:</a:t>
            </a:r>
            <a:r>
              <a:rPr lang="en-US" altLang="zh-TW" dirty="0"/>
              <a:t> 						</a:t>
            </a:r>
            <a:r>
              <a:rPr lang="zh-TW" altLang="en-US" dirty="0"/>
              <a:t>    </a:t>
            </a:r>
            <a:r>
              <a:rPr lang="en-US" altLang="zh-TW" dirty="0"/>
              <a:t>Introduced </a:t>
            </a:r>
            <a:r>
              <a:rPr lang="en-US" altLang="zh-TW" b="1" dirty="0"/>
              <a:t>Patch Merging </a:t>
            </a:r>
            <a:r>
              <a:rPr lang="en-US" altLang="zh-TW" dirty="0"/>
              <a:t>to construct a </a:t>
            </a:r>
            <a:r>
              <a:rPr lang="en-US" altLang="zh-TW" b="1" dirty="0"/>
              <a:t>multi-scale</a:t>
            </a:r>
            <a:r>
              <a:rPr lang="en-US" altLang="zh-TW" dirty="0"/>
              <a:t> feature pyramid, solving the fixed-scale limitation of traditional Vision Transformers.</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Shifted Window Attention (SW-MSA):</a:t>
            </a:r>
            <a:r>
              <a:rPr lang="en-US" altLang="zh-TW" dirty="0"/>
              <a:t> 					</a:t>
            </a:r>
            <a:r>
              <a:rPr lang="zh-TW" altLang="en-US" dirty="0"/>
              <a:t>      </a:t>
            </a:r>
            <a:r>
              <a:rPr lang="en-US" altLang="zh-TW" dirty="0"/>
              <a:t>Achieved linear computational complexity by restricting self-attention to </a:t>
            </a:r>
            <a:r>
              <a:rPr lang="en-US" altLang="zh-TW" b="1" dirty="0"/>
              <a:t>local windows</a:t>
            </a:r>
            <a:r>
              <a:rPr lang="en-US" altLang="zh-TW" dirty="0"/>
              <a:t>, while enabling </a:t>
            </a:r>
            <a:r>
              <a:rPr lang="en-US" altLang="zh-TW" b="1" dirty="0"/>
              <a:t>cross-window communication </a:t>
            </a:r>
            <a:r>
              <a:rPr lang="en-US" altLang="zh-TW" dirty="0"/>
              <a:t>through a shifting mechanism.</a:t>
            </a:r>
          </a:p>
          <a:p>
            <a:pPr marL="742950" lvl="1" indent="-285750">
              <a:buFont typeface="Arial" panose="020B0604020202020204" pitchFamily="34" charset="0"/>
              <a:buChar char="•"/>
            </a:pPr>
            <a:endParaRPr lang="en-US" altLang="zh-TW" dirty="0"/>
          </a:p>
          <a:p>
            <a:pPr marL="742950" lvl="1" indent="-285750">
              <a:buFont typeface="Arial" panose="020B0604020202020204" pitchFamily="34" charset="0"/>
              <a:buChar char="•"/>
            </a:pPr>
            <a:r>
              <a:rPr lang="en-US" altLang="zh-TW" b="1" dirty="0"/>
              <a:t>General-Purpose Vision Backbone:</a:t>
            </a:r>
            <a:r>
              <a:rPr lang="en-US" altLang="zh-TW" dirty="0"/>
              <a:t> 				</a:t>
            </a:r>
            <a:r>
              <a:rPr lang="zh-TW" altLang="en-US" dirty="0"/>
              <a:t>               </a:t>
            </a:r>
            <a:r>
              <a:rPr lang="en-US" altLang="zh-TW" dirty="0"/>
              <a:t>Demonstrated state-of-the-art (SOTA) performance across diverse vision tasks, including image classification, object detection, and semantic segmentation, proving Transformers can effectively replace CNN backbones.</a:t>
            </a:r>
          </a:p>
        </p:txBody>
      </p:sp>
    </p:spTree>
    <p:extLst>
      <p:ext uri="{BB962C8B-B14F-4D97-AF65-F5344CB8AC3E}">
        <p14:creationId xmlns:p14="http://schemas.microsoft.com/office/powerpoint/2010/main" val="58216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3217E78-1B4D-B13F-0CDA-F0605896476F}"/>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ABC4D2C8-66B4-35AC-377C-9163FA000923}"/>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09D4B8AD-DEF5-D910-E576-AE5441EC9B2B}"/>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AutoNum type="romanUcPeriod"/>
            </a:pPr>
            <a:r>
              <a:rPr lang="en-US" altLang="zh-TW" sz="2800" dirty="0"/>
              <a:t>Experiment</a:t>
            </a:r>
          </a:p>
          <a:p>
            <a:pPr marL="571500" indent="-571500">
              <a:lnSpc>
                <a:spcPct val="150000"/>
              </a:lnSpc>
              <a:buAutoNum type="romanUcPeriod"/>
            </a:pPr>
            <a:r>
              <a:rPr lang="en-US" altLang="zh-TW" sz="2800" dirty="0"/>
              <a:t>Conclusion</a:t>
            </a:r>
            <a:endParaRPr lang="zh-TW" altLang="en-US" dirty="0"/>
          </a:p>
        </p:txBody>
      </p:sp>
      <p:sp>
        <p:nvSpPr>
          <p:cNvPr id="8" name="投影片編號版面配置區 7">
            <a:extLst>
              <a:ext uri="{FF2B5EF4-FFF2-40B4-BE49-F238E27FC236}">
                <a16:creationId xmlns:a16="http://schemas.microsoft.com/office/drawing/2014/main" id="{C4540614-6391-EE10-8D00-1536E869FC13}"/>
              </a:ext>
            </a:extLst>
          </p:cNvPr>
          <p:cNvSpPr>
            <a:spLocks noGrp="1"/>
          </p:cNvSpPr>
          <p:nvPr>
            <p:ph type="sldNum" sz="quarter" idx="12"/>
          </p:nvPr>
        </p:nvSpPr>
        <p:spPr/>
        <p:txBody>
          <a:bodyPr/>
          <a:lstStyle/>
          <a:p>
            <a:fld id="{3E97B41F-AD73-4999-8C34-7D0FF5EF3CF5}" type="slidenum">
              <a:rPr lang="zh-TW" altLang="en-US" smtClean="0"/>
              <a:t>3</a:t>
            </a:fld>
            <a:endParaRPr lang="zh-TW" altLang="en-US"/>
          </a:p>
        </p:txBody>
      </p:sp>
    </p:spTree>
    <p:extLst>
      <p:ext uri="{BB962C8B-B14F-4D97-AF65-F5344CB8AC3E}">
        <p14:creationId xmlns:p14="http://schemas.microsoft.com/office/powerpoint/2010/main" val="643205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5AA83-9CE8-90D7-D624-0475EF8BDD1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30CF84C-A15E-2EDC-3F35-F8A637EA9EC8}"/>
              </a:ext>
            </a:extLst>
          </p:cNvPr>
          <p:cNvSpPr>
            <a:spLocks noGrp="1"/>
          </p:cNvSpPr>
          <p:nvPr>
            <p:ph type="title"/>
          </p:nvPr>
        </p:nvSpPr>
        <p:spPr/>
        <p:txBody>
          <a:bodyPr/>
          <a:lstStyle/>
          <a:p>
            <a:r>
              <a:rPr lang="en-US" altLang="zh-TW" dirty="0"/>
              <a:t>I. Introduction </a:t>
            </a:r>
            <a:endParaRPr lang="zh-TW" altLang="en-US" dirty="0"/>
          </a:p>
        </p:txBody>
      </p:sp>
      <p:sp>
        <p:nvSpPr>
          <p:cNvPr id="3" name="投影片編號版面配置區 2">
            <a:extLst>
              <a:ext uri="{FF2B5EF4-FFF2-40B4-BE49-F238E27FC236}">
                <a16:creationId xmlns:a16="http://schemas.microsoft.com/office/drawing/2014/main" id="{E0022DD7-35DC-552E-3DD5-9A21E3B27AF5}"/>
              </a:ext>
            </a:extLst>
          </p:cNvPr>
          <p:cNvSpPr>
            <a:spLocks noGrp="1"/>
          </p:cNvSpPr>
          <p:nvPr>
            <p:ph type="sldNum" sz="quarter" idx="12"/>
          </p:nvPr>
        </p:nvSpPr>
        <p:spPr/>
        <p:txBody>
          <a:bodyPr/>
          <a:lstStyle/>
          <a:p>
            <a:fld id="{3E97B41F-AD73-4999-8C34-7D0FF5EF3CF5}" type="slidenum">
              <a:rPr lang="zh-TW" altLang="en-US" smtClean="0"/>
              <a:t>4</a:t>
            </a:fld>
            <a:endParaRPr lang="zh-TW" altLang="en-US"/>
          </a:p>
        </p:txBody>
      </p:sp>
      <p:sp>
        <p:nvSpPr>
          <p:cNvPr id="5" name="內容版面配置區 4">
            <a:extLst>
              <a:ext uri="{FF2B5EF4-FFF2-40B4-BE49-F238E27FC236}">
                <a16:creationId xmlns:a16="http://schemas.microsoft.com/office/drawing/2014/main" id="{BD23B45B-1BA6-EB56-7AD2-4D97ABE12A08}"/>
              </a:ext>
            </a:extLst>
          </p:cNvPr>
          <p:cNvSpPr>
            <a:spLocks noGrp="1"/>
          </p:cNvSpPr>
          <p:nvPr>
            <p:ph sz="quarter" idx="14"/>
          </p:nvPr>
        </p:nvSpPr>
        <p:spPr/>
        <p:txBody>
          <a:bodyPr/>
          <a:lstStyle/>
          <a:p>
            <a:r>
              <a:rPr lang="en-US" dirty="0"/>
              <a:t>[19] Alexey </a:t>
            </a:r>
            <a:r>
              <a:rPr lang="en-US" dirty="0" err="1"/>
              <a:t>Dosovitskiy</a:t>
            </a:r>
            <a:r>
              <a:rPr lang="en-US" dirty="0"/>
              <a:t>, Lucas Beyer, Alexander Kolesnikov, Dirk Weissenborn, Xiaohua Zhai, Thomas </a:t>
            </a:r>
            <a:r>
              <a:rPr lang="en-US" dirty="0" err="1"/>
              <a:t>Unterthiner</a:t>
            </a:r>
            <a:r>
              <a:rPr lang="en-US" dirty="0"/>
              <a:t>, Mostafa Dehghani, Matthias </a:t>
            </a:r>
            <a:r>
              <a:rPr lang="en-US" dirty="0" err="1"/>
              <a:t>Minderer</a:t>
            </a:r>
            <a:r>
              <a:rPr lang="en-US" dirty="0"/>
              <a:t>, Georg </a:t>
            </a:r>
            <a:r>
              <a:rPr lang="en-US" dirty="0" err="1"/>
              <a:t>Heigold</a:t>
            </a:r>
            <a:r>
              <a:rPr lang="en-US" dirty="0"/>
              <a:t>, Sylvain Gelly, Jakob </a:t>
            </a:r>
            <a:r>
              <a:rPr lang="en-US" dirty="0" err="1"/>
              <a:t>Uszkoreit</a:t>
            </a:r>
            <a:r>
              <a:rPr lang="en-US" dirty="0"/>
              <a:t>, and Neil </a:t>
            </a:r>
            <a:r>
              <a:rPr lang="en-US" dirty="0" err="1"/>
              <a:t>Houlsby</a:t>
            </a:r>
            <a:r>
              <a:rPr lang="en-US" dirty="0"/>
              <a:t>. An image is worth 16x16 words: Transformers for image recognition at scale. In International Conference on Learning Representations, 2021. </a:t>
            </a:r>
          </a:p>
          <a:p>
            <a:r>
              <a:rPr lang="en-US" altLang="zh-TW" dirty="0"/>
              <a:t>[35] </a:t>
            </a:r>
            <a:r>
              <a:rPr lang="en-US" dirty="0"/>
              <a:t>Alex </a:t>
            </a:r>
            <a:r>
              <a:rPr lang="en-US" dirty="0" err="1"/>
              <a:t>Krizhevsky</a:t>
            </a:r>
            <a:r>
              <a:rPr lang="en-US" dirty="0"/>
              <a:t>, Ilya </a:t>
            </a:r>
            <a:r>
              <a:rPr lang="en-US" dirty="0" err="1"/>
              <a:t>Sutskever</a:t>
            </a:r>
            <a:r>
              <a:rPr lang="en-US" dirty="0"/>
              <a:t>, and Geoffrey E Hinton. </a:t>
            </a:r>
            <a:r>
              <a:rPr lang="en-US" dirty="0" err="1"/>
              <a:t>Imagenet</a:t>
            </a:r>
            <a:r>
              <a:rPr lang="en-US" dirty="0"/>
              <a:t> classification with deep convolutional neural networks. In Advances in neural information processing systems, pages 1097–1105, 2012. </a:t>
            </a:r>
            <a:endParaRPr lang="zh-TW" altLang="en-US" dirty="0"/>
          </a:p>
        </p:txBody>
      </p:sp>
      <p:sp>
        <p:nvSpPr>
          <p:cNvPr id="8" name="內容版面配置區 3">
            <a:extLst>
              <a:ext uri="{FF2B5EF4-FFF2-40B4-BE49-F238E27FC236}">
                <a16:creationId xmlns:a16="http://schemas.microsoft.com/office/drawing/2014/main" id="{6B6DA9BA-5C35-CA9B-2EEE-5DCBCFEF157A}"/>
              </a:ext>
            </a:extLst>
          </p:cNvPr>
          <p:cNvSpPr txBox="1">
            <a:spLocks/>
          </p:cNvSpPr>
          <p:nvPr/>
        </p:nvSpPr>
        <p:spPr>
          <a:xfrm>
            <a:off x="838200" y="1097238"/>
            <a:ext cx="9601200" cy="4905375"/>
          </a:xfrm>
          <a:prstGeom prst="rect">
            <a:avLst/>
          </a:prstGeom>
        </p:spPr>
        <p:txBody>
          <a:bodyPr vert="horz" lIns="91440" tIns="45720" rIns="91440" bIns="45720" rtlCol="0">
            <a:normAutofit/>
          </a:bodyPr>
          <a:lstStyle>
            <a:lvl1pPr marL="342900" indent="-342900" algn="just" defTabSz="685800" rtl="0" eaLnBrk="1" latinLnBrk="0" hangingPunct="1">
              <a:lnSpc>
                <a:spcPct val="100000"/>
              </a:lnSpc>
              <a:spcBef>
                <a:spcPts val="1200"/>
              </a:spcBef>
              <a:buFont typeface="Wingdings" panose="05000000000000000000" pitchFamily="2" charset="2"/>
              <a:buChar char="Ø"/>
              <a:defRPr sz="2000" kern="1200">
                <a:solidFill>
                  <a:schemeClr val="tx1"/>
                </a:solidFill>
                <a:latin typeface="+mn-lt"/>
                <a:ea typeface="+mn-ea"/>
                <a:cs typeface="+mn-cs"/>
              </a:defRPr>
            </a:lvl1pPr>
            <a:lvl2pPr marL="571500" indent="-228600" algn="just" defTabSz="6858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914400" indent="-228600" algn="just" defTabSz="685800" rtl="0" eaLnBrk="1" latinLnBrk="0" hangingPunct="1">
              <a:lnSpc>
                <a:spcPct val="90000"/>
              </a:lnSpc>
              <a:spcBef>
                <a:spcPts val="1200"/>
              </a:spcBef>
              <a:buFont typeface="Times New Roman" panose="02020603050405020304" pitchFamily="18" charset="0"/>
              <a:buChar char="‣"/>
              <a:defRPr sz="2000" kern="1200">
                <a:solidFill>
                  <a:schemeClr val="tx1"/>
                </a:solidFill>
                <a:latin typeface="+mn-lt"/>
                <a:ea typeface="+mn-ea"/>
                <a:cs typeface="+mn-cs"/>
              </a:defRPr>
            </a:lvl3pPr>
            <a:lvl4pPr marL="1257300" indent="-228600" algn="just" defTabSz="685800" rtl="0" eaLnBrk="1" latinLnBrk="0" hangingPunct="1">
              <a:lnSpc>
                <a:spcPct val="90000"/>
              </a:lnSpc>
              <a:spcBef>
                <a:spcPts val="1200"/>
              </a:spcBef>
              <a:buFont typeface="Times New Roman" panose="02020603050405020304" pitchFamily="18" charset="0"/>
              <a:buChar char="‣"/>
              <a:defRPr sz="2000" kern="1200">
                <a:solidFill>
                  <a:schemeClr val="tx1"/>
                </a:solidFill>
                <a:latin typeface="+mn-lt"/>
                <a:ea typeface="+mn-ea"/>
                <a:cs typeface="+mn-cs"/>
              </a:defRPr>
            </a:lvl4pPr>
            <a:lvl5pPr marL="1600200" indent="-228600" algn="just" defTabSz="685800" rtl="0" eaLnBrk="1" latinLnBrk="0" hangingPunct="1">
              <a:lnSpc>
                <a:spcPct val="90000"/>
              </a:lnSpc>
              <a:spcBef>
                <a:spcPts val="1200"/>
              </a:spcBef>
              <a:buFont typeface="Times New Roman" panose="02020603050405020304" pitchFamily="18" charset="0"/>
              <a:buChar char="‣"/>
              <a:defRPr sz="20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marL="0" indent="0">
              <a:buNone/>
            </a:pPr>
            <a:r>
              <a:rPr lang="en-US" altLang="zh-TW" sz="1800" dirty="0"/>
              <a:t>Computer vision has long been dominated by Convolutional Neural Networks (CNNs), which have evolved from </a:t>
            </a:r>
            <a:r>
              <a:rPr lang="en-US" altLang="zh-TW" sz="1800" dirty="0" err="1"/>
              <a:t>AlexNet</a:t>
            </a:r>
            <a:r>
              <a:rPr lang="en-TW" sz="1800" dirty="0"/>
              <a:t>[35] </a:t>
            </a:r>
            <a:r>
              <a:rPr lang="en-US" altLang="zh-TW" sz="1800" dirty="0"/>
              <a:t>to become increasingly powerful through greater scale and connectivity. </a:t>
            </a:r>
          </a:p>
          <a:p>
            <a:pPr marL="0" indent="0">
              <a:buNone/>
            </a:pPr>
            <a:r>
              <a:rPr lang="en-US" altLang="zh-TW" sz="1800" dirty="0"/>
              <a:t>In contrast, Natural Language Processing (NLP) has adopted the </a:t>
            </a:r>
            <a:r>
              <a:rPr lang="en-US" altLang="zh-TW" sz="1800" b="1" dirty="0"/>
              <a:t>Transformer architecture</a:t>
            </a:r>
            <a:r>
              <a:rPr lang="en-US" altLang="zh-TW" sz="1800" dirty="0"/>
              <a:t>, utilizing </a:t>
            </a:r>
            <a:r>
              <a:rPr lang="en-US" altLang="zh-TW" sz="1800" b="1" dirty="0"/>
              <a:t>attention</a:t>
            </a:r>
            <a:r>
              <a:rPr lang="en-US" altLang="zh-TW" sz="1800" dirty="0"/>
              <a:t> mechanisms to model </a:t>
            </a:r>
            <a:r>
              <a:rPr lang="en-US" altLang="zh-TW" sz="1800" b="1" dirty="0"/>
              <a:t>long-range dependencies</a:t>
            </a:r>
            <a:r>
              <a:rPr lang="en-US" altLang="zh-TW" sz="1800" dirty="0"/>
              <a:t>. Inspired by the success of Transformers in the language domain, researchers are now actively investigating their adaptation to computer vision, where they have demonstrated promising results in tasks such as image classification[19].</a:t>
            </a:r>
          </a:p>
          <a:p>
            <a:pPr marL="0" indent="0">
              <a:buNone/>
            </a:pPr>
            <a:endParaRPr lang="en-US" altLang="zh-TW" sz="1800" dirty="0"/>
          </a:p>
        </p:txBody>
      </p:sp>
    </p:spTree>
    <p:extLst>
      <p:ext uri="{BB962C8B-B14F-4D97-AF65-F5344CB8AC3E}">
        <p14:creationId xmlns:p14="http://schemas.microsoft.com/office/powerpoint/2010/main" val="119665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C891A-A993-7B75-3250-173BEC7197E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CD4DE49-55A7-BCA9-7F14-5473B4DA499A}"/>
              </a:ext>
            </a:extLst>
          </p:cNvPr>
          <p:cNvSpPr>
            <a:spLocks noGrp="1"/>
          </p:cNvSpPr>
          <p:nvPr>
            <p:ph type="title"/>
          </p:nvPr>
        </p:nvSpPr>
        <p:spPr/>
        <p:txBody>
          <a:bodyPr/>
          <a:lstStyle/>
          <a:p>
            <a:r>
              <a:rPr lang="en-US" altLang="zh-TW" dirty="0"/>
              <a:t>I. Introduction </a:t>
            </a:r>
            <a:endParaRPr lang="zh-TW" altLang="en-US" dirty="0"/>
          </a:p>
        </p:txBody>
      </p:sp>
      <p:sp>
        <p:nvSpPr>
          <p:cNvPr id="3" name="投影片編號版面配置區 2">
            <a:extLst>
              <a:ext uri="{FF2B5EF4-FFF2-40B4-BE49-F238E27FC236}">
                <a16:creationId xmlns:a16="http://schemas.microsoft.com/office/drawing/2014/main" id="{950A09F0-E8C1-94EE-67F3-D12AD4623D55}"/>
              </a:ext>
            </a:extLst>
          </p:cNvPr>
          <p:cNvSpPr>
            <a:spLocks noGrp="1"/>
          </p:cNvSpPr>
          <p:nvPr>
            <p:ph type="sldNum" sz="quarter" idx="12"/>
          </p:nvPr>
        </p:nvSpPr>
        <p:spPr/>
        <p:txBody>
          <a:bodyPr/>
          <a:lstStyle/>
          <a:p>
            <a:fld id="{3E97B41F-AD73-4999-8C34-7D0FF5EF3CF5}" type="slidenum">
              <a:rPr lang="zh-TW" altLang="en-US" smtClean="0"/>
              <a:t>5</a:t>
            </a:fld>
            <a:endParaRPr lang="zh-TW" altLang="en-US"/>
          </a:p>
        </p:txBody>
      </p:sp>
      <p:sp>
        <p:nvSpPr>
          <p:cNvPr id="5" name="內容版面配置區 4">
            <a:extLst>
              <a:ext uri="{FF2B5EF4-FFF2-40B4-BE49-F238E27FC236}">
                <a16:creationId xmlns:a16="http://schemas.microsoft.com/office/drawing/2014/main" id="{E2FB10ED-15C2-A77C-581B-E7BAF5340B58}"/>
              </a:ext>
            </a:extLst>
          </p:cNvPr>
          <p:cNvSpPr>
            <a:spLocks noGrp="1"/>
          </p:cNvSpPr>
          <p:nvPr>
            <p:ph sz="quarter" idx="14"/>
          </p:nvPr>
        </p:nvSpPr>
        <p:spPr/>
        <p:txBody>
          <a:bodyPr/>
          <a:lstStyle/>
          <a:p>
            <a:r>
              <a:rPr lang="en-US" dirty="0"/>
              <a:t>[19] Alexey </a:t>
            </a:r>
            <a:r>
              <a:rPr lang="en-US" dirty="0" err="1"/>
              <a:t>Dosovitskiy</a:t>
            </a:r>
            <a:r>
              <a:rPr lang="en-US" dirty="0"/>
              <a:t>, Lucas Beyer, Alexander Kolesnikov, Dirk Weissenborn, Xiaohua Zhai, Thomas </a:t>
            </a:r>
            <a:r>
              <a:rPr lang="en-US" dirty="0" err="1"/>
              <a:t>Unterthiner</a:t>
            </a:r>
            <a:r>
              <a:rPr lang="en-US" dirty="0"/>
              <a:t>, Mostafa Dehghani, Matthias </a:t>
            </a:r>
            <a:r>
              <a:rPr lang="en-US" dirty="0" err="1"/>
              <a:t>Minderer</a:t>
            </a:r>
            <a:r>
              <a:rPr lang="en-US" dirty="0"/>
              <a:t>, Georg </a:t>
            </a:r>
            <a:r>
              <a:rPr lang="en-US" dirty="0" err="1"/>
              <a:t>Heigold</a:t>
            </a:r>
            <a:r>
              <a:rPr lang="en-US" dirty="0"/>
              <a:t>, Sylvain Gelly, Jakob </a:t>
            </a:r>
            <a:r>
              <a:rPr lang="en-US" dirty="0" err="1"/>
              <a:t>Uszkoreit</a:t>
            </a:r>
            <a:r>
              <a:rPr lang="en-US" dirty="0"/>
              <a:t>, and Neil </a:t>
            </a:r>
            <a:r>
              <a:rPr lang="en-US" dirty="0" err="1"/>
              <a:t>Houlsby</a:t>
            </a:r>
            <a:r>
              <a:rPr lang="en-US" dirty="0"/>
              <a:t>. An image is worth 16x16 words: Transformers for image recognition at scale. In International Conference on Learning Representations, 2021. </a:t>
            </a:r>
          </a:p>
          <a:p>
            <a:r>
              <a:rPr lang="en-US" dirty="0"/>
              <a:t>[58] Ashish Vaswani, Noam </a:t>
            </a:r>
            <a:r>
              <a:rPr lang="en-US" dirty="0" err="1"/>
              <a:t>Shazeer</a:t>
            </a:r>
            <a:r>
              <a:rPr lang="en-US" dirty="0"/>
              <a:t>, Niki Parmar, Jakob </a:t>
            </a:r>
            <a:r>
              <a:rPr lang="en-US" dirty="0" err="1"/>
              <a:t>Uszkoreit</a:t>
            </a:r>
            <a:r>
              <a:rPr lang="en-US" dirty="0"/>
              <a:t>, Llion Jones, Aidan N Gomez, Łukasz Kaiser, and Illia </a:t>
            </a:r>
            <a:r>
              <a:rPr lang="en-US" dirty="0" err="1"/>
              <a:t>Polosukhin</a:t>
            </a:r>
            <a:r>
              <a:rPr lang="en-US" dirty="0"/>
              <a:t>. Attention is all you need. In Advances in Neural Information Processing Systems, pages 5998–6008, 2017.</a:t>
            </a:r>
          </a:p>
        </p:txBody>
      </p:sp>
      <p:sp>
        <p:nvSpPr>
          <p:cNvPr id="8" name="文字方塊 7">
            <a:extLst>
              <a:ext uri="{FF2B5EF4-FFF2-40B4-BE49-F238E27FC236}">
                <a16:creationId xmlns:a16="http://schemas.microsoft.com/office/drawing/2014/main" id="{8C1F9BDE-6594-DCB2-D939-262B83B82241}"/>
              </a:ext>
            </a:extLst>
          </p:cNvPr>
          <p:cNvSpPr txBox="1"/>
          <p:nvPr/>
        </p:nvSpPr>
        <p:spPr>
          <a:xfrm>
            <a:off x="838200" y="1097238"/>
            <a:ext cx="9601200" cy="5355312"/>
          </a:xfrm>
          <a:prstGeom prst="rect">
            <a:avLst/>
          </a:prstGeom>
          <a:noFill/>
        </p:spPr>
        <p:txBody>
          <a:bodyPr wrap="square">
            <a:spAutoFit/>
          </a:bodyPr>
          <a:lstStyle/>
          <a:p>
            <a:pPr algn="just"/>
            <a:r>
              <a:rPr lang="en-US" altLang="zh-TW" dirty="0"/>
              <a:t>In existing Transformer-based models [58, 19], tokens are </a:t>
            </a:r>
            <a:r>
              <a:rPr lang="en-US" altLang="zh-TW" b="1" dirty="0"/>
              <a:t>all of a fixed scale</a:t>
            </a:r>
            <a:r>
              <a:rPr lang="en-US" altLang="zh-TW" dirty="0"/>
              <a:t>, a property unsuitable for these vision applications. Another difference is the much higher resolution of pixels in images compared to words in passages of text. There exist many vision tasks such as semantic segmentation that require dense prediction at the pixel level, and this would be intractable for Transformer on high-resolution images, as the computational complexity of its self-attention is quadratic to image size. </a:t>
            </a:r>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endParaRPr lang="en-US" altLang="zh-TW" dirty="0"/>
          </a:p>
          <a:p>
            <a:pPr algn="just"/>
            <a:r>
              <a:rPr lang="en-US" altLang="zh-TW" dirty="0"/>
              <a:t>To overcome these issues, this paper proposed a general-purpose Transformer backbone, called </a:t>
            </a:r>
            <a:r>
              <a:rPr lang="en-US" altLang="zh-TW" b="1" dirty="0"/>
              <a:t>Swin Transformer</a:t>
            </a:r>
            <a:r>
              <a:rPr lang="en-US" altLang="zh-TW" dirty="0"/>
              <a:t>, which constructs hierarchical feature maps and has linear computational complexity to image size. </a:t>
            </a:r>
            <a:endParaRPr lang="zh-TW" altLang="en-US" dirty="0"/>
          </a:p>
          <a:p>
            <a:pPr algn="just"/>
            <a:endParaRPr lang="en-US" altLang="zh-TW" dirty="0"/>
          </a:p>
        </p:txBody>
      </p:sp>
      <p:pic>
        <p:nvPicPr>
          <p:cNvPr id="6" name="圖片 5" descr="一張含有 螢幕擷取畫面, 行, 太陽能電池, 日光的、太陽能的 的圖片&#10;&#10;AI 產生的內容可能不正確。">
            <a:extLst>
              <a:ext uri="{FF2B5EF4-FFF2-40B4-BE49-F238E27FC236}">
                <a16:creationId xmlns:a16="http://schemas.microsoft.com/office/drawing/2014/main" id="{3A29FE55-2097-BFB8-35E5-D967DB1243CB}"/>
              </a:ext>
            </a:extLst>
          </p:cNvPr>
          <p:cNvPicPr>
            <a:picLocks noChangeAspect="1"/>
          </p:cNvPicPr>
          <p:nvPr/>
        </p:nvPicPr>
        <p:blipFill>
          <a:blip r:embed="rId3"/>
          <a:stretch>
            <a:fillRect/>
          </a:stretch>
        </p:blipFill>
        <p:spPr>
          <a:xfrm>
            <a:off x="3395785" y="2563809"/>
            <a:ext cx="4428431" cy="2599862"/>
          </a:xfrm>
          <a:prstGeom prst="rect">
            <a:avLst/>
          </a:prstGeom>
        </p:spPr>
      </p:pic>
    </p:spTree>
    <p:extLst>
      <p:ext uri="{BB962C8B-B14F-4D97-AF65-F5344CB8AC3E}">
        <p14:creationId xmlns:p14="http://schemas.microsoft.com/office/powerpoint/2010/main" val="807871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BC6D-27B5-1C27-A940-FE8CFF5C389D}"/>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0CCE186-BEE4-C18A-FDF1-1A37B4E580E9}"/>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047B9CB9-64DE-7F32-0731-9EAE99B362BE}"/>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628241AB-A38C-6077-E3DD-88FB79B88683}"/>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b="1"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AutoNum type="romanUcPeriod"/>
            </a:pPr>
            <a:r>
              <a:rPr lang="en-US" altLang="zh-TW" sz="2800" dirty="0"/>
              <a:t>Experiment</a:t>
            </a:r>
          </a:p>
          <a:p>
            <a:pPr marL="571500" indent="-571500">
              <a:lnSpc>
                <a:spcPct val="150000"/>
              </a:lnSpc>
              <a:buAutoNum type="romanUcPeriod"/>
            </a:pPr>
            <a:r>
              <a:rPr lang="en-US" altLang="zh-TW" sz="2800" dirty="0"/>
              <a:t>Conclusion</a:t>
            </a:r>
            <a:endParaRPr lang="zh-TW" altLang="en-US" dirty="0"/>
          </a:p>
        </p:txBody>
      </p:sp>
      <p:sp>
        <p:nvSpPr>
          <p:cNvPr id="8" name="投影片編號版面配置區 7">
            <a:extLst>
              <a:ext uri="{FF2B5EF4-FFF2-40B4-BE49-F238E27FC236}">
                <a16:creationId xmlns:a16="http://schemas.microsoft.com/office/drawing/2014/main" id="{E9C761D9-05EB-D02B-75E5-1866EF84C650}"/>
              </a:ext>
            </a:extLst>
          </p:cNvPr>
          <p:cNvSpPr>
            <a:spLocks noGrp="1"/>
          </p:cNvSpPr>
          <p:nvPr>
            <p:ph type="sldNum" sz="quarter" idx="12"/>
          </p:nvPr>
        </p:nvSpPr>
        <p:spPr/>
        <p:txBody>
          <a:bodyPr/>
          <a:lstStyle/>
          <a:p>
            <a:fld id="{3E97B41F-AD73-4999-8C34-7D0FF5EF3CF5}" type="slidenum">
              <a:rPr lang="zh-TW" altLang="en-US" smtClean="0"/>
              <a:t>6</a:t>
            </a:fld>
            <a:endParaRPr lang="zh-TW" altLang="en-US"/>
          </a:p>
        </p:txBody>
      </p:sp>
    </p:spTree>
    <p:extLst>
      <p:ext uri="{BB962C8B-B14F-4D97-AF65-F5344CB8AC3E}">
        <p14:creationId xmlns:p14="http://schemas.microsoft.com/office/powerpoint/2010/main" val="2020610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42EEB-C0AC-3B0B-0CF3-D08C1BA8350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FFD9AAA-9400-47F1-0CE9-52BD748011F9}"/>
              </a:ext>
            </a:extLst>
          </p:cNvPr>
          <p:cNvSpPr>
            <a:spLocks noGrp="1"/>
          </p:cNvSpPr>
          <p:nvPr>
            <p:ph type="title"/>
          </p:nvPr>
        </p:nvSpPr>
        <p:spPr/>
        <p:txBody>
          <a:bodyPr/>
          <a:lstStyle/>
          <a:p>
            <a:r>
              <a:rPr lang="en-US" altLang="zh-TW" dirty="0"/>
              <a:t>II. Related Work</a:t>
            </a:r>
            <a:endParaRPr lang="zh-TW" altLang="en-US" dirty="0"/>
          </a:p>
        </p:txBody>
      </p:sp>
      <p:sp>
        <p:nvSpPr>
          <p:cNvPr id="3" name="投影片編號版面配置區 2">
            <a:extLst>
              <a:ext uri="{FF2B5EF4-FFF2-40B4-BE49-F238E27FC236}">
                <a16:creationId xmlns:a16="http://schemas.microsoft.com/office/drawing/2014/main" id="{7C15433E-2045-A2B4-1778-3DD9589C7DDE}"/>
              </a:ext>
            </a:extLst>
          </p:cNvPr>
          <p:cNvSpPr>
            <a:spLocks noGrp="1"/>
          </p:cNvSpPr>
          <p:nvPr>
            <p:ph type="sldNum" sz="quarter" idx="12"/>
          </p:nvPr>
        </p:nvSpPr>
        <p:spPr/>
        <p:txBody>
          <a:bodyPr/>
          <a:lstStyle/>
          <a:p>
            <a:fld id="{3E97B41F-AD73-4999-8C34-7D0FF5EF3CF5}" type="slidenum">
              <a:rPr lang="zh-TW" altLang="en-US" smtClean="0"/>
              <a:t>7</a:t>
            </a:fld>
            <a:endParaRPr lang="zh-TW" altLang="en-US"/>
          </a:p>
        </p:txBody>
      </p:sp>
      <p:sp>
        <p:nvSpPr>
          <p:cNvPr id="5" name="內容版面配置區 4">
            <a:extLst>
              <a:ext uri="{FF2B5EF4-FFF2-40B4-BE49-F238E27FC236}">
                <a16:creationId xmlns:a16="http://schemas.microsoft.com/office/drawing/2014/main" id="{4A50366B-3CEB-944A-3022-07FFE878DAA4}"/>
              </a:ext>
            </a:extLst>
          </p:cNvPr>
          <p:cNvSpPr>
            <a:spLocks noGrp="1"/>
          </p:cNvSpPr>
          <p:nvPr>
            <p:ph sz="quarter" idx="14"/>
          </p:nvPr>
        </p:nvSpPr>
        <p:spPr/>
        <p:txBody>
          <a:bodyPr/>
          <a:lstStyle/>
          <a:p>
            <a:endParaRPr lang="zh-TW" altLang="en-US" dirty="0"/>
          </a:p>
        </p:txBody>
      </p:sp>
      <p:sp>
        <p:nvSpPr>
          <p:cNvPr id="8" name="內容版面配置區 7">
            <a:extLst>
              <a:ext uri="{FF2B5EF4-FFF2-40B4-BE49-F238E27FC236}">
                <a16:creationId xmlns:a16="http://schemas.microsoft.com/office/drawing/2014/main" id="{04CF8465-EB34-709B-4A75-15BFC755E24F}"/>
              </a:ext>
            </a:extLst>
          </p:cNvPr>
          <p:cNvSpPr>
            <a:spLocks noGrp="1"/>
          </p:cNvSpPr>
          <p:nvPr>
            <p:ph sz="quarter" idx="13"/>
          </p:nvPr>
        </p:nvSpPr>
        <p:spPr/>
        <p:txBody>
          <a:bodyPr/>
          <a:lstStyle/>
          <a:p>
            <a:r>
              <a:rPr lang="en-US" altLang="zh-TW" b="1" dirty="0"/>
              <a:t>CNN and variants</a:t>
            </a:r>
            <a:r>
              <a:rPr lang="zh-TW" altLang="en-US" b="1" dirty="0"/>
              <a:t> </a:t>
            </a:r>
            <a:r>
              <a:rPr lang="en-US" altLang="zh-TW" b="1" dirty="0"/>
              <a:t>									          </a:t>
            </a:r>
            <a:r>
              <a:rPr lang="en-US" altLang="zh-TW" sz="1800" dirty="0"/>
              <a:t>While Convolutional Neural Networks (CNNs) have long served as the standard backbone in computer vision through evolving architectures like </a:t>
            </a:r>
            <a:r>
              <a:rPr lang="en-US" altLang="zh-TW" sz="1800" dirty="0" err="1"/>
              <a:t>AlexNet</a:t>
            </a:r>
            <a:r>
              <a:rPr lang="en-US" altLang="zh-TW" sz="1800" dirty="0"/>
              <a:t> and </a:t>
            </a:r>
            <a:r>
              <a:rPr lang="en-US" altLang="zh-TW" sz="1800" dirty="0" err="1"/>
              <a:t>ResNet</a:t>
            </a:r>
            <a:r>
              <a:rPr lang="en-US" altLang="zh-TW" sz="1800" dirty="0"/>
              <a:t>, recent studies highlight the strong potential of Transformer-like architectures as general-purpose backbones. </a:t>
            </a:r>
          </a:p>
          <a:p>
            <a:r>
              <a:rPr lang="en-US" altLang="zh-TW" b="1" dirty="0"/>
              <a:t>Self-attention based backbone architectures					       </a:t>
            </a:r>
            <a:r>
              <a:rPr lang="en-US" altLang="zh-TW" sz="1800" dirty="0"/>
              <a:t>Inspired by the success of Transformers in NLP, prior works attempted to replace spatial convolutions in architectures with local self-attention layers (Sliding Window). Although these methods achieved slightly better accuracy-FLOPs trade-offs, their costly memory access </a:t>
            </a:r>
            <a:r>
              <a:rPr lang="en-US" altLang="zh-TW" sz="1800" b="1" dirty="0"/>
              <a:t>resulted in significantly higher latency</a:t>
            </a:r>
            <a:r>
              <a:rPr lang="en-US" altLang="zh-TW" sz="1800" dirty="0"/>
              <a:t> compared to convolutional networks. To address this bottleneck, this paper propose a </a:t>
            </a:r>
            <a:r>
              <a:rPr lang="en-US" altLang="zh-TW" sz="1800" b="1" dirty="0"/>
              <a:t>shifted window strategy</a:t>
            </a:r>
            <a:r>
              <a:rPr lang="en-US" altLang="zh-TW" sz="1800" dirty="0"/>
              <a:t> to replace sliding windows, which allowing for a much more efficient implementation on general hardware.</a:t>
            </a:r>
            <a:endParaRPr lang="zh-TW" altLang="en-US" sz="1800" dirty="0"/>
          </a:p>
        </p:txBody>
      </p:sp>
    </p:spTree>
    <p:extLst>
      <p:ext uri="{BB962C8B-B14F-4D97-AF65-F5344CB8AC3E}">
        <p14:creationId xmlns:p14="http://schemas.microsoft.com/office/powerpoint/2010/main" val="1057561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B3082-3335-7FEC-A557-4A41A5A9A37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B9010CF-6FD0-27E9-590A-672020F1724B}"/>
              </a:ext>
            </a:extLst>
          </p:cNvPr>
          <p:cNvSpPr>
            <a:spLocks noGrp="1"/>
          </p:cNvSpPr>
          <p:nvPr>
            <p:ph type="title"/>
          </p:nvPr>
        </p:nvSpPr>
        <p:spPr/>
        <p:txBody>
          <a:bodyPr/>
          <a:lstStyle/>
          <a:p>
            <a:r>
              <a:rPr lang="en-US" altLang="zh-TW" dirty="0"/>
              <a:t>II. Related Work</a:t>
            </a:r>
            <a:endParaRPr lang="zh-TW" altLang="en-US" dirty="0"/>
          </a:p>
        </p:txBody>
      </p:sp>
      <p:sp>
        <p:nvSpPr>
          <p:cNvPr id="3" name="投影片編號版面配置區 2">
            <a:extLst>
              <a:ext uri="{FF2B5EF4-FFF2-40B4-BE49-F238E27FC236}">
                <a16:creationId xmlns:a16="http://schemas.microsoft.com/office/drawing/2014/main" id="{36098343-A095-8C53-B5BB-3D34221346C4}"/>
              </a:ext>
            </a:extLst>
          </p:cNvPr>
          <p:cNvSpPr>
            <a:spLocks noGrp="1"/>
          </p:cNvSpPr>
          <p:nvPr>
            <p:ph type="sldNum" sz="quarter" idx="12"/>
          </p:nvPr>
        </p:nvSpPr>
        <p:spPr/>
        <p:txBody>
          <a:bodyPr/>
          <a:lstStyle/>
          <a:p>
            <a:fld id="{3E97B41F-AD73-4999-8C34-7D0FF5EF3CF5}" type="slidenum">
              <a:rPr lang="zh-TW" altLang="en-US" smtClean="0"/>
              <a:t>8</a:t>
            </a:fld>
            <a:endParaRPr lang="zh-TW" altLang="en-US"/>
          </a:p>
        </p:txBody>
      </p:sp>
      <p:sp>
        <p:nvSpPr>
          <p:cNvPr id="5" name="內容版面配置區 4">
            <a:extLst>
              <a:ext uri="{FF2B5EF4-FFF2-40B4-BE49-F238E27FC236}">
                <a16:creationId xmlns:a16="http://schemas.microsoft.com/office/drawing/2014/main" id="{F7D5E218-F879-7F8D-FDF4-D78A9A1D51CB}"/>
              </a:ext>
            </a:extLst>
          </p:cNvPr>
          <p:cNvSpPr>
            <a:spLocks noGrp="1"/>
          </p:cNvSpPr>
          <p:nvPr>
            <p:ph sz="quarter" idx="14"/>
          </p:nvPr>
        </p:nvSpPr>
        <p:spPr/>
        <p:txBody>
          <a:bodyPr/>
          <a:lstStyle/>
          <a:p>
            <a:r>
              <a:rPr lang="en-US" altLang="zh-TW" dirty="0"/>
              <a:t>[24] Jiayuan Gu, Han Hu, Liwei Wang, Yichen Wei, and </a:t>
            </a:r>
            <a:r>
              <a:rPr lang="en-US" altLang="zh-TW" dirty="0" err="1"/>
              <a:t>Jifeng</a:t>
            </a:r>
            <a:r>
              <a:rPr lang="en-US" altLang="zh-TW" dirty="0"/>
              <a:t> Dai. Learning region features for object detection. In </a:t>
            </a:r>
            <a:r>
              <a:rPr lang="en-US" altLang="zh-TW" dirty="0" err="1"/>
              <a:t>Proceedings</a:t>
            </a:r>
            <a:r>
              <a:rPr lang="en-US" altLang="zh-TW" dirty="0"/>
              <a:t> of the European Conference on Computer Vision (ECCV), 2018</a:t>
            </a:r>
          </a:p>
          <a:p>
            <a:r>
              <a:rPr lang="en-US" altLang="zh-TW" dirty="0"/>
              <a:t>[29] Han Hu, Jiayuan Gu, Zheng Zhang, </a:t>
            </a:r>
            <a:r>
              <a:rPr lang="en-US" altLang="zh-TW" dirty="0" err="1"/>
              <a:t>Jifeng</a:t>
            </a:r>
            <a:r>
              <a:rPr lang="en-US" altLang="zh-TW" dirty="0"/>
              <a:t> Dai, and Yichen Wei. Relation networks for object detection. In </a:t>
            </a:r>
            <a:r>
              <a:rPr lang="en-US" altLang="zh-TW" dirty="0" err="1"/>
              <a:t>Proceedings</a:t>
            </a:r>
            <a:r>
              <a:rPr lang="en-US" altLang="zh-TW" dirty="0"/>
              <a:t> of the IEEE Conference on Computer Vision and Pattern Recognition, pages 3588–3597, 2018..</a:t>
            </a:r>
            <a:endParaRPr lang="zh-TW" altLang="en-US" dirty="0"/>
          </a:p>
        </p:txBody>
      </p:sp>
      <p:sp>
        <p:nvSpPr>
          <p:cNvPr id="8" name="內容版面配置區 7">
            <a:extLst>
              <a:ext uri="{FF2B5EF4-FFF2-40B4-BE49-F238E27FC236}">
                <a16:creationId xmlns:a16="http://schemas.microsoft.com/office/drawing/2014/main" id="{BF8C1541-C40A-A19B-CAF7-FA5DD4B6BAD5}"/>
              </a:ext>
            </a:extLst>
          </p:cNvPr>
          <p:cNvSpPr>
            <a:spLocks noGrp="1"/>
          </p:cNvSpPr>
          <p:nvPr>
            <p:ph sz="quarter" idx="13"/>
          </p:nvPr>
        </p:nvSpPr>
        <p:spPr/>
        <p:txBody>
          <a:bodyPr/>
          <a:lstStyle/>
          <a:p>
            <a:r>
              <a:rPr lang="en-US" altLang="zh-TW" b="1" dirty="0"/>
              <a:t>Self-attention/Transformers to </a:t>
            </a:r>
            <a:r>
              <a:rPr lang="en-US" altLang="zh-TW" b="1" dirty="0" err="1"/>
              <a:t>complment</a:t>
            </a:r>
            <a:r>
              <a:rPr lang="en-US" altLang="zh-TW" b="1" dirty="0"/>
              <a:t> CNNs				       </a:t>
            </a:r>
            <a:r>
              <a:rPr lang="en-US" altLang="zh-TW" sz="1800" dirty="0"/>
              <a:t>Another line of research augments standard CNN architectures with self-attention layers or utilizes Transformers within detection heads[29, 24] to model distant dependencies. Unlike these hybrid methods</a:t>
            </a:r>
            <a:r>
              <a:rPr lang="en-US" altLang="zh-TW" sz="1800" b="1" dirty="0"/>
              <a:t>, this paper explores adapting Transformers for basic visual feature extraction, </a:t>
            </a:r>
            <a:r>
              <a:rPr lang="en-US" altLang="zh-TW" sz="1800" dirty="0"/>
              <a:t>making Swin Transformer complementary to these existing works.</a:t>
            </a:r>
          </a:p>
          <a:p>
            <a:r>
              <a:rPr lang="en-US" altLang="zh-TW" b="1" dirty="0"/>
              <a:t>Transformer based vision backbones							   </a:t>
            </a:r>
            <a:r>
              <a:rPr lang="en-US" altLang="zh-TW" sz="1800" dirty="0"/>
              <a:t>While the Vision Transformer (</a:t>
            </a:r>
            <a:r>
              <a:rPr lang="en-US" altLang="zh-TW" sz="1800" dirty="0" err="1"/>
              <a:t>ViT</a:t>
            </a:r>
            <a:r>
              <a:rPr lang="en-US" altLang="zh-TW" sz="1800" dirty="0"/>
              <a:t>)[19] and </a:t>
            </a:r>
            <a:r>
              <a:rPr lang="en-US" altLang="zh-TW" sz="1800" dirty="0" err="1"/>
              <a:t>DeiT</a:t>
            </a:r>
            <a:r>
              <a:rPr lang="en-US" altLang="zh-TW" sz="1800" dirty="0"/>
              <a:t>[57] demonstrated the efficacy of Transformers for </a:t>
            </a:r>
            <a:r>
              <a:rPr lang="en-US" altLang="zh-TW" sz="1800" b="1" dirty="0"/>
              <a:t>image classification</a:t>
            </a:r>
            <a:r>
              <a:rPr lang="en-US" altLang="zh-TW" sz="1800" dirty="0"/>
              <a:t>, their utility as general-purpose backbones for </a:t>
            </a:r>
            <a:r>
              <a:rPr lang="en-US" altLang="zh-TW" sz="1800" b="1" dirty="0"/>
              <a:t>dense vision tasks </a:t>
            </a:r>
            <a:r>
              <a:rPr lang="en-US" altLang="zh-TW" sz="1800" dirty="0"/>
              <a:t>is hindered by </a:t>
            </a:r>
            <a:r>
              <a:rPr lang="en-US" altLang="zh-TW" sz="1800" b="1" dirty="0"/>
              <a:t>low-resolution feature maps and quadratic computational complexity</a:t>
            </a:r>
            <a:r>
              <a:rPr lang="en-US" altLang="zh-TW" sz="1800" dirty="0"/>
              <a:t>. Conversely, the Swin Transformer addresses these limitations by constructing hierarchical feature maps with linear complexity through local operations, thereby achieving state-of-the-art performance on benchmarks such as COCO object detection and ADE20K semantic segmentation.</a:t>
            </a:r>
            <a:endParaRPr lang="en-US" altLang="zh-TW" sz="1800" b="1" dirty="0"/>
          </a:p>
        </p:txBody>
      </p:sp>
    </p:spTree>
    <p:extLst>
      <p:ext uri="{BB962C8B-B14F-4D97-AF65-F5344CB8AC3E}">
        <p14:creationId xmlns:p14="http://schemas.microsoft.com/office/powerpoint/2010/main" val="293450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4535C-F239-CAD2-610B-245B5186F4F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6F63FA7-D9A5-ADF6-82A1-D1E5B8FA09E5}"/>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24274455-12F0-EDDB-505B-758C1AC201DA}"/>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EF07BC75-40B9-3D25-A246-39A5606A8FE0}"/>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b="1" dirty="0"/>
              <a:t>Method</a:t>
            </a:r>
          </a:p>
          <a:p>
            <a:pPr marL="571500" indent="-571500">
              <a:lnSpc>
                <a:spcPct val="150000"/>
              </a:lnSpc>
              <a:buAutoNum type="romanUcPeriod"/>
            </a:pPr>
            <a:r>
              <a:rPr lang="en-US" altLang="zh-TW" sz="2800" dirty="0"/>
              <a:t>Experiment</a:t>
            </a:r>
          </a:p>
          <a:p>
            <a:pPr marL="571500" indent="-571500">
              <a:lnSpc>
                <a:spcPct val="150000"/>
              </a:lnSpc>
              <a:buAutoNum type="romanUcPeriod"/>
            </a:pPr>
            <a:r>
              <a:rPr lang="en-US" altLang="zh-TW" sz="2800" dirty="0"/>
              <a:t>Conclusion</a:t>
            </a:r>
            <a:endParaRPr lang="zh-TW" altLang="en-US" dirty="0"/>
          </a:p>
        </p:txBody>
      </p:sp>
      <p:sp>
        <p:nvSpPr>
          <p:cNvPr id="8" name="投影片編號版面配置區 7">
            <a:extLst>
              <a:ext uri="{FF2B5EF4-FFF2-40B4-BE49-F238E27FC236}">
                <a16:creationId xmlns:a16="http://schemas.microsoft.com/office/drawing/2014/main" id="{BB3D7E07-CDFC-B49A-375A-EF258D3F8ADD}"/>
              </a:ext>
            </a:extLst>
          </p:cNvPr>
          <p:cNvSpPr>
            <a:spLocks noGrp="1"/>
          </p:cNvSpPr>
          <p:nvPr>
            <p:ph type="sldNum" sz="quarter" idx="12"/>
          </p:nvPr>
        </p:nvSpPr>
        <p:spPr/>
        <p:txBody>
          <a:bodyPr/>
          <a:lstStyle/>
          <a:p>
            <a:fld id="{3E97B41F-AD73-4999-8C34-7D0FF5EF3CF5}" type="slidenum">
              <a:rPr lang="zh-TW" altLang="en-US" smtClean="0"/>
              <a:t>9</a:t>
            </a:fld>
            <a:endParaRPr lang="zh-TW" altLang="en-US"/>
          </a:p>
        </p:txBody>
      </p:sp>
    </p:spTree>
    <p:extLst>
      <p:ext uri="{BB962C8B-B14F-4D97-AF65-F5344CB8AC3E}">
        <p14:creationId xmlns:p14="http://schemas.microsoft.com/office/powerpoint/2010/main" val="35651000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EB82-5917-5F19-5829-CE7EDEEB964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009649C-9158-B4AE-B338-EBB8F4B05747}"/>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A00CDCD6-8396-6D25-729B-2ECB8BF32CEC}"/>
              </a:ext>
            </a:extLst>
          </p:cNvPr>
          <p:cNvSpPr>
            <a:spLocks noGrp="1"/>
          </p:cNvSpPr>
          <p:nvPr>
            <p:ph type="sldNum" sz="quarter" idx="12"/>
          </p:nvPr>
        </p:nvSpPr>
        <p:spPr/>
        <p:txBody>
          <a:bodyPr/>
          <a:lstStyle/>
          <a:p>
            <a:fld id="{3E97B41F-AD73-4999-8C34-7D0FF5EF3CF5}" type="slidenum">
              <a:rPr lang="zh-TW" altLang="en-US" smtClean="0"/>
              <a:t>10</a:t>
            </a:fld>
            <a:endParaRPr lang="zh-TW" altLang="en-US"/>
          </a:p>
        </p:txBody>
      </p:sp>
      <p:sp>
        <p:nvSpPr>
          <p:cNvPr id="5" name="內容版面配置區 4">
            <a:extLst>
              <a:ext uri="{FF2B5EF4-FFF2-40B4-BE49-F238E27FC236}">
                <a16:creationId xmlns:a16="http://schemas.microsoft.com/office/drawing/2014/main" id="{B626F4F6-4C55-D14F-8E3E-6C287C728863}"/>
              </a:ext>
            </a:extLst>
          </p:cNvPr>
          <p:cNvSpPr>
            <a:spLocks noGrp="1"/>
          </p:cNvSpPr>
          <p:nvPr>
            <p:ph sz="quarter" idx="14"/>
          </p:nvPr>
        </p:nvSpPr>
        <p:spPr/>
        <p:txBody>
          <a:bodyPr/>
          <a:lstStyle/>
          <a:p>
            <a:endParaRPr lang="zh-TW" altLang="en-US" dirty="0"/>
          </a:p>
        </p:txBody>
      </p:sp>
      <p:sp>
        <p:nvSpPr>
          <p:cNvPr id="6" name="內容版面配置區 7">
            <a:extLst>
              <a:ext uri="{FF2B5EF4-FFF2-40B4-BE49-F238E27FC236}">
                <a16:creationId xmlns:a16="http://schemas.microsoft.com/office/drawing/2014/main" id="{9436EDAC-3394-8FCA-194C-D0FE3C613F22}"/>
              </a:ext>
            </a:extLst>
          </p:cNvPr>
          <p:cNvSpPr>
            <a:spLocks noGrp="1"/>
          </p:cNvSpPr>
          <p:nvPr>
            <p:ph sz="quarter" idx="13"/>
          </p:nvPr>
        </p:nvSpPr>
        <p:spPr>
          <a:xfrm>
            <a:off x="838200" y="1298575"/>
            <a:ext cx="9601200" cy="4905375"/>
          </a:xfrm>
        </p:spPr>
        <p:txBody>
          <a:bodyPr/>
          <a:lstStyle/>
          <a:p>
            <a:pPr marL="457200" indent="-457200">
              <a:buFont typeface="+mj-lt"/>
              <a:buAutoNum type="alphaUcPeriod"/>
            </a:pPr>
            <a:r>
              <a:rPr lang="en-US" altLang="zh-TW" b="1" dirty="0"/>
              <a:t>Overall Architecture										</a:t>
            </a:r>
            <a:r>
              <a:rPr lang="zh-TW" altLang="en-US" b="1" dirty="0"/>
              <a:t>    </a:t>
            </a:r>
            <a:r>
              <a:rPr lang="en-US" altLang="zh-TW" sz="1800" dirty="0"/>
              <a:t>An</a:t>
            </a:r>
            <a:r>
              <a:rPr lang="zh-TW" altLang="en-US" sz="1800" dirty="0"/>
              <a:t> </a:t>
            </a:r>
            <a:r>
              <a:rPr lang="en-US" altLang="zh-TW" sz="1800" dirty="0"/>
              <a:t>overview</a:t>
            </a:r>
            <a:r>
              <a:rPr lang="zh-TW" altLang="en-US" sz="1800" dirty="0"/>
              <a:t> </a:t>
            </a:r>
            <a:r>
              <a:rPr lang="en-US" altLang="zh-TW" sz="1800" dirty="0"/>
              <a:t>of</a:t>
            </a:r>
            <a:r>
              <a:rPr lang="zh-TW" altLang="en-US" sz="1800" dirty="0"/>
              <a:t> </a:t>
            </a:r>
            <a:r>
              <a:rPr lang="en-US" altLang="zh-TW" sz="1800" dirty="0"/>
              <a:t>the</a:t>
            </a:r>
            <a:r>
              <a:rPr lang="zh-TW" altLang="en-US" sz="1800" dirty="0"/>
              <a:t> </a:t>
            </a:r>
            <a:r>
              <a:rPr lang="en-US" altLang="zh-TW" sz="1800" dirty="0"/>
              <a:t>Swin</a:t>
            </a:r>
            <a:r>
              <a:rPr lang="zh-TW" altLang="en-US" sz="1800" dirty="0"/>
              <a:t> </a:t>
            </a:r>
            <a:r>
              <a:rPr lang="en-US" altLang="zh-TW" sz="1800" dirty="0"/>
              <a:t>Transformer</a:t>
            </a:r>
            <a:r>
              <a:rPr lang="zh-TW" altLang="en-US" sz="1800" dirty="0"/>
              <a:t> </a:t>
            </a:r>
            <a:r>
              <a:rPr lang="en-US" altLang="zh-TW" sz="1800" dirty="0"/>
              <a:t>architecture is presented in Figure 2, which illustrates the tiny version (Swin T). It first splits an input RGB image into non-overlapping patches by a patch splitting module, like </a:t>
            </a:r>
            <a:r>
              <a:rPr lang="en-US" altLang="zh-TW" sz="1800" dirty="0" err="1"/>
              <a:t>ViT</a:t>
            </a:r>
            <a:r>
              <a:rPr lang="en-US" altLang="zh-TW" sz="1800" dirty="0"/>
              <a:t>. In the implementation, this paper uses a </a:t>
            </a:r>
            <a:r>
              <a:rPr lang="en-US" altLang="zh-TW" sz="1800" b="1" dirty="0"/>
              <a:t>patch size of 4×4 </a:t>
            </a:r>
            <a:r>
              <a:rPr lang="en-US" altLang="zh-TW" sz="1800" dirty="0"/>
              <a:t>and thus the feature dimension of each patch is 4 × 4 × 3 = 48. A linear embedding layer is applied on this raw-valued feature to project it to an </a:t>
            </a:r>
            <a:r>
              <a:rPr lang="en-US" altLang="zh-TW" sz="1800" b="1" dirty="0"/>
              <a:t>arbitrary dimension </a:t>
            </a:r>
            <a:r>
              <a:rPr lang="en-US" altLang="zh-TW" sz="1800" dirty="0"/>
              <a:t>(denoted as </a:t>
            </a:r>
            <a:r>
              <a:rPr lang="en-US" altLang="zh-TW" sz="1800" i="1" dirty="0"/>
              <a:t>C</a:t>
            </a:r>
            <a:r>
              <a:rPr lang="en-US" altLang="zh-TW" sz="1800" dirty="0"/>
              <a:t>).</a:t>
            </a:r>
            <a:endParaRPr lang="en-US" altLang="zh-TW" sz="1800" i="1" dirty="0">
              <a:latin typeface="Cambria Math" panose="02040503050406030204" pitchFamily="18" charset="0"/>
            </a:endParaRPr>
          </a:p>
          <a:p>
            <a:pPr marL="0" indent="0">
              <a:buNone/>
            </a:pPr>
            <a:endParaRPr lang="en-US" altLang="zh-TW" i="1" dirty="0">
              <a:latin typeface="Cambria Math" panose="02040503050406030204" pitchFamily="18" charset="0"/>
            </a:endParaRPr>
          </a:p>
        </p:txBody>
      </p:sp>
      <p:pic>
        <p:nvPicPr>
          <p:cNvPr id="8" name="圖片 7" descr="一張含有 文字, 圖表, 字型, 螢幕擷取畫面 的圖片&#10;&#10;AI 產生的內容可能不正確。">
            <a:extLst>
              <a:ext uri="{FF2B5EF4-FFF2-40B4-BE49-F238E27FC236}">
                <a16:creationId xmlns:a16="http://schemas.microsoft.com/office/drawing/2014/main" id="{92705FCE-63BA-A746-D76B-79A4E87E75CA}"/>
              </a:ext>
            </a:extLst>
          </p:cNvPr>
          <p:cNvPicPr>
            <a:picLocks noChangeAspect="1"/>
          </p:cNvPicPr>
          <p:nvPr/>
        </p:nvPicPr>
        <p:blipFill>
          <a:blip r:embed="rId3"/>
          <a:srcRect t="21175" r="27125" b="7456"/>
          <a:stretch>
            <a:fillRect/>
          </a:stretch>
        </p:blipFill>
        <p:spPr>
          <a:xfrm>
            <a:off x="1830143" y="3051897"/>
            <a:ext cx="8389389" cy="2583730"/>
          </a:xfrm>
          <a:prstGeom prst="rect">
            <a:avLst/>
          </a:prstGeom>
        </p:spPr>
      </p:pic>
      <p:sp>
        <p:nvSpPr>
          <p:cNvPr id="7" name="文字方塊 6">
            <a:extLst>
              <a:ext uri="{FF2B5EF4-FFF2-40B4-BE49-F238E27FC236}">
                <a16:creationId xmlns:a16="http://schemas.microsoft.com/office/drawing/2014/main" id="{44B8A1A8-AF18-57DD-4A27-5D3CE007B99B}"/>
              </a:ext>
            </a:extLst>
          </p:cNvPr>
          <p:cNvSpPr txBox="1"/>
          <p:nvPr/>
        </p:nvSpPr>
        <p:spPr>
          <a:xfrm>
            <a:off x="3024188" y="5711828"/>
            <a:ext cx="6143624" cy="307777"/>
          </a:xfrm>
          <a:prstGeom prst="rect">
            <a:avLst/>
          </a:prstGeom>
          <a:noFill/>
        </p:spPr>
        <p:txBody>
          <a:bodyPr wrap="square">
            <a:spAutoFit/>
          </a:bodyPr>
          <a:lstStyle/>
          <a:p>
            <a:pPr algn="ctr"/>
            <a:r>
              <a:rPr lang="en-US" altLang="zh-TW" sz="1400" dirty="0"/>
              <a:t>Figure 2.</a:t>
            </a:r>
            <a:r>
              <a:rPr lang="zh-TW" altLang="en-US" sz="1400" dirty="0"/>
              <a:t> </a:t>
            </a:r>
            <a:r>
              <a:rPr lang="en-US" altLang="zh-TW" sz="1400" dirty="0"/>
              <a:t>The architecture of a Swin Transformer (Swin-T)</a:t>
            </a:r>
            <a:endParaRPr lang="zh-TW" altLang="en-US" sz="1400" dirty="0"/>
          </a:p>
        </p:txBody>
      </p:sp>
    </p:spTree>
    <p:extLst>
      <p:ext uri="{BB962C8B-B14F-4D97-AF65-F5344CB8AC3E}">
        <p14:creationId xmlns:p14="http://schemas.microsoft.com/office/powerpoint/2010/main" val="757574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C9692-FD23-0AFE-ABE8-E80CA64398C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9545252-9AD1-415D-5C39-823DE98A5B1F}"/>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454DF2F7-9CF1-B3DA-F0D5-0F661E2453B3}"/>
              </a:ext>
            </a:extLst>
          </p:cNvPr>
          <p:cNvSpPr>
            <a:spLocks noGrp="1"/>
          </p:cNvSpPr>
          <p:nvPr>
            <p:ph type="sldNum" sz="quarter" idx="12"/>
          </p:nvPr>
        </p:nvSpPr>
        <p:spPr/>
        <p:txBody>
          <a:bodyPr/>
          <a:lstStyle/>
          <a:p>
            <a:fld id="{3E97B41F-AD73-4999-8C34-7D0FF5EF3CF5}" type="slidenum">
              <a:rPr lang="zh-TW" altLang="en-US" smtClean="0"/>
              <a:t>11</a:t>
            </a:fld>
            <a:endParaRPr lang="zh-TW" altLang="en-US"/>
          </a:p>
        </p:txBody>
      </p:sp>
      <p:sp>
        <p:nvSpPr>
          <p:cNvPr id="5" name="內容版面配置區 4">
            <a:extLst>
              <a:ext uri="{FF2B5EF4-FFF2-40B4-BE49-F238E27FC236}">
                <a16:creationId xmlns:a16="http://schemas.microsoft.com/office/drawing/2014/main" id="{ED282A22-796F-5899-D8D8-0F2FE82B2DE0}"/>
              </a:ext>
            </a:extLst>
          </p:cNvPr>
          <p:cNvSpPr>
            <a:spLocks noGrp="1"/>
          </p:cNvSpPr>
          <p:nvPr>
            <p:ph sz="quarter" idx="14"/>
          </p:nvPr>
        </p:nvSpPr>
        <p:spPr/>
        <p:txBody>
          <a:bodyPr/>
          <a:lstStyle/>
          <a:p>
            <a:endParaRPr lang="zh-TW" altLang="en-US" dirty="0"/>
          </a:p>
        </p:txBody>
      </p:sp>
      <p:sp>
        <p:nvSpPr>
          <p:cNvPr id="6" name="內容版面配置區 7">
            <a:extLst>
              <a:ext uri="{FF2B5EF4-FFF2-40B4-BE49-F238E27FC236}">
                <a16:creationId xmlns:a16="http://schemas.microsoft.com/office/drawing/2014/main" id="{322CAEC5-9416-26CD-52BF-558A82CA67FE}"/>
              </a:ext>
            </a:extLst>
          </p:cNvPr>
          <p:cNvSpPr>
            <a:spLocks noGrp="1"/>
          </p:cNvSpPr>
          <p:nvPr>
            <p:ph sz="quarter" idx="13"/>
          </p:nvPr>
        </p:nvSpPr>
        <p:spPr>
          <a:xfrm>
            <a:off x="838199" y="1298575"/>
            <a:ext cx="9601200" cy="4905375"/>
          </a:xfrm>
        </p:spPr>
        <p:txBody>
          <a:bodyPr/>
          <a:lstStyle/>
          <a:p>
            <a:pPr marL="457200" indent="-457200">
              <a:buFont typeface="+mj-lt"/>
              <a:buAutoNum type="alphaUcPeriod" startAt="2"/>
            </a:pPr>
            <a:r>
              <a:rPr lang="en-US" altLang="zh-TW" b="1" dirty="0"/>
              <a:t>Swin Transformer block				</a:t>
            </a:r>
            <a:r>
              <a:rPr lang="zh-TW" altLang="en-US" b="1" dirty="0"/>
              <a:t>      </a:t>
            </a:r>
            <a:r>
              <a:rPr lang="en-US" altLang="zh-TW" b="1" dirty="0"/>
              <a:t>					</a:t>
            </a:r>
            <a:r>
              <a:rPr lang="zh-TW" altLang="en-US" b="1" dirty="0"/>
              <a:t>         </a:t>
            </a:r>
            <a:r>
              <a:rPr lang="en-US" altLang="zh-TW" sz="1800" dirty="0"/>
              <a:t>Swin Transformer is built by replacing the standard multi-head self attention (MSA) module in a Transformer block by a module based on shifted windows. </a:t>
            </a:r>
            <a:endParaRPr lang="zh-TW" altLang="en-US" sz="1800" b="1" dirty="0"/>
          </a:p>
        </p:txBody>
      </p:sp>
      <p:pic>
        <p:nvPicPr>
          <p:cNvPr id="7" name="圖片 6" descr="一張含有 文字, 圖表, 字型, 螢幕擷取畫面 的圖片&#10;&#10;AI 產生的內容可能不正確。">
            <a:extLst>
              <a:ext uri="{FF2B5EF4-FFF2-40B4-BE49-F238E27FC236}">
                <a16:creationId xmlns:a16="http://schemas.microsoft.com/office/drawing/2014/main" id="{3B806246-BD62-7A69-4E6C-84C20CAA7DEE}"/>
              </a:ext>
            </a:extLst>
          </p:cNvPr>
          <p:cNvPicPr>
            <a:picLocks noChangeAspect="1"/>
          </p:cNvPicPr>
          <p:nvPr/>
        </p:nvPicPr>
        <p:blipFill>
          <a:blip r:embed="rId3"/>
          <a:srcRect l="73623" t="7051" b="5932"/>
          <a:stretch>
            <a:fillRect/>
          </a:stretch>
        </p:blipFill>
        <p:spPr>
          <a:xfrm>
            <a:off x="920888" y="2378449"/>
            <a:ext cx="3356110" cy="3481902"/>
          </a:xfrm>
          <a:prstGeom prst="rect">
            <a:avLst/>
          </a:prstGeom>
        </p:spPr>
      </p:pic>
      <p:sp>
        <p:nvSpPr>
          <p:cNvPr id="8" name="文字方塊 7">
            <a:extLst>
              <a:ext uri="{FF2B5EF4-FFF2-40B4-BE49-F238E27FC236}">
                <a16:creationId xmlns:a16="http://schemas.microsoft.com/office/drawing/2014/main" id="{5418B2CD-32E1-5DD2-B9A3-6AEAC4D41761}"/>
              </a:ext>
            </a:extLst>
          </p:cNvPr>
          <p:cNvSpPr txBox="1"/>
          <p:nvPr/>
        </p:nvSpPr>
        <p:spPr>
          <a:xfrm>
            <a:off x="336755" y="5782664"/>
            <a:ext cx="4524376" cy="307777"/>
          </a:xfrm>
          <a:prstGeom prst="rect">
            <a:avLst/>
          </a:prstGeom>
          <a:noFill/>
        </p:spPr>
        <p:txBody>
          <a:bodyPr wrap="square" rtlCol="0">
            <a:spAutoFit/>
          </a:bodyPr>
          <a:lstStyle/>
          <a:p>
            <a:pPr algn="ctr"/>
            <a:r>
              <a:rPr lang="en-US" altLang="zh-TW" sz="1400" dirty="0"/>
              <a:t>Figure 3.</a:t>
            </a:r>
            <a:r>
              <a:rPr lang="zh-TW" altLang="en-US" sz="1400" dirty="0"/>
              <a:t> </a:t>
            </a:r>
            <a:r>
              <a:rPr lang="en-US" altLang="zh-TW" sz="1400" dirty="0"/>
              <a:t>Two Successive Swin Transformer Blocks</a:t>
            </a:r>
            <a:endParaRPr lang="zh-TW" altLang="en-US" sz="1400" dirty="0"/>
          </a:p>
        </p:txBody>
      </p:sp>
      <p:sp>
        <p:nvSpPr>
          <p:cNvPr id="10" name="文字方塊 9">
            <a:extLst>
              <a:ext uri="{FF2B5EF4-FFF2-40B4-BE49-F238E27FC236}">
                <a16:creationId xmlns:a16="http://schemas.microsoft.com/office/drawing/2014/main" id="{05F66828-A50B-6ABA-8613-AC906351148C}"/>
              </a:ext>
            </a:extLst>
          </p:cNvPr>
          <p:cNvSpPr txBox="1"/>
          <p:nvPr/>
        </p:nvSpPr>
        <p:spPr>
          <a:xfrm>
            <a:off x="4276998" y="2486587"/>
            <a:ext cx="6162401" cy="1477328"/>
          </a:xfrm>
          <a:prstGeom prst="rect">
            <a:avLst/>
          </a:prstGeom>
          <a:noFill/>
        </p:spPr>
        <p:txBody>
          <a:bodyPr wrap="square">
            <a:spAutoFit/>
          </a:bodyPr>
          <a:lstStyle/>
          <a:p>
            <a:pPr marL="285750" indent="-285750" algn="just">
              <a:buFont typeface="Wingdings" panose="05000000000000000000" pitchFamily="2" charset="2"/>
              <a:buChar char="Ø"/>
            </a:pPr>
            <a:r>
              <a:rPr lang="en-US" altLang="zh-TW" sz="1800" dirty="0"/>
              <a:t>As illustrated in Figure 3, a Swin Transformer block consists of a shifted window based MSA module, followed by a 2-layer MLP. A </a:t>
            </a:r>
            <a:r>
              <a:rPr lang="en-US" altLang="zh-TW" sz="1800" dirty="0" err="1"/>
              <a:t>LayerNorm</a:t>
            </a:r>
            <a:r>
              <a:rPr lang="en-US" altLang="zh-TW" sz="1800" dirty="0"/>
              <a:t> (LN) layer is applied before each MSA module and each MLP, and a residual connection is applied after each module.</a:t>
            </a:r>
            <a:endParaRPr lang="zh-TW" altLang="en-US" dirty="0"/>
          </a:p>
        </p:txBody>
      </p:sp>
      <p:pic>
        <p:nvPicPr>
          <p:cNvPr id="9" name="圖片 8" descr="一張含有 文字, 字型, 筆跡, 白色 的圖片&#10;&#10;AI 產生的內容可能不正確。">
            <a:extLst>
              <a:ext uri="{FF2B5EF4-FFF2-40B4-BE49-F238E27FC236}">
                <a16:creationId xmlns:a16="http://schemas.microsoft.com/office/drawing/2014/main" id="{9A963358-E314-34F8-60A8-ACA6371BCD66}"/>
              </a:ext>
            </a:extLst>
          </p:cNvPr>
          <p:cNvPicPr>
            <a:picLocks noChangeAspect="1"/>
          </p:cNvPicPr>
          <p:nvPr/>
        </p:nvPicPr>
        <p:blipFill>
          <a:blip r:embed="rId4"/>
          <a:stretch>
            <a:fillRect/>
          </a:stretch>
        </p:blipFill>
        <p:spPr>
          <a:xfrm>
            <a:off x="5766099" y="4106025"/>
            <a:ext cx="3849106" cy="1703394"/>
          </a:xfrm>
          <a:prstGeom prst="rect">
            <a:avLst/>
          </a:prstGeom>
        </p:spPr>
      </p:pic>
    </p:spTree>
    <p:extLst>
      <p:ext uri="{BB962C8B-B14F-4D97-AF65-F5344CB8AC3E}">
        <p14:creationId xmlns:p14="http://schemas.microsoft.com/office/powerpoint/2010/main" val="4273399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86099-ABB7-2DDD-1485-5456F4DEA98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56AAF56-D265-2258-7C43-A1FC8C5EEA3C}"/>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02B5B4CB-098E-EA74-8386-BE5A4317926A}"/>
              </a:ext>
            </a:extLst>
          </p:cNvPr>
          <p:cNvSpPr>
            <a:spLocks noGrp="1"/>
          </p:cNvSpPr>
          <p:nvPr>
            <p:ph type="sldNum" sz="quarter" idx="12"/>
          </p:nvPr>
        </p:nvSpPr>
        <p:spPr/>
        <p:txBody>
          <a:bodyPr/>
          <a:lstStyle/>
          <a:p>
            <a:fld id="{3E97B41F-AD73-4999-8C34-7D0FF5EF3CF5}" type="slidenum">
              <a:rPr lang="zh-TW" altLang="en-US" smtClean="0"/>
              <a:t>12</a:t>
            </a:fld>
            <a:endParaRPr lang="zh-TW" altLang="en-US"/>
          </a:p>
        </p:txBody>
      </p:sp>
      <p:sp>
        <p:nvSpPr>
          <p:cNvPr id="5" name="內容版面配置區 4">
            <a:extLst>
              <a:ext uri="{FF2B5EF4-FFF2-40B4-BE49-F238E27FC236}">
                <a16:creationId xmlns:a16="http://schemas.microsoft.com/office/drawing/2014/main" id="{41266D18-AE76-7FE4-A2B4-75399798296D}"/>
              </a:ext>
            </a:extLst>
          </p:cNvPr>
          <p:cNvSpPr>
            <a:spLocks noGrp="1"/>
          </p:cNvSpPr>
          <p:nvPr>
            <p:ph sz="quarter" idx="14"/>
          </p:nvPr>
        </p:nvSpPr>
        <p:spPr/>
        <p:txBody>
          <a:bodyPr/>
          <a:lstStyle/>
          <a:p>
            <a:r>
              <a:rPr lang="en-US" altLang="zh-TW" dirty="0"/>
              <a:t>[58] Ashish Vaswani, Noam </a:t>
            </a:r>
            <a:r>
              <a:rPr lang="en-US" altLang="zh-TW" dirty="0" err="1"/>
              <a:t>Shazeer</a:t>
            </a:r>
            <a:r>
              <a:rPr lang="en-US" altLang="zh-TW" dirty="0"/>
              <a:t>, Niki Parmar, Jakob </a:t>
            </a:r>
            <a:r>
              <a:rPr lang="en-US" altLang="zh-TW" dirty="0" err="1"/>
              <a:t>Uszkoreit</a:t>
            </a:r>
            <a:r>
              <a:rPr lang="en-US" altLang="zh-TW" dirty="0"/>
              <a:t>, Llion Jones, Aidan N Gomez, Łukasz Kaiser, and Illia </a:t>
            </a:r>
            <a:r>
              <a:rPr lang="en-US" altLang="zh-TW" dirty="0" err="1"/>
              <a:t>Polosukhin</a:t>
            </a:r>
            <a:r>
              <a:rPr lang="en-US" altLang="zh-TW" dirty="0"/>
              <a:t>. Attention is all you need. In Advances in Neural Information Processing Systems, pages 5998–6008, 2017.</a:t>
            </a:r>
            <a:endParaRPr lang="zh-TW" altLang="en-US" dirty="0"/>
          </a:p>
        </p:txBody>
      </p:sp>
      <mc:AlternateContent xmlns:mc="http://schemas.openxmlformats.org/markup-compatibility/2006" xmlns:a14="http://schemas.microsoft.com/office/drawing/2010/main">
        <mc:Choice Requires="a14">
          <p:sp>
            <p:nvSpPr>
              <p:cNvPr id="6" name="內容版面配置區 7">
                <a:extLst>
                  <a:ext uri="{FF2B5EF4-FFF2-40B4-BE49-F238E27FC236}">
                    <a16:creationId xmlns:a16="http://schemas.microsoft.com/office/drawing/2014/main" id="{4AC0DED2-E864-FC4A-9633-715E4D31DCB9}"/>
                  </a:ext>
                </a:extLst>
              </p:cNvPr>
              <p:cNvSpPr>
                <a:spLocks noGrp="1"/>
              </p:cNvSpPr>
              <p:nvPr>
                <p:ph sz="quarter" idx="13"/>
              </p:nvPr>
            </p:nvSpPr>
            <p:spPr>
              <a:xfrm>
                <a:off x="838200" y="1314712"/>
                <a:ext cx="9601200" cy="4905375"/>
              </a:xfrm>
            </p:spPr>
            <p:txBody>
              <a:bodyPr/>
              <a:lstStyle/>
              <a:p>
                <a:pPr marL="457200" indent="-457200">
                  <a:buFont typeface="+mj-lt"/>
                  <a:buAutoNum type="alphaUcPeriod" startAt="3"/>
                </a:pPr>
                <a:r>
                  <a:rPr lang="en-US" altLang="zh-TW" b="1" dirty="0"/>
                  <a:t>Patch Merging</a:t>
                </a:r>
                <a:r>
                  <a:rPr lang="zh-TW" altLang="en-US" b="1" dirty="0"/>
                  <a:t> </a:t>
                </a:r>
                <a:r>
                  <a:rPr lang="en-US" altLang="zh-TW" b="1" dirty="0"/>
                  <a:t>										    </a:t>
                </a:r>
                <a:r>
                  <a:rPr lang="en-US" altLang="zh-TW" dirty="0"/>
                  <a:t>To produce a hierarchical representation, the number of tokens is reduced by patch merging layers as the network gets deeper. The first patch merging layer concatenates the features of each group of 2 × 2 neighboring patches, and applies a linear layer on the 4C-dimensional concatenated features. This reduces the number of tokens by a multiple of 2×2 = 4 (2× </a:t>
                </a:r>
                <a:r>
                  <a:rPr lang="en-US" altLang="zh-TW" dirty="0" err="1"/>
                  <a:t>downsampling</a:t>
                </a:r>
                <a:r>
                  <a:rPr lang="en-US" altLang="zh-TW" dirty="0"/>
                  <a:t> of resolution), and the output dimension is set to 2C.</a:t>
                </a:r>
              </a:p>
              <a:p>
                <a:pPr marL="457200" indent="-457200">
                  <a:buFont typeface="+mj-lt"/>
                  <a:buAutoNum type="alphaUcPeriod" startAt="3"/>
                </a:pPr>
                <a:r>
                  <a:rPr lang="en-US" altLang="zh-TW" b="1" dirty="0"/>
                  <a:t>Shifted Window based Self – Attention   					      </a:t>
                </a:r>
                <a:r>
                  <a:rPr lang="en-US" altLang="zh-TW" dirty="0"/>
                  <a:t>Standard Transformer architectures[58], rely on </a:t>
                </a:r>
                <a:r>
                  <a:rPr lang="en-US" altLang="zh-TW" b="1" dirty="0"/>
                  <a:t>global self-attention </a:t>
                </a:r>
                <a:r>
                  <a:rPr lang="en-US" altLang="zh-TW" dirty="0"/>
                  <a:t>mechanisms that compute pairwise relationships between all tokens. This approach results in </a:t>
                </a:r>
                <a:r>
                  <a:rPr lang="en-US" altLang="zh-TW" b="1" dirty="0"/>
                  <a:t>quadratic computational </a:t>
                </a:r>
                <a:r>
                  <a:rPr lang="en-US" altLang="zh-TW" dirty="0"/>
                  <a:t>complexity </a:t>
                </a:r>
                <a14:m>
                  <m:oMath xmlns:m="http://schemas.openxmlformats.org/officeDocument/2006/math">
                    <m:r>
                      <a:rPr lang="en-US" altLang="zh-TW" i="1" dirty="0">
                        <a:latin typeface="Cambria Math" panose="02040503050406030204" pitchFamily="18" charset="0"/>
                      </a:rPr>
                      <m:t>𝑂</m:t>
                    </m:r>
                    <m:d>
                      <m:dPr>
                        <m:ctrlPr>
                          <a:rPr lang="en-US" altLang="zh-TW" i="1" dirty="0">
                            <a:latin typeface="Cambria Math" panose="02040503050406030204" pitchFamily="18" charset="0"/>
                          </a:rPr>
                        </m:ctrlPr>
                      </m:dPr>
                      <m:e>
                        <m:sSup>
                          <m:sSupPr>
                            <m:ctrlPr>
                              <a:rPr lang="en-US" altLang="zh-TW" i="1" dirty="0">
                                <a:latin typeface="Cambria Math" panose="02040503050406030204" pitchFamily="18" charset="0"/>
                              </a:rPr>
                            </m:ctrlPr>
                          </m:sSupPr>
                          <m:e>
                            <m:r>
                              <a:rPr lang="en-US" altLang="zh-TW" i="1" dirty="0">
                                <a:latin typeface="Cambria Math" panose="02040503050406030204" pitchFamily="18" charset="0"/>
                              </a:rPr>
                              <m:t>𝑁</m:t>
                            </m:r>
                          </m:e>
                          <m:sup>
                            <m:r>
                              <a:rPr lang="en-US" altLang="zh-TW" i="1" dirty="0">
                                <a:latin typeface="Cambria Math" panose="02040503050406030204" pitchFamily="18" charset="0"/>
                              </a:rPr>
                              <m:t>2</m:t>
                            </m:r>
                          </m:sup>
                        </m:sSup>
                      </m:e>
                    </m:d>
                    <m:r>
                      <a:rPr lang="en-US" altLang="zh-TW" i="1" dirty="0">
                        <a:latin typeface="Cambria Math" panose="02040503050406030204" pitchFamily="18" charset="0"/>
                      </a:rPr>
                      <m:t> </m:t>
                    </m:r>
                  </m:oMath>
                </a14:m>
                <a:r>
                  <a:rPr lang="en-US" altLang="zh-TW" dirty="0"/>
                  <a:t>with respect to token count, making it </a:t>
                </a:r>
                <a:r>
                  <a:rPr lang="en-US" altLang="zh-TW" b="1" dirty="0"/>
                  <a:t>computationally prohibitive for high-resolution vision tasks or dense predictions </a:t>
                </a:r>
                <a:r>
                  <a:rPr lang="en-US" altLang="zh-TW" dirty="0"/>
                  <a:t>that require processing an immense number of tokens.</a:t>
                </a:r>
              </a:p>
              <a:p>
                <a:pPr marL="0" indent="0">
                  <a:buNone/>
                </a:pPr>
                <a:endParaRPr lang="zh-TW" altLang="en-US" dirty="0"/>
              </a:p>
              <a:p>
                <a:endParaRPr lang="zh-TW" altLang="en-US" b="1" dirty="0"/>
              </a:p>
            </p:txBody>
          </p:sp>
        </mc:Choice>
        <mc:Fallback xmlns="">
          <p:sp>
            <p:nvSpPr>
              <p:cNvPr id="6" name="內容版面配置區 7">
                <a:extLst>
                  <a:ext uri="{FF2B5EF4-FFF2-40B4-BE49-F238E27FC236}">
                    <a16:creationId xmlns:a16="http://schemas.microsoft.com/office/drawing/2014/main" id="{4AC0DED2-E864-FC4A-9633-715E4D31DCB9}"/>
                  </a:ext>
                </a:extLst>
              </p:cNvPr>
              <p:cNvSpPr>
                <a:spLocks noGrp="1" noRot="1" noChangeAspect="1" noMove="1" noResize="1" noEditPoints="1" noAdjustHandles="1" noChangeArrowheads="1" noChangeShapeType="1" noTextEdit="1"/>
              </p:cNvSpPr>
              <p:nvPr>
                <p:ph sz="quarter" idx="13"/>
              </p:nvPr>
            </p:nvSpPr>
            <p:spPr>
              <a:xfrm>
                <a:off x="838200" y="1314712"/>
                <a:ext cx="9601200" cy="4905375"/>
              </a:xfrm>
              <a:blipFill>
                <a:blip r:embed="rId3"/>
                <a:stretch>
                  <a:fillRect l="-571" t="-746" r="-63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924552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9C934-B5AC-4C64-68B1-A9F8FABBE4D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7B10744-42D1-141C-8AA6-2472A32F8EA3}"/>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B8297EC3-2BE5-3376-57D0-E233FE03710A}"/>
              </a:ext>
            </a:extLst>
          </p:cNvPr>
          <p:cNvSpPr>
            <a:spLocks noGrp="1"/>
          </p:cNvSpPr>
          <p:nvPr>
            <p:ph type="sldNum" sz="quarter" idx="12"/>
          </p:nvPr>
        </p:nvSpPr>
        <p:spPr/>
        <p:txBody>
          <a:bodyPr/>
          <a:lstStyle/>
          <a:p>
            <a:fld id="{3E97B41F-AD73-4999-8C34-7D0FF5EF3CF5}" type="slidenum">
              <a:rPr lang="zh-TW" altLang="en-US" smtClean="0"/>
              <a:t>13</a:t>
            </a:fld>
            <a:endParaRPr lang="zh-TW" altLang="en-US"/>
          </a:p>
        </p:txBody>
      </p:sp>
      <p:sp>
        <p:nvSpPr>
          <p:cNvPr id="5" name="內容版面配置區 4">
            <a:extLst>
              <a:ext uri="{FF2B5EF4-FFF2-40B4-BE49-F238E27FC236}">
                <a16:creationId xmlns:a16="http://schemas.microsoft.com/office/drawing/2014/main" id="{C185B89A-2B66-4789-FF20-A186BB633927}"/>
              </a:ext>
            </a:extLst>
          </p:cNvPr>
          <p:cNvSpPr>
            <a:spLocks noGrp="1"/>
          </p:cNvSpPr>
          <p:nvPr>
            <p:ph sz="quarter" idx="14"/>
          </p:nvPr>
        </p:nvSpPr>
        <p:spPr/>
        <p:txBody>
          <a:bodyPr/>
          <a:lstStyle/>
          <a:p>
            <a:endParaRPr lang="zh-TW" altLang="en-US" dirty="0"/>
          </a:p>
        </p:txBody>
      </p:sp>
      <p:sp>
        <p:nvSpPr>
          <p:cNvPr id="6" name="內容版面配置區 7">
            <a:extLst>
              <a:ext uri="{FF2B5EF4-FFF2-40B4-BE49-F238E27FC236}">
                <a16:creationId xmlns:a16="http://schemas.microsoft.com/office/drawing/2014/main" id="{D8824FF0-E628-5C5B-77E6-3FA4EF270E5B}"/>
              </a:ext>
            </a:extLst>
          </p:cNvPr>
          <p:cNvSpPr>
            <a:spLocks noGrp="1"/>
          </p:cNvSpPr>
          <p:nvPr>
            <p:ph sz="quarter" idx="13"/>
          </p:nvPr>
        </p:nvSpPr>
        <p:spPr>
          <a:xfrm>
            <a:off x="838200" y="1298575"/>
            <a:ext cx="9601200" cy="4905375"/>
          </a:xfrm>
        </p:spPr>
        <p:txBody>
          <a:bodyPr/>
          <a:lstStyle/>
          <a:p>
            <a:pPr marL="457200" indent="-457200">
              <a:buFont typeface="+mj-lt"/>
              <a:buAutoNum type="alphaUcPeriod" startAt="5"/>
            </a:pPr>
            <a:r>
              <a:rPr lang="en-US" altLang="zh-TW" b="1" dirty="0"/>
              <a:t>Shifted window partitioning in successive blocks</a:t>
            </a:r>
            <a:r>
              <a:rPr lang="zh-TW" altLang="en-US" b="1" dirty="0"/>
              <a:t> </a:t>
            </a:r>
            <a:r>
              <a:rPr lang="en-US" altLang="zh-TW" b="1" dirty="0"/>
              <a:t> 					    </a:t>
            </a:r>
            <a:r>
              <a:rPr lang="en-US" altLang="zh-TW" sz="1800" dirty="0"/>
              <a:t>Th</a:t>
            </a:r>
            <a:r>
              <a:rPr lang="en-US" sz="1800" dirty="0"/>
              <a:t>e window-based self-attention module </a:t>
            </a:r>
            <a:r>
              <a:rPr lang="en-US" sz="1800" b="1" dirty="0"/>
              <a:t>lacks connections across windows</a:t>
            </a:r>
            <a:r>
              <a:rPr lang="en-US" sz="1800" dirty="0"/>
              <a:t>, which limits its modeling power. To introduce </a:t>
            </a:r>
            <a:r>
              <a:rPr lang="en-US" sz="1800" b="1" dirty="0"/>
              <a:t>cross-window connections </a:t>
            </a:r>
            <a:r>
              <a:rPr lang="en-US" sz="1800" dirty="0"/>
              <a:t>while maintaining the </a:t>
            </a:r>
            <a:r>
              <a:rPr lang="en-US" sz="1800" b="1" dirty="0"/>
              <a:t>efficient computation of non-overlapping windows</a:t>
            </a:r>
            <a:r>
              <a:rPr lang="en-US" sz="1800" dirty="0"/>
              <a:t>, we propose a </a:t>
            </a:r>
            <a:r>
              <a:rPr lang="en-US" sz="1800" b="1" dirty="0"/>
              <a:t>shifted window partitioning</a:t>
            </a:r>
            <a:r>
              <a:rPr lang="en-US" sz="1800" dirty="0"/>
              <a:t> approach which alternates between two partitioning configurations in consecutive Swin Transformer blocks.</a:t>
            </a:r>
            <a:endParaRPr lang="zh-TW" altLang="en-US" sz="1800" b="1" dirty="0"/>
          </a:p>
        </p:txBody>
      </p:sp>
      <p:pic>
        <p:nvPicPr>
          <p:cNvPr id="4" name="Content Placeholder 8">
            <a:extLst>
              <a:ext uri="{FF2B5EF4-FFF2-40B4-BE49-F238E27FC236}">
                <a16:creationId xmlns:a16="http://schemas.microsoft.com/office/drawing/2014/main" id="{7C6BF292-2C86-12E0-BD37-B2F22B1239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1150" y="3061706"/>
            <a:ext cx="6559429" cy="2497719"/>
          </a:xfrm>
          <a:prstGeom prst="rect">
            <a:avLst/>
          </a:prstGeom>
        </p:spPr>
      </p:pic>
      <p:sp>
        <p:nvSpPr>
          <p:cNvPr id="10" name="TextBox 9">
            <a:extLst>
              <a:ext uri="{FF2B5EF4-FFF2-40B4-BE49-F238E27FC236}">
                <a16:creationId xmlns:a16="http://schemas.microsoft.com/office/drawing/2014/main" id="{0F5784B5-F20F-4F12-5162-046660A54A9A}"/>
              </a:ext>
            </a:extLst>
          </p:cNvPr>
          <p:cNvSpPr txBox="1"/>
          <p:nvPr/>
        </p:nvSpPr>
        <p:spPr>
          <a:xfrm>
            <a:off x="2868704" y="5559425"/>
            <a:ext cx="6144320" cy="523220"/>
          </a:xfrm>
          <a:prstGeom prst="rect">
            <a:avLst/>
          </a:prstGeom>
          <a:noFill/>
        </p:spPr>
        <p:txBody>
          <a:bodyPr wrap="square">
            <a:spAutoFit/>
          </a:bodyPr>
          <a:lstStyle/>
          <a:p>
            <a:pPr algn="just"/>
            <a:r>
              <a:rPr lang="en-US" altLang="zh-TW" sz="1400" dirty="0"/>
              <a:t>Figure 5. An illustration of the shifted windows approach for computing self-attention </a:t>
            </a:r>
            <a:r>
              <a:rPr lang="en-US" sz="1400" dirty="0"/>
              <a:t>in the proposed Swin Transformer architecture.</a:t>
            </a:r>
            <a:endParaRPr lang="zh-TW" altLang="en-US" sz="1400" dirty="0"/>
          </a:p>
        </p:txBody>
      </p:sp>
    </p:spTree>
    <p:extLst>
      <p:ext uri="{BB962C8B-B14F-4D97-AF65-F5344CB8AC3E}">
        <p14:creationId xmlns:p14="http://schemas.microsoft.com/office/powerpoint/2010/main" val="140467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AF028-FE5E-0731-9CE7-B1C4EE06073A}"/>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251E61C-952C-2266-1A68-67ADD1C0F670}"/>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BF62F609-F1AA-3093-FFA9-FC67D3571717}"/>
              </a:ext>
            </a:extLst>
          </p:cNvPr>
          <p:cNvSpPr>
            <a:spLocks noGrp="1"/>
          </p:cNvSpPr>
          <p:nvPr>
            <p:ph type="sldNum" sz="quarter" idx="12"/>
          </p:nvPr>
        </p:nvSpPr>
        <p:spPr/>
        <p:txBody>
          <a:bodyPr/>
          <a:lstStyle/>
          <a:p>
            <a:fld id="{3E97B41F-AD73-4999-8C34-7D0FF5EF3CF5}" type="slidenum">
              <a:rPr lang="zh-TW" altLang="en-US" smtClean="0"/>
              <a:t>14</a:t>
            </a:fld>
            <a:endParaRPr lang="zh-TW" altLang="en-US"/>
          </a:p>
        </p:txBody>
      </p:sp>
      <p:sp>
        <p:nvSpPr>
          <p:cNvPr id="5" name="內容版面配置區 4">
            <a:extLst>
              <a:ext uri="{FF2B5EF4-FFF2-40B4-BE49-F238E27FC236}">
                <a16:creationId xmlns:a16="http://schemas.microsoft.com/office/drawing/2014/main" id="{9E07C844-1330-7F22-DC8A-D657B455449B}"/>
              </a:ext>
            </a:extLst>
          </p:cNvPr>
          <p:cNvSpPr>
            <a:spLocks noGrp="1"/>
          </p:cNvSpPr>
          <p:nvPr>
            <p:ph sz="quarter" idx="14"/>
          </p:nvPr>
        </p:nvSpPr>
        <p:spPr/>
        <p:txBody>
          <a:bodyPr/>
          <a:lstStyle/>
          <a:p>
            <a:endParaRPr lang="zh-TW" altLang="en-US" dirty="0"/>
          </a:p>
        </p:txBody>
      </p:sp>
      <mc:AlternateContent xmlns:mc="http://schemas.openxmlformats.org/markup-compatibility/2006" xmlns:a14="http://schemas.microsoft.com/office/drawing/2010/main">
        <mc:Choice Requires="a14">
          <p:sp>
            <p:nvSpPr>
              <p:cNvPr id="6" name="內容版面配置區 7">
                <a:extLst>
                  <a:ext uri="{FF2B5EF4-FFF2-40B4-BE49-F238E27FC236}">
                    <a16:creationId xmlns:a16="http://schemas.microsoft.com/office/drawing/2014/main" id="{8581CB35-356A-0FD0-CBA7-E8C5B0168F20}"/>
                  </a:ext>
                </a:extLst>
              </p:cNvPr>
              <p:cNvSpPr>
                <a:spLocks noGrp="1"/>
              </p:cNvSpPr>
              <p:nvPr>
                <p:ph sz="quarter" idx="13"/>
              </p:nvPr>
            </p:nvSpPr>
            <p:spPr>
              <a:xfrm>
                <a:off x="838200" y="1298575"/>
                <a:ext cx="9601200" cy="4905375"/>
              </a:xfrm>
            </p:spPr>
            <p:txBody>
              <a:bodyPr/>
              <a:lstStyle/>
              <a:p>
                <a:pPr marL="457200" indent="-457200">
                  <a:buFont typeface="+mj-lt"/>
                  <a:buAutoNum type="alphaUcPeriod" startAt="6"/>
                </a:pPr>
                <a:r>
                  <a:rPr lang="en-US" altLang="zh-TW" b="1" dirty="0"/>
                  <a:t>Efficient batch computation for shifted configuration</a:t>
                </a:r>
                <a:r>
                  <a:rPr lang="zh-TW" altLang="en-US" b="1" dirty="0"/>
                  <a:t> </a:t>
                </a:r>
                <a:r>
                  <a:rPr lang="en-US" altLang="zh-TW" b="1" dirty="0"/>
                  <a:t>					</a:t>
                </a:r>
                <a:r>
                  <a:rPr lang="zh-TW" altLang="en-US" b="1" dirty="0"/>
                  <a:t>     </a:t>
                </a:r>
                <a:r>
                  <a:rPr lang="en-US" altLang="zh-TW" sz="1800" dirty="0"/>
                  <a:t>To address the computational overhead caused by the increased number of windows in shifted partitioning (e.g., from </a:t>
                </a:r>
                <a14:m>
                  <m:oMath xmlns:m="http://schemas.openxmlformats.org/officeDocument/2006/math">
                    <m:r>
                      <a:rPr lang="en-US" altLang="zh-TW" sz="1800" i="1" dirty="0" smtClean="0">
                        <a:latin typeface="Cambria Math" panose="02040503050406030204" pitchFamily="18" charset="0"/>
                      </a:rPr>
                      <m:t>2 </m:t>
                    </m:r>
                    <m:r>
                      <a:rPr lang="en-US" altLang="zh-TW" sz="1800" i="1" dirty="0">
                        <a:latin typeface="Cambria Math" panose="02040503050406030204" pitchFamily="18" charset="0"/>
                      </a:rPr>
                      <m:t>×</m:t>
                    </m:r>
                    <m:r>
                      <a:rPr lang="en-US" altLang="zh-TW" sz="1800" i="1" dirty="0" smtClean="0">
                        <a:latin typeface="Cambria Math" panose="02040503050406030204" pitchFamily="18" charset="0"/>
                      </a:rPr>
                      <m:t>2 </m:t>
                    </m:r>
                    <m:r>
                      <a:rPr lang="zh-TW" altLang="en-US" sz="1800" i="1" dirty="0">
                        <a:latin typeface="Cambria Math" panose="02040503050406030204" pitchFamily="18" charset="0"/>
                      </a:rPr>
                      <m:t> </m:t>
                    </m:r>
                  </m:oMath>
                </a14:m>
                <a:r>
                  <a:rPr lang="en-US" altLang="zh-TW" sz="1800" dirty="0"/>
                  <a:t>to </a:t>
                </a:r>
                <a14:m>
                  <m:oMath xmlns:m="http://schemas.openxmlformats.org/officeDocument/2006/math">
                    <m:r>
                      <a:rPr lang="en-US" altLang="zh-TW" sz="1800" i="1" dirty="0" smtClean="0">
                        <a:latin typeface="Cambria Math" panose="02040503050406030204" pitchFamily="18" charset="0"/>
                      </a:rPr>
                      <m:t>3 </m:t>
                    </m:r>
                    <m:r>
                      <a:rPr lang="en-US" altLang="zh-TW" sz="1800" i="1" dirty="0">
                        <a:latin typeface="Cambria Math" panose="02040503050406030204" pitchFamily="18" charset="0"/>
                      </a:rPr>
                      <m:t>×</m:t>
                    </m:r>
                    <m:r>
                      <a:rPr lang="en-US" altLang="zh-TW" sz="1800" i="1" dirty="0" smtClean="0">
                        <a:latin typeface="Cambria Math" panose="02040503050406030204" pitchFamily="18" charset="0"/>
                      </a:rPr>
                      <m:t>3</m:t>
                    </m:r>
                  </m:oMath>
                </a14:m>
                <a:r>
                  <a:rPr lang="en-US" altLang="zh-TW" sz="1800" dirty="0"/>
                  <a:t>), the Swin Transformer employs an efficient cyclic-shift strategy. </a:t>
                </a:r>
              </a:p>
              <a:p>
                <a:endParaRPr lang="en-US" altLang="zh-TW" sz="1800" dirty="0"/>
              </a:p>
              <a:p>
                <a:endParaRPr lang="en-US" altLang="zh-TW" sz="1800" dirty="0"/>
              </a:p>
              <a:p>
                <a:pPr marL="0" indent="0">
                  <a:buNone/>
                </a:pPr>
                <a:endParaRPr lang="en-US" altLang="zh-TW" sz="1800" dirty="0"/>
              </a:p>
              <a:p>
                <a:pPr marL="0" indent="0">
                  <a:buNone/>
                </a:pPr>
                <a:endParaRPr lang="en-US" altLang="zh-TW" sz="1800" dirty="0"/>
              </a:p>
              <a:p>
                <a:pPr marL="228600" lvl="1" indent="0">
                  <a:buNone/>
                </a:pPr>
                <a:endParaRPr lang="en-US" altLang="zh-TW" sz="1800" dirty="0"/>
              </a:p>
              <a:p>
                <a:pPr marL="228600" lvl="1" indent="0">
                  <a:buNone/>
                </a:pPr>
                <a:endParaRPr lang="en-US" altLang="zh-TW" sz="1800" dirty="0"/>
              </a:p>
              <a:p>
                <a:pPr marL="228600" lvl="1" indent="0">
                  <a:buNone/>
                </a:pPr>
                <a:r>
                  <a:rPr lang="en-US" altLang="zh-TW" sz="1800" dirty="0"/>
                  <a:t>Instead of using zero-padding which increases computation, the feature map is cyclically shifted toward the top-left direction to reassemble fragmented edge windows into a standard grid, maintaining the same number of windows as regular partitioning.</a:t>
                </a:r>
                <a:endParaRPr lang="zh-TW" altLang="en-US" sz="1800" dirty="0"/>
              </a:p>
            </p:txBody>
          </p:sp>
        </mc:Choice>
        <mc:Fallback xmlns="">
          <p:sp>
            <p:nvSpPr>
              <p:cNvPr id="6" name="內容版面配置區 7">
                <a:extLst>
                  <a:ext uri="{FF2B5EF4-FFF2-40B4-BE49-F238E27FC236}">
                    <a16:creationId xmlns:a16="http://schemas.microsoft.com/office/drawing/2014/main" id="{8581CB35-356A-0FD0-CBA7-E8C5B0168F20}"/>
                  </a:ext>
                </a:extLst>
              </p:cNvPr>
              <p:cNvSpPr>
                <a:spLocks noGrp="1" noRot="1" noChangeAspect="1" noMove="1" noResize="1" noEditPoints="1" noAdjustHandles="1" noChangeArrowheads="1" noChangeShapeType="1" noTextEdit="1"/>
              </p:cNvSpPr>
              <p:nvPr>
                <p:ph sz="quarter" idx="13"/>
              </p:nvPr>
            </p:nvSpPr>
            <p:spPr>
              <a:xfrm>
                <a:off x="838200" y="1298575"/>
                <a:ext cx="9601200" cy="4905375"/>
              </a:xfrm>
              <a:blipFill>
                <a:blip r:embed="rId3"/>
                <a:stretch>
                  <a:fillRect l="-571" t="-621" r="-508"/>
                </a:stretch>
              </a:blipFill>
            </p:spPr>
            <p:txBody>
              <a:bodyPr/>
              <a:lstStyle/>
              <a:p>
                <a:r>
                  <a:rPr lang="zh-TW" altLang="en-US">
                    <a:noFill/>
                  </a:rPr>
                  <a:t> </a:t>
                </a:r>
              </a:p>
            </p:txBody>
          </p:sp>
        </mc:Fallback>
      </mc:AlternateContent>
      <p:pic>
        <p:nvPicPr>
          <p:cNvPr id="4" name="圖片 3" descr="一張含有 文字, 螢幕擷取畫面, 圖表, 行 的圖片&#10;&#10;AI 產生的內容可能不正確。">
            <a:extLst>
              <a:ext uri="{FF2B5EF4-FFF2-40B4-BE49-F238E27FC236}">
                <a16:creationId xmlns:a16="http://schemas.microsoft.com/office/drawing/2014/main" id="{F34D27DD-3F0E-C793-51D0-D5250D8C2C41}"/>
              </a:ext>
            </a:extLst>
          </p:cNvPr>
          <p:cNvPicPr>
            <a:picLocks noChangeAspect="1"/>
          </p:cNvPicPr>
          <p:nvPr/>
        </p:nvPicPr>
        <p:blipFill>
          <a:blip r:embed="rId4"/>
          <a:srcRect t="15389" b="1281"/>
          <a:stretch>
            <a:fillRect/>
          </a:stretch>
        </p:blipFill>
        <p:spPr>
          <a:xfrm>
            <a:off x="2792438" y="2787453"/>
            <a:ext cx="6607124" cy="1669750"/>
          </a:xfrm>
          <a:prstGeom prst="rect">
            <a:avLst/>
          </a:prstGeom>
        </p:spPr>
      </p:pic>
      <p:sp>
        <p:nvSpPr>
          <p:cNvPr id="13" name="文字方塊 12">
            <a:extLst>
              <a:ext uri="{FF2B5EF4-FFF2-40B4-BE49-F238E27FC236}">
                <a16:creationId xmlns:a16="http://schemas.microsoft.com/office/drawing/2014/main" id="{2FBFED7E-F18F-E8D8-4987-F897BEF6292C}"/>
              </a:ext>
            </a:extLst>
          </p:cNvPr>
          <p:cNvSpPr txBox="1"/>
          <p:nvPr/>
        </p:nvSpPr>
        <p:spPr>
          <a:xfrm>
            <a:off x="3572253" y="4457203"/>
            <a:ext cx="5295453" cy="523220"/>
          </a:xfrm>
          <a:prstGeom prst="rect">
            <a:avLst/>
          </a:prstGeom>
          <a:noFill/>
        </p:spPr>
        <p:txBody>
          <a:bodyPr wrap="square">
            <a:spAutoFit/>
          </a:bodyPr>
          <a:lstStyle/>
          <a:p>
            <a:pPr algn="just"/>
            <a:r>
              <a:rPr lang="en-US" altLang="zh-TW" sz="1400" dirty="0"/>
              <a:t>Figure 4. Illustration of an efficient batch computation approach for self-attention in shifted window partitioning.</a:t>
            </a:r>
            <a:endParaRPr lang="zh-TW" altLang="en-US" sz="1400" dirty="0"/>
          </a:p>
        </p:txBody>
      </p:sp>
    </p:spTree>
    <p:extLst>
      <p:ext uri="{BB962C8B-B14F-4D97-AF65-F5344CB8AC3E}">
        <p14:creationId xmlns:p14="http://schemas.microsoft.com/office/powerpoint/2010/main" val="1317876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EFC2-89FB-548C-BC34-F613FAF96B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3484A34-08F8-16AA-B1FC-546C68A68AE8}"/>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6EA2EE26-F2D4-AA46-4369-2F2AA1140A23}"/>
              </a:ext>
            </a:extLst>
          </p:cNvPr>
          <p:cNvSpPr>
            <a:spLocks noGrp="1"/>
          </p:cNvSpPr>
          <p:nvPr>
            <p:ph type="sldNum" sz="quarter" idx="12"/>
          </p:nvPr>
        </p:nvSpPr>
        <p:spPr/>
        <p:txBody>
          <a:bodyPr/>
          <a:lstStyle/>
          <a:p>
            <a:fld id="{3E97B41F-AD73-4999-8C34-7D0FF5EF3CF5}" type="slidenum">
              <a:rPr lang="zh-TW" altLang="en-US" smtClean="0"/>
              <a:t>15</a:t>
            </a:fld>
            <a:endParaRPr lang="zh-TW" altLang="en-US"/>
          </a:p>
        </p:txBody>
      </p:sp>
      <p:sp>
        <p:nvSpPr>
          <p:cNvPr id="5" name="內容版面配置區 4">
            <a:extLst>
              <a:ext uri="{FF2B5EF4-FFF2-40B4-BE49-F238E27FC236}">
                <a16:creationId xmlns:a16="http://schemas.microsoft.com/office/drawing/2014/main" id="{C7E204A3-3D3D-A297-1749-503EC3844302}"/>
              </a:ext>
            </a:extLst>
          </p:cNvPr>
          <p:cNvSpPr>
            <a:spLocks noGrp="1"/>
          </p:cNvSpPr>
          <p:nvPr>
            <p:ph sz="quarter" idx="14"/>
          </p:nvPr>
        </p:nvSpPr>
        <p:spPr/>
        <p:txBody>
          <a:bodyPr/>
          <a:lstStyle/>
          <a:p>
            <a:endParaRPr lang="zh-TW" altLang="en-US" dirty="0"/>
          </a:p>
        </p:txBody>
      </p:sp>
      <p:pic>
        <p:nvPicPr>
          <p:cNvPr id="11" name="內容版面配置區 10" descr="一張含有 螢幕擷取畫面, 鮮豔, 正方形, Rectangle 的圖片&#10;&#10;AI 產生的內容可能不正確。">
            <a:extLst>
              <a:ext uri="{FF2B5EF4-FFF2-40B4-BE49-F238E27FC236}">
                <a16:creationId xmlns:a16="http://schemas.microsoft.com/office/drawing/2014/main" id="{0228EFEE-C1C0-1785-EDD8-719B4FDEE0AF}"/>
              </a:ext>
            </a:extLst>
          </p:cNvPr>
          <p:cNvPicPr>
            <a:picLocks noGrp="1" noChangeAspect="1"/>
          </p:cNvPicPr>
          <p:nvPr>
            <p:ph sz="quarter" idx="13"/>
          </p:nvPr>
        </p:nvPicPr>
        <p:blipFill>
          <a:blip r:embed="rId3"/>
          <a:stretch>
            <a:fillRect/>
          </a:stretch>
        </p:blipFill>
        <p:spPr>
          <a:xfrm>
            <a:off x="838200" y="1504621"/>
            <a:ext cx="9736230" cy="4291945"/>
          </a:xfrm>
          <a:prstGeom prst="rect">
            <a:avLst/>
          </a:prstGeom>
        </p:spPr>
      </p:pic>
    </p:spTree>
    <p:extLst>
      <p:ext uri="{BB962C8B-B14F-4D97-AF65-F5344CB8AC3E}">
        <p14:creationId xmlns:p14="http://schemas.microsoft.com/office/powerpoint/2010/main" val="2247412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9FFA4-DD7D-D1F4-722A-E599501FF94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28E2D92-ADF6-AEE7-A339-1F4E5D7A40D1}"/>
              </a:ext>
            </a:extLst>
          </p:cNvPr>
          <p:cNvSpPr>
            <a:spLocks noGrp="1"/>
          </p:cNvSpPr>
          <p:nvPr>
            <p:ph type="title"/>
          </p:nvPr>
        </p:nvSpPr>
        <p:spPr/>
        <p:txBody>
          <a:bodyPr/>
          <a:lstStyle/>
          <a:p>
            <a:r>
              <a:rPr lang="en-US" altLang="zh-TW" dirty="0"/>
              <a:t>III. Method </a:t>
            </a:r>
            <a:endParaRPr lang="zh-TW" altLang="en-US" dirty="0"/>
          </a:p>
        </p:txBody>
      </p:sp>
      <p:sp>
        <p:nvSpPr>
          <p:cNvPr id="3" name="投影片編號版面配置區 2">
            <a:extLst>
              <a:ext uri="{FF2B5EF4-FFF2-40B4-BE49-F238E27FC236}">
                <a16:creationId xmlns:a16="http://schemas.microsoft.com/office/drawing/2014/main" id="{8F80E3E4-EC8A-BEBA-B0E7-FF80DC7E61BD}"/>
              </a:ext>
            </a:extLst>
          </p:cNvPr>
          <p:cNvSpPr>
            <a:spLocks noGrp="1"/>
          </p:cNvSpPr>
          <p:nvPr>
            <p:ph type="sldNum" sz="quarter" idx="12"/>
          </p:nvPr>
        </p:nvSpPr>
        <p:spPr/>
        <p:txBody>
          <a:bodyPr/>
          <a:lstStyle/>
          <a:p>
            <a:fld id="{3E97B41F-AD73-4999-8C34-7D0FF5EF3CF5}" type="slidenum">
              <a:rPr lang="zh-TW" altLang="en-US" smtClean="0"/>
              <a:t>16</a:t>
            </a:fld>
            <a:endParaRPr lang="zh-TW" altLang="en-US"/>
          </a:p>
        </p:txBody>
      </p:sp>
      <p:sp>
        <p:nvSpPr>
          <p:cNvPr id="5" name="內容版面配置區 4">
            <a:extLst>
              <a:ext uri="{FF2B5EF4-FFF2-40B4-BE49-F238E27FC236}">
                <a16:creationId xmlns:a16="http://schemas.microsoft.com/office/drawing/2014/main" id="{55891F73-7C06-6612-A990-EF33104A6193}"/>
              </a:ext>
            </a:extLst>
          </p:cNvPr>
          <p:cNvSpPr>
            <a:spLocks noGrp="1"/>
          </p:cNvSpPr>
          <p:nvPr>
            <p:ph sz="quarter" idx="14"/>
          </p:nvPr>
        </p:nvSpPr>
        <p:spPr/>
        <p:txBody>
          <a:bodyPr/>
          <a:lstStyle/>
          <a:p>
            <a:endParaRPr lang="zh-TW" altLang="en-US" dirty="0"/>
          </a:p>
        </p:txBody>
      </p:sp>
      <p:sp>
        <p:nvSpPr>
          <p:cNvPr id="6" name="內容版面配置區 7">
            <a:extLst>
              <a:ext uri="{FF2B5EF4-FFF2-40B4-BE49-F238E27FC236}">
                <a16:creationId xmlns:a16="http://schemas.microsoft.com/office/drawing/2014/main" id="{9DB42456-665E-DAC3-9EB6-6E495D55EB45}"/>
              </a:ext>
            </a:extLst>
          </p:cNvPr>
          <p:cNvSpPr>
            <a:spLocks noGrp="1"/>
          </p:cNvSpPr>
          <p:nvPr>
            <p:ph sz="quarter" idx="13"/>
          </p:nvPr>
        </p:nvSpPr>
        <p:spPr>
          <a:xfrm>
            <a:off x="838200" y="1298575"/>
            <a:ext cx="9601200" cy="4905375"/>
          </a:xfrm>
        </p:spPr>
        <p:txBody>
          <a:bodyPr/>
          <a:lstStyle/>
          <a:p>
            <a:r>
              <a:rPr lang="en-US" altLang="zh-TW" b="1" dirty="0"/>
              <a:t>Architecture Variants 									    </a:t>
            </a:r>
            <a:r>
              <a:rPr lang="en-US" altLang="zh-TW" sz="1800" dirty="0"/>
              <a:t>The Authors build their base model, called Swin-B, to have of model size and computation complexity similar to </a:t>
            </a:r>
            <a:r>
              <a:rPr lang="en-US" altLang="zh-TW" sz="1800" dirty="0" err="1"/>
              <a:t>ViT</a:t>
            </a:r>
            <a:r>
              <a:rPr lang="en-US" altLang="zh-TW" sz="1800" dirty="0"/>
              <a:t> B/</a:t>
            </a:r>
            <a:r>
              <a:rPr lang="en-US" altLang="zh-TW" sz="1800" dirty="0" err="1"/>
              <a:t>DeiT</a:t>
            </a:r>
            <a:r>
              <a:rPr lang="en-US" altLang="zh-TW" sz="1800" dirty="0"/>
              <a:t>-B. They also introduce Swin-T, Swin-S and Swin-L, the architecture hyper-parameters of these model variants are:</a:t>
            </a:r>
            <a:endParaRPr lang="en-US" altLang="zh-TW" b="1" dirty="0"/>
          </a:p>
          <a:p>
            <a:pPr marL="571500" lvl="2" indent="0">
              <a:buNone/>
            </a:pPr>
            <a:r>
              <a:rPr lang="en-US" altLang="zh-TW" sz="1800" dirty="0"/>
              <a:t>• Swin-T: C = 96, layer numbers = {2,2,6,2} </a:t>
            </a:r>
          </a:p>
          <a:p>
            <a:pPr marL="571500" lvl="2" indent="0">
              <a:buNone/>
            </a:pPr>
            <a:r>
              <a:rPr lang="en-US" altLang="zh-TW" sz="1800" dirty="0"/>
              <a:t>• Swin-S: C = 96, layer numbers ={2,2,18,2} </a:t>
            </a:r>
          </a:p>
          <a:p>
            <a:pPr marL="571500" lvl="2" indent="0">
              <a:buNone/>
            </a:pPr>
            <a:r>
              <a:rPr lang="en-US" altLang="zh-TW" sz="1800" dirty="0"/>
              <a:t>• Swin-B: C = 128, layer numbers ={2,2,18,2} </a:t>
            </a:r>
          </a:p>
          <a:p>
            <a:pPr marL="571500" lvl="2" indent="0">
              <a:buNone/>
            </a:pPr>
            <a:r>
              <a:rPr lang="en-US" altLang="zh-TW" sz="1800" dirty="0"/>
              <a:t>• Swin-L: C = 192, layer numbers ={2,2,18,2}</a:t>
            </a:r>
            <a:endParaRPr lang="zh-TW" altLang="en-US" sz="1800" b="1" dirty="0"/>
          </a:p>
        </p:txBody>
      </p:sp>
    </p:spTree>
    <p:extLst>
      <p:ext uri="{BB962C8B-B14F-4D97-AF65-F5344CB8AC3E}">
        <p14:creationId xmlns:p14="http://schemas.microsoft.com/office/powerpoint/2010/main" val="2829037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BB053-640B-E043-713E-A193CB1D55D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C12853D-88A0-FA37-CE0E-540DCB895FDB}"/>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C20DD87E-335A-73F8-FB68-7FF2340C9946}"/>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0B314CEF-84C4-43C5-3F57-24D4C345FBF1}"/>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AutoNum type="romanUcPeriod"/>
            </a:pPr>
            <a:r>
              <a:rPr lang="en-US" altLang="zh-TW" sz="2800" b="1" dirty="0"/>
              <a:t>Experiment</a:t>
            </a:r>
          </a:p>
          <a:p>
            <a:pPr marL="571500" indent="-571500">
              <a:lnSpc>
                <a:spcPct val="150000"/>
              </a:lnSpc>
              <a:buAutoNum type="romanUcPeriod"/>
            </a:pPr>
            <a:r>
              <a:rPr lang="en-US" altLang="zh-TW" sz="2800" dirty="0"/>
              <a:t>Conclusion</a:t>
            </a:r>
            <a:endParaRPr lang="zh-TW" altLang="en-US" dirty="0"/>
          </a:p>
        </p:txBody>
      </p:sp>
      <p:sp>
        <p:nvSpPr>
          <p:cNvPr id="8" name="投影片編號版面配置區 7">
            <a:extLst>
              <a:ext uri="{FF2B5EF4-FFF2-40B4-BE49-F238E27FC236}">
                <a16:creationId xmlns:a16="http://schemas.microsoft.com/office/drawing/2014/main" id="{751A21F6-A64E-0B87-450D-55CA49FB43A0}"/>
              </a:ext>
            </a:extLst>
          </p:cNvPr>
          <p:cNvSpPr>
            <a:spLocks noGrp="1"/>
          </p:cNvSpPr>
          <p:nvPr>
            <p:ph type="sldNum" sz="quarter" idx="12"/>
          </p:nvPr>
        </p:nvSpPr>
        <p:spPr/>
        <p:txBody>
          <a:bodyPr/>
          <a:lstStyle/>
          <a:p>
            <a:fld id="{3E97B41F-AD73-4999-8C34-7D0FF5EF3CF5}" type="slidenum">
              <a:rPr lang="zh-TW" altLang="en-US" smtClean="0"/>
              <a:t>17</a:t>
            </a:fld>
            <a:endParaRPr lang="zh-TW" altLang="en-US"/>
          </a:p>
        </p:txBody>
      </p:sp>
    </p:spTree>
    <p:extLst>
      <p:ext uri="{BB962C8B-B14F-4D97-AF65-F5344CB8AC3E}">
        <p14:creationId xmlns:p14="http://schemas.microsoft.com/office/powerpoint/2010/main" val="2042293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7CF22-B756-025C-3580-58831B91F07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8B3939D0-3B67-7D46-6EC7-0CBC6CE0CCB5}"/>
              </a:ext>
            </a:extLst>
          </p:cNvPr>
          <p:cNvSpPr>
            <a:spLocks noGrp="1"/>
          </p:cNvSpPr>
          <p:nvPr>
            <p:ph type="title"/>
          </p:nvPr>
        </p:nvSpPr>
        <p:spPr/>
        <p:txBody>
          <a:bodyPr/>
          <a:lstStyle/>
          <a:p>
            <a:r>
              <a:rPr lang="en-US" altLang="zh-TW" dirty="0"/>
              <a:t>IV. Experiment</a:t>
            </a:r>
            <a:endParaRPr lang="zh-TW" altLang="en-US" dirty="0"/>
          </a:p>
        </p:txBody>
      </p:sp>
      <p:sp>
        <p:nvSpPr>
          <p:cNvPr id="3" name="投影片編號版面配置區 2">
            <a:extLst>
              <a:ext uri="{FF2B5EF4-FFF2-40B4-BE49-F238E27FC236}">
                <a16:creationId xmlns:a16="http://schemas.microsoft.com/office/drawing/2014/main" id="{1ACA2E99-0CFD-BA14-F118-16047CE259DA}"/>
              </a:ext>
            </a:extLst>
          </p:cNvPr>
          <p:cNvSpPr>
            <a:spLocks noGrp="1"/>
          </p:cNvSpPr>
          <p:nvPr>
            <p:ph type="sldNum" sz="quarter" idx="12"/>
          </p:nvPr>
        </p:nvSpPr>
        <p:spPr/>
        <p:txBody>
          <a:bodyPr/>
          <a:lstStyle/>
          <a:p>
            <a:fld id="{3E97B41F-AD73-4999-8C34-7D0FF5EF3CF5}" type="slidenum">
              <a:rPr lang="zh-TW" altLang="en-US" smtClean="0"/>
              <a:t>18</a:t>
            </a:fld>
            <a:endParaRPr lang="zh-TW" altLang="en-US"/>
          </a:p>
        </p:txBody>
      </p:sp>
      <p:sp>
        <p:nvSpPr>
          <p:cNvPr id="4" name="內容版面配置區 3">
            <a:extLst>
              <a:ext uri="{FF2B5EF4-FFF2-40B4-BE49-F238E27FC236}">
                <a16:creationId xmlns:a16="http://schemas.microsoft.com/office/drawing/2014/main" id="{940A7A8E-B8F2-198D-ADF6-4522966B6776}"/>
              </a:ext>
            </a:extLst>
          </p:cNvPr>
          <p:cNvSpPr>
            <a:spLocks noGrp="1"/>
          </p:cNvSpPr>
          <p:nvPr>
            <p:ph sz="quarter" idx="13"/>
          </p:nvPr>
        </p:nvSpPr>
        <p:spPr/>
        <p:txBody>
          <a:bodyPr>
            <a:normAutofit/>
          </a:bodyPr>
          <a:lstStyle/>
          <a:p>
            <a:r>
              <a:rPr lang="en-US" altLang="zh-TW" b="1" dirty="0"/>
              <a:t>Image Classification with Regular ImageNet-1K training</a:t>
            </a:r>
          </a:p>
        </p:txBody>
      </p:sp>
      <p:sp>
        <p:nvSpPr>
          <p:cNvPr id="5" name="內容版面配置區 4">
            <a:extLst>
              <a:ext uri="{FF2B5EF4-FFF2-40B4-BE49-F238E27FC236}">
                <a16:creationId xmlns:a16="http://schemas.microsoft.com/office/drawing/2014/main" id="{09C95A24-DA4F-FF2E-6503-4C38B14A2D57}"/>
              </a:ext>
            </a:extLst>
          </p:cNvPr>
          <p:cNvSpPr>
            <a:spLocks noGrp="1"/>
          </p:cNvSpPr>
          <p:nvPr>
            <p:ph sz="quarter" idx="14"/>
          </p:nvPr>
        </p:nvSpPr>
        <p:spPr>
          <a:xfrm>
            <a:off x="0" y="6356352"/>
            <a:ext cx="11533517" cy="501648"/>
          </a:xfrm>
        </p:spPr>
        <p:txBody>
          <a:bodyPr/>
          <a:lstStyle/>
          <a:p>
            <a:r>
              <a:rPr lang="en-US" altLang="zh-TW" dirty="0"/>
              <a:t>[44] Ilija </a:t>
            </a:r>
            <a:r>
              <a:rPr lang="en-US" altLang="zh-TW" dirty="0" err="1"/>
              <a:t>Radosavovic</a:t>
            </a:r>
            <a:r>
              <a:rPr lang="en-US" altLang="zh-TW" dirty="0"/>
              <a:t>, Raj Prateek Kosaraju, Ross </a:t>
            </a:r>
            <a:r>
              <a:rPr lang="en-US" altLang="zh-TW" dirty="0" err="1"/>
              <a:t>Girshick</a:t>
            </a:r>
            <a:r>
              <a:rPr lang="en-US" altLang="zh-TW" dirty="0"/>
              <a:t>, Kaiming He, and Piotr </a:t>
            </a:r>
            <a:r>
              <a:rPr lang="en-US" altLang="zh-TW" dirty="0" err="1"/>
              <a:t>Doll´ar</a:t>
            </a:r>
            <a:r>
              <a:rPr lang="en-US" altLang="zh-TW" dirty="0"/>
              <a:t>. Designing network design spaces. In Proceedings of the IEEE/CVF Conference on Computer Vision and Pattern Recognition, pages 10428 10436, 2020.</a:t>
            </a:r>
            <a:endParaRPr lang="zh-TW" altLang="en-US" dirty="0"/>
          </a:p>
        </p:txBody>
      </p:sp>
      <p:pic>
        <p:nvPicPr>
          <p:cNvPr id="6" name="圖片 6" descr="一張含有 文字, 數字, 螢幕擷取畫面, 字型 的圖片&#10;&#10;AI 產生的內容可能不正確。">
            <a:extLst>
              <a:ext uri="{FF2B5EF4-FFF2-40B4-BE49-F238E27FC236}">
                <a16:creationId xmlns:a16="http://schemas.microsoft.com/office/drawing/2014/main" id="{8E39FE7F-907C-06FC-D64F-A70327B4415C}"/>
              </a:ext>
            </a:extLst>
          </p:cNvPr>
          <p:cNvPicPr>
            <a:picLocks noChangeAspect="1"/>
          </p:cNvPicPr>
          <p:nvPr/>
        </p:nvPicPr>
        <p:blipFill>
          <a:blip r:embed="rId3"/>
          <a:srcRect t="1283" b="40424"/>
          <a:stretch>
            <a:fillRect/>
          </a:stretch>
        </p:blipFill>
        <p:spPr>
          <a:xfrm>
            <a:off x="838200" y="1948594"/>
            <a:ext cx="4858472" cy="3388171"/>
          </a:xfrm>
          <a:prstGeom prst="rect">
            <a:avLst/>
          </a:prstGeom>
        </p:spPr>
      </p:pic>
      <p:sp>
        <p:nvSpPr>
          <p:cNvPr id="8" name="TextBox 7">
            <a:extLst>
              <a:ext uri="{FF2B5EF4-FFF2-40B4-BE49-F238E27FC236}">
                <a16:creationId xmlns:a16="http://schemas.microsoft.com/office/drawing/2014/main" id="{A669C014-6DDE-6AD7-815B-AFD5CC40BAC4}"/>
              </a:ext>
            </a:extLst>
          </p:cNvPr>
          <p:cNvSpPr txBox="1"/>
          <p:nvPr/>
        </p:nvSpPr>
        <p:spPr>
          <a:xfrm>
            <a:off x="662771" y="5419651"/>
            <a:ext cx="5506560" cy="523220"/>
          </a:xfrm>
          <a:prstGeom prst="rect">
            <a:avLst/>
          </a:prstGeom>
          <a:noFill/>
        </p:spPr>
        <p:txBody>
          <a:bodyPr wrap="square">
            <a:spAutoFit/>
          </a:bodyPr>
          <a:lstStyle/>
          <a:p>
            <a:pPr algn="just"/>
            <a:r>
              <a:rPr lang="en-US" altLang="zh-TW" sz="1400" dirty="0"/>
              <a:t>Table1. (a) Comparisons to other backbones, including both Transformer-based and </a:t>
            </a:r>
            <a:r>
              <a:rPr lang="en-US" altLang="zh-TW" sz="1400" dirty="0" err="1"/>
              <a:t>ConvNet</a:t>
            </a:r>
            <a:r>
              <a:rPr lang="en-US" altLang="zh-TW" sz="1400" dirty="0"/>
              <a:t>-based, using regular ImageNet-1K training. </a:t>
            </a:r>
            <a:endParaRPr lang="zh-TW" altLang="en-US" sz="1400" dirty="0"/>
          </a:p>
        </p:txBody>
      </p:sp>
      <p:sp>
        <p:nvSpPr>
          <p:cNvPr id="9" name="矩形 8">
            <a:extLst>
              <a:ext uri="{FF2B5EF4-FFF2-40B4-BE49-F238E27FC236}">
                <a16:creationId xmlns:a16="http://schemas.microsoft.com/office/drawing/2014/main" id="{538A9181-7AEE-0D39-4FC3-31B80E255D27}"/>
              </a:ext>
            </a:extLst>
          </p:cNvPr>
          <p:cNvSpPr/>
          <p:nvPr/>
        </p:nvSpPr>
        <p:spPr>
          <a:xfrm>
            <a:off x="1120588" y="4866697"/>
            <a:ext cx="4491816" cy="26410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文字方塊 15">
            <a:extLst>
              <a:ext uri="{FF2B5EF4-FFF2-40B4-BE49-F238E27FC236}">
                <a16:creationId xmlns:a16="http://schemas.microsoft.com/office/drawing/2014/main" id="{56629634-5A1F-FE6B-9EF5-5642F18A0E65}"/>
              </a:ext>
            </a:extLst>
          </p:cNvPr>
          <p:cNvSpPr txBox="1"/>
          <p:nvPr/>
        </p:nvSpPr>
        <p:spPr>
          <a:xfrm>
            <a:off x="5766758" y="1948594"/>
            <a:ext cx="4800172" cy="2585323"/>
          </a:xfrm>
          <a:prstGeom prst="rect">
            <a:avLst/>
          </a:prstGeom>
          <a:noFill/>
        </p:spPr>
        <p:txBody>
          <a:bodyPr wrap="square">
            <a:spAutoFit/>
          </a:bodyPr>
          <a:lstStyle/>
          <a:p>
            <a:pPr marL="285750" indent="-285750" algn="just">
              <a:buFont typeface="Wingdings" panose="05000000000000000000" pitchFamily="2" charset="2"/>
              <a:buChar char="Ø"/>
            </a:pPr>
            <a:r>
              <a:rPr lang="zh-TW" altLang="en-US" b="1" dirty="0"/>
              <a:t>Surpasses SOTA Transformers</a:t>
            </a:r>
            <a:r>
              <a:rPr lang="zh-TW" altLang="en-US" dirty="0"/>
              <a:t>: Noticeably outperforms DeiT with similar complexity, achieving +1.5% accuracy gain for Swin-T (81.3%) and Swin-B (83.</a:t>
            </a:r>
            <a:r>
              <a:rPr lang="en-US" altLang="zh-TW" dirty="0"/>
              <a:t>5</a:t>
            </a:r>
            <a:r>
              <a:rPr lang="zh-TW" altLang="en-US" dirty="0"/>
              <a:t>%). </a:t>
            </a:r>
            <a:endParaRPr lang="en-US" altLang="zh-TW" dirty="0"/>
          </a:p>
          <a:p>
            <a:pPr marL="285750" indent="-285750" algn="just">
              <a:buFont typeface="Wingdings" panose="05000000000000000000" pitchFamily="2" charset="2"/>
              <a:buChar char="Ø"/>
            </a:pPr>
            <a:r>
              <a:rPr lang="zh-TW" altLang="en-US" b="1" dirty="0"/>
              <a:t>Better Trade-off</a:t>
            </a:r>
            <a:r>
              <a:rPr lang="zh-TW" altLang="en-US" dirty="0"/>
              <a:t>: Achieves a slightly better speed-accuracy trade-off than state-of-the-art ConvNets (RegNet).</a:t>
            </a:r>
            <a:r>
              <a:rPr lang="en-US" altLang="zh-TW" dirty="0"/>
              <a:t> Noting</a:t>
            </a:r>
            <a:r>
              <a:rPr lang="zh-TW" altLang="en-US" dirty="0"/>
              <a:t> </a:t>
            </a:r>
            <a:r>
              <a:rPr lang="en-US" altLang="zh-TW" dirty="0"/>
              <a:t>that</a:t>
            </a:r>
            <a:r>
              <a:rPr lang="zh-TW" altLang="en-US" dirty="0"/>
              <a:t> </a:t>
            </a:r>
            <a:r>
              <a:rPr lang="en-US" altLang="zh-TW" dirty="0"/>
              <a:t>while</a:t>
            </a:r>
            <a:r>
              <a:rPr lang="zh-TW" altLang="en-US" dirty="0"/>
              <a:t> </a:t>
            </a:r>
            <a:r>
              <a:rPr lang="en-US" altLang="zh-TW" dirty="0" err="1"/>
              <a:t>RegNet</a:t>
            </a:r>
            <a:r>
              <a:rPr lang="en-US" altLang="zh-TW" dirty="0"/>
              <a:t> [44] are</a:t>
            </a:r>
            <a:r>
              <a:rPr lang="zh-TW" altLang="en-US" dirty="0"/>
              <a:t> </a:t>
            </a:r>
            <a:r>
              <a:rPr lang="en-US" altLang="zh-TW" dirty="0"/>
              <a:t>obtained</a:t>
            </a:r>
            <a:r>
              <a:rPr lang="zh-TW" altLang="en-US" dirty="0"/>
              <a:t> </a:t>
            </a:r>
            <a:r>
              <a:rPr lang="en-US" altLang="zh-TW" dirty="0"/>
              <a:t>via</a:t>
            </a:r>
            <a:r>
              <a:rPr lang="zh-TW" altLang="en-US" dirty="0"/>
              <a:t> </a:t>
            </a:r>
            <a:r>
              <a:rPr lang="en-US" altLang="zh-TW" dirty="0"/>
              <a:t>a thorough</a:t>
            </a:r>
            <a:r>
              <a:rPr lang="zh-TW" altLang="en-US" dirty="0"/>
              <a:t> </a:t>
            </a:r>
            <a:r>
              <a:rPr lang="en-US" altLang="zh-TW" dirty="0"/>
              <a:t>architecture</a:t>
            </a:r>
            <a:r>
              <a:rPr lang="zh-TW" altLang="en-US" dirty="0"/>
              <a:t> </a:t>
            </a:r>
            <a:r>
              <a:rPr lang="en-US" altLang="zh-TW" dirty="0"/>
              <a:t>search.</a:t>
            </a:r>
            <a:endParaRPr lang="zh-TW" altLang="en-US" dirty="0"/>
          </a:p>
        </p:txBody>
      </p:sp>
      <p:sp>
        <p:nvSpPr>
          <p:cNvPr id="7" name="矩形 6">
            <a:extLst>
              <a:ext uri="{FF2B5EF4-FFF2-40B4-BE49-F238E27FC236}">
                <a16:creationId xmlns:a16="http://schemas.microsoft.com/office/drawing/2014/main" id="{146BB17D-6C71-9DE2-2817-DB23A6EEC2DF}"/>
              </a:ext>
            </a:extLst>
          </p:cNvPr>
          <p:cNvSpPr/>
          <p:nvPr/>
        </p:nvSpPr>
        <p:spPr>
          <a:xfrm>
            <a:off x="1120588" y="4440632"/>
            <a:ext cx="4491816" cy="217921"/>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C139C3B6-DF57-198B-2B33-67E29C56DCAA}"/>
              </a:ext>
            </a:extLst>
          </p:cNvPr>
          <p:cNvSpPr/>
          <p:nvPr/>
        </p:nvSpPr>
        <p:spPr>
          <a:xfrm>
            <a:off x="1120588" y="3754420"/>
            <a:ext cx="4491816" cy="47806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04154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CC2F4-A2B4-B988-04FC-05AF93F4B78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67C28A3-5A92-C4DF-C7F3-080D69563616}"/>
              </a:ext>
            </a:extLst>
          </p:cNvPr>
          <p:cNvSpPr>
            <a:spLocks noGrp="1"/>
          </p:cNvSpPr>
          <p:nvPr>
            <p:ph type="title"/>
          </p:nvPr>
        </p:nvSpPr>
        <p:spPr/>
        <p:txBody>
          <a:bodyPr/>
          <a:lstStyle/>
          <a:p>
            <a:r>
              <a:rPr lang="en-US" altLang="zh-TW" dirty="0"/>
              <a:t>IV. Experiment</a:t>
            </a:r>
            <a:endParaRPr lang="zh-TW" altLang="en-US" dirty="0"/>
          </a:p>
        </p:txBody>
      </p:sp>
      <p:sp>
        <p:nvSpPr>
          <p:cNvPr id="3" name="投影片編號版面配置區 2">
            <a:extLst>
              <a:ext uri="{FF2B5EF4-FFF2-40B4-BE49-F238E27FC236}">
                <a16:creationId xmlns:a16="http://schemas.microsoft.com/office/drawing/2014/main" id="{1DAF5C17-ECAB-76BD-61D5-49C0A61F9947}"/>
              </a:ext>
            </a:extLst>
          </p:cNvPr>
          <p:cNvSpPr>
            <a:spLocks noGrp="1"/>
          </p:cNvSpPr>
          <p:nvPr>
            <p:ph type="sldNum" sz="quarter" idx="12"/>
          </p:nvPr>
        </p:nvSpPr>
        <p:spPr/>
        <p:txBody>
          <a:bodyPr/>
          <a:lstStyle/>
          <a:p>
            <a:fld id="{3E97B41F-AD73-4999-8C34-7D0FF5EF3CF5}" type="slidenum">
              <a:rPr lang="zh-TW" altLang="en-US" smtClean="0"/>
              <a:t>19</a:t>
            </a:fld>
            <a:endParaRPr lang="zh-TW" altLang="en-US"/>
          </a:p>
        </p:txBody>
      </p:sp>
      <p:sp>
        <p:nvSpPr>
          <p:cNvPr id="4" name="內容版面配置區 3">
            <a:extLst>
              <a:ext uri="{FF2B5EF4-FFF2-40B4-BE49-F238E27FC236}">
                <a16:creationId xmlns:a16="http://schemas.microsoft.com/office/drawing/2014/main" id="{D4AB67A6-C2AC-92D2-C016-53C29316DB4C}"/>
              </a:ext>
            </a:extLst>
          </p:cNvPr>
          <p:cNvSpPr>
            <a:spLocks noGrp="1"/>
          </p:cNvSpPr>
          <p:nvPr>
            <p:ph sz="quarter" idx="13"/>
          </p:nvPr>
        </p:nvSpPr>
        <p:spPr/>
        <p:txBody>
          <a:bodyPr>
            <a:normAutofit/>
          </a:bodyPr>
          <a:lstStyle/>
          <a:p>
            <a:r>
              <a:rPr lang="en-US" altLang="zh-TW" b="1" dirty="0"/>
              <a:t>Image Classification with ImageNet-22K pre-training</a:t>
            </a:r>
          </a:p>
        </p:txBody>
      </p:sp>
      <p:sp>
        <p:nvSpPr>
          <p:cNvPr id="5" name="內容版面配置區 4">
            <a:extLst>
              <a:ext uri="{FF2B5EF4-FFF2-40B4-BE49-F238E27FC236}">
                <a16:creationId xmlns:a16="http://schemas.microsoft.com/office/drawing/2014/main" id="{8DF3B4F5-0E18-C17F-0BBE-EBF90F42CDE6}"/>
              </a:ext>
            </a:extLst>
          </p:cNvPr>
          <p:cNvSpPr>
            <a:spLocks noGrp="1"/>
          </p:cNvSpPr>
          <p:nvPr>
            <p:ph sz="quarter" idx="14"/>
          </p:nvPr>
        </p:nvSpPr>
        <p:spPr>
          <a:xfrm>
            <a:off x="0" y="6356352"/>
            <a:ext cx="11533517" cy="501648"/>
          </a:xfrm>
        </p:spPr>
        <p:txBody>
          <a:bodyPr/>
          <a:lstStyle/>
          <a:p>
            <a:endParaRPr lang="zh-TW" altLang="en-US" dirty="0"/>
          </a:p>
        </p:txBody>
      </p:sp>
      <p:sp>
        <p:nvSpPr>
          <p:cNvPr id="8" name="TextBox 7">
            <a:extLst>
              <a:ext uri="{FF2B5EF4-FFF2-40B4-BE49-F238E27FC236}">
                <a16:creationId xmlns:a16="http://schemas.microsoft.com/office/drawing/2014/main" id="{7A6BDC37-CE71-D1F0-3AE1-53C6E32D09E6}"/>
              </a:ext>
            </a:extLst>
          </p:cNvPr>
          <p:cNvSpPr txBox="1"/>
          <p:nvPr/>
        </p:nvSpPr>
        <p:spPr>
          <a:xfrm>
            <a:off x="417991" y="4800740"/>
            <a:ext cx="5853717" cy="523220"/>
          </a:xfrm>
          <a:prstGeom prst="rect">
            <a:avLst/>
          </a:prstGeom>
          <a:noFill/>
        </p:spPr>
        <p:txBody>
          <a:bodyPr wrap="square">
            <a:spAutoFit/>
          </a:bodyPr>
          <a:lstStyle/>
          <a:p>
            <a:pPr algn="just"/>
            <a:r>
              <a:rPr lang="en-US" altLang="zh-TW" sz="1400" dirty="0"/>
              <a:t>Table1. (b) Pre-train the larger-capacity Swin-B and Swin-L on ImageNet-22K</a:t>
            </a:r>
            <a:r>
              <a:rPr lang="zh-TW" altLang="en-US" sz="1400" dirty="0"/>
              <a:t> </a:t>
            </a:r>
            <a:r>
              <a:rPr lang="en-US" altLang="zh-TW" sz="1400" dirty="0"/>
              <a:t>Results fine-tuned on ImageNet-1K image classification. </a:t>
            </a:r>
            <a:endParaRPr lang="zh-TW" altLang="en-US" sz="1400" dirty="0"/>
          </a:p>
        </p:txBody>
      </p:sp>
      <p:pic>
        <p:nvPicPr>
          <p:cNvPr id="7" name="圖片 6" descr="一張含有 文字, 數字, 螢幕擷取畫面, 字型 的圖片&#10;&#10;AI 產生的內容可能不正確。">
            <a:extLst>
              <a:ext uri="{FF2B5EF4-FFF2-40B4-BE49-F238E27FC236}">
                <a16:creationId xmlns:a16="http://schemas.microsoft.com/office/drawing/2014/main" id="{4049166D-451D-8C94-9A84-48A15D1E4BA0}"/>
              </a:ext>
            </a:extLst>
          </p:cNvPr>
          <p:cNvPicPr>
            <a:picLocks noChangeAspect="1"/>
          </p:cNvPicPr>
          <p:nvPr/>
        </p:nvPicPr>
        <p:blipFill>
          <a:blip r:embed="rId3"/>
          <a:srcRect t="60473" b="1062"/>
          <a:stretch>
            <a:fillRect/>
          </a:stretch>
        </p:blipFill>
        <p:spPr>
          <a:xfrm>
            <a:off x="350809" y="2051217"/>
            <a:ext cx="5618129" cy="2585323"/>
          </a:xfrm>
          <a:prstGeom prst="rect">
            <a:avLst/>
          </a:prstGeom>
        </p:spPr>
      </p:pic>
      <p:sp>
        <p:nvSpPr>
          <p:cNvPr id="10" name="矩形 9">
            <a:extLst>
              <a:ext uri="{FF2B5EF4-FFF2-40B4-BE49-F238E27FC236}">
                <a16:creationId xmlns:a16="http://schemas.microsoft.com/office/drawing/2014/main" id="{A75E316A-CF68-2AF3-92D0-30468EF21DAB}"/>
              </a:ext>
            </a:extLst>
          </p:cNvPr>
          <p:cNvSpPr/>
          <p:nvPr/>
        </p:nvSpPr>
        <p:spPr>
          <a:xfrm>
            <a:off x="801603" y="4411853"/>
            <a:ext cx="5007710" cy="21201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 name="文字方塊 13">
            <a:extLst>
              <a:ext uri="{FF2B5EF4-FFF2-40B4-BE49-F238E27FC236}">
                <a16:creationId xmlns:a16="http://schemas.microsoft.com/office/drawing/2014/main" id="{EEAD3964-FF17-0362-7D86-F5FEE9C0E17E}"/>
              </a:ext>
            </a:extLst>
          </p:cNvPr>
          <p:cNvSpPr txBox="1"/>
          <p:nvPr/>
        </p:nvSpPr>
        <p:spPr>
          <a:xfrm>
            <a:off x="6096000" y="1895060"/>
            <a:ext cx="5514100" cy="3139321"/>
          </a:xfrm>
          <a:prstGeom prst="rect">
            <a:avLst/>
          </a:prstGeom>
          <a:noFill/>
        </p:spPr>
        <p:txBody>
          <a:bodyPr wrap="square">
            <a:spAutoFit/>
          </a:bodyPr>
          <a:lstStyle/>
          <a:p>
            <a:pPr marL="285750" indent="-285750" algn="just">
              <a:buFont typeface="Wingdings" panose="05000000000000000000" pitchFamily="2" charset="2"/>
              <a:buChar char="Ø"/>
            </a:pPr>
            <a:r>
              <a:rPr lang="zh-TW" altLang="en-US" b="1" dirty="0"/>
              <a:t>Significant Gains from Pre-training</a:t>
            </a:r>
            <a:r>
              <a:rPr lang="zh-TW" altLang="en-US" dirty="0"/>
              <a:t>: Pre-training on ImageNet-22K boosts Swin-B accuracy by 1.8%~1.9% compared to training from scratch. </a:t>
            </a:r>
            <a:endParaRPr lang="en-US" altLang="zh-TW" dirty="0"/>
          </a:p>
          <a:p>
            <a:pPr marL="285750" indent="-285750" algn="just">
              <a:buFont typeface="Wingdings" panose="05000000000000000000" pitchFamily="2" charset="2"/>
              <a:buChar char="Ø"/>
            </a:pPr>
            <a:endParaRPr lang="en-US" altLang="zh-TW" dirty="0"/>
          </a:p>
          <a:p>
            <a:pPr marL="285750" indent="-285750" algn="just">
              <a:buFont typeface="Wingdings" panose="05000000000000000000" pitchFamily="2" charset="2"/>
              <a:buChar char="Ø"/>
            </a:pPr>
            <a:r>
              <a:rPr lang="zh-TW" altLang="en-US" b="1" dirty="0"/>
              <a:t>Superior Trade-off vs. ViT</a:t>
            </a:r>
            <a:r>
              <a:rPr lang="zh-TW" altLang="en-US" dirty="0"/>
              <a:t>: Swin-B achieves 86.4% top-1 accuracy, surpassing ViT-B (84.0%) by +2.4% with slightly lower FLOPs and similar throughput. (47.0G vs. 55.4G) </a:t>
            </a:r>
            <a:endParaRPr lang="en-US" altLang="zh-TW" dirty="0"/>
          </a:p>
          <a:p>
            <a:pPr marL="285750" indent="-285750" algn="just">
              <a:buFont typeface="Wingdings" panose="05000000000000000000" pitchFamily="2" charset="2"/>
              <a:buChar char="Ø"/>
            </a:pPr>
            <a:endParaRPr lang="en-US" altLang="zh-TW" dirty="0"/>
          </a:p>
          <a:p>
            <a:pPr marL="285750" indent="-285750" algn="just">
              <a:buFont typeface="Wingdings" panose="05000000000000000000" pitchFamily="2" charset="2"/>
              <a:buChar char="Ø"/>
            </a:pPr>
            <a:r>
              <a:rPr lang="zh-TW" altLang="en-US" b="1" dirty="0"/>
              <a:t>State-of-the-Art Performance</a:t>
            </a:r>
            <a:r>
              <a:rPr lang="zh-TW" altLang="en-US" dirty="0"/>
              <a:t>: The larger Swin-L model achieves an impressive 87.3% top-1 accuracy.</a:t>
            </a:r>
          </a:p>
        </p:txBody>
      </p:sp>
      <p:sp>
        <p:nvSpPr>
          <p:cNvPr id="6" name="矩形 5">
            <a:extLst>
              <a:ext uri="{FF2B5EF4-FFF2-40B4-BE49-F238E27FC236}">
                <a16:creationId xmlns:a16="http://schemas.microsoft.com/office/drawing/2014/main" id="{D9589481-9031-D44B-B50A-68EB6A67899A}"/>
              </a:ext>
            </a:extLst>
          </p:cNvPr>
          <p:cNvSpPr/>
          <p:nvPr/>
        </p:nvSpPr>
        <p:spPr>
          <a:xfrm>
            <a:off x="417990" y="2837640"/>
            <a:ext cx="5550947" cy="101287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Tree>
    <p:extLst>
      <p:ext uri="{BB962C8B-B14F-4D97-AF65-F5344CB8AC3E}">
        <p14:creationId xmlns:p14="http://schemas.microsoft.com/office/powerpoint/2010/main" val="17708578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0B28-BED6-9D17-8D43-F41D3F28E9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E00D00EB-98D0-ACD7-B1AC-8037A0D4C770}"/>
              </a:ext>
            </a:extLst>
          </p:cNvPr>
          <p:cNvSpPr>
            <a:spLocks noGrp="1"/>
          </p:cNvSpPr>
          <p:nvPr>
            <p:ph type="title"/>
          </p:nvPr>
        </p:nvSpPr>
        <p:spPr/>
        <p:txBody>
          <a:bodyPr/>
          <a:lstStyle/>
          <a:p>
            <a:r>
              <a:rPr lang="en-US" altLang="zh-TW" dirty="0"/>
              <a:t>IV. Experiment</a:t>
            </a:r>
            <a:endParaRPr lang="zh-TW" altLang="en-US" dirty="0"/>
          </a:p>
        </p:txBody>
      </p:sp>
      <p:sp>
        <p:nvSpPr>
          <p:cNvPr id="3" name="投影片編號版面配置區 2">
            <a:extLst>
              <a:ext uri="{FF2B5EF4-FFF2-40B4-BE49-F238E27FC236}">
                <a16:creationId xmlns:a16="http://schemas.microsoft.com/office/drawing/2014/main" id="{F695DA72-2DEC-2250-E3D8-D9F46DCAE002}"/>
              </a:ext>
            </a:extLst>
          </p:cNvPr>
          <p:cNvSpPr>
            <a:spLocks noGrp="1"/>
          </p:cNvSpPr>
          <p:nvPr>
            <p:ph type="sldNum" sz="quarter" idx="12"/>
          </p:nvPr>
        </p:nvSpPr>
        <p:spPr/>
        <p:txBody>
          <a:bodyPr/>
          <a:lstStyle/>
          <a:p>
            <a:fld id="{3E97B41F-AD73-4999-8C34-7D0FF5EF3CF5}" type="slidenum">
              <a:rPr lang="zh-TW" altLang="en-US" smtClean="0"/>
              <a:t>20</a:t>
            </a:fld>
            <a:endParaRPr lang="zh-TW" altLang="en-US"/>
          </a:p>
        </p:txBody>
      </p:sp>
      <p:sp>
        <p:nvSpPr>
          <p:cNvPr id="4" name="內容版面配置區 3">
            <a:extLst>
              <a:ext uri="{FF2B5EF4-FFF2-40B4-BE49-F238E27FC236}">
                <a16:creationId xmlns:a16="http://schemas.microsoft.com/office/drawing/2014/main" id="{417AF6BD-B19A-8A77-83D4-82BF18BE6133}"/>
              </a:ext>
            </a:extLst>
          </p:cNvPr>
          <p:cNvSpPr>
            <a:spLocks noGrp="1"/>
          </p:cNvSpPr>
          <p:nvPr>
            <p:ph sz="quarter" idx="13"/>
          </p:nvPr>
        </p:nvSpPr>
        <p:spPr>
          <a:xfrm>
            <a:off x="880334" y="1287817"/>
            <a:ext cx="9601200" cy="4905375"/>
          </a:xfrm>
        </p:spPr>
        <p:txBody>
          <a:bodyPr/>
          <a:lstStyle/>
          <a:p>
            <a:r>
              <a:rPr lang="en-US" altLang="zh-TW" b="1" dirty="0"/>
              <a:t>Object Detection on COCO</a:t>
            </a:r>
          </a:p>
          <a:p>
            <a:pPr marL="457200" indent="-457200">
              <a:buFont typeface="+mj-lt"/>
              <a:buAutoNum type="alphaUcPeriod" startAt="3"/>
            </a:pPr>
            <a:endParaRPr lang="en-US" altLang="zh-TW" sz="2200" dirty="0"/>
          </a:p>
        </p:txBody>
      </p:sp>
      <p:sp>
        <p:nvSpPr>
          <p:cNvPr id="5" name="內容版面配置區 4">
            <a:extLst>
              <a:ext uri="{FF2B5EF4-FFF2-40B4-BE49-F238E27FC236}">
                <a16:creationId xmlns:a16="http://schemas.microsoft.com/office/drawing/2014/main" id="{47A49C02-B43E-CDED-D5CA-5A63766398E6}"/>
              </a:ext>
            </a:extLst>
          </p:cNvPr>
          <p:cNvSpPr>
            <a:spLocks noGrp="1"/>
          </p:cNvSpPr>
          <p:nvPr>
            <p:ph sz="quarter" idx="14"/>
          </p:nvPr>
        </p:nvSpPr>
        <p:spPr/>
        <p:txBody>
          <a:bodyPr/>
          <a:lstStyle/>
          <a:p>
            <a:endParaRPr lang="zh-TW" altLang="en-US" dirty="0"/>
          </a:p>
        </p:txBody>
      </p:sp>
      <p:pic>
        <p:nvPicPr>
          <p:cNvPr id="6" name="圖片 7" descr="一張含有 文字, 字型, 數字, 文件 的圖片&#10;&#10;AI 產生的內容可能不正確。">
            <a:extLst>
              <a:ext uri="{FF2B5EF4-FFF2-40B4-BE49-F238E27FC236}">
                <a16:creationId xmlns:a16="http://schemas.microsoft.com/office/drawing/2014/main" id="{FE098D68-CB9A-476F-D376-CFEA8653B245}"/>
              </a:ext>
            </a:extLst>
          </p:cNvPr>
          <p:cNvPicPr>
            <a:picLocks noChangeAspect="1"/>
          </p:cNvPicPr>
          <p:nvPr/>
        </p:nvPicPr>
        <p:blipFill>
          <a:blip r:embed="rId3"/>
          <a:srcRect b="40669"/>
          <a:stretch>
            <a:fillRect/>
          </a:stretch>
        </p:blipFill>
        <p:spPr>
          <a:xfrm>
            <a:off x="733405" y="1731005"/>
            <a:ext cx="4905395" cy="4409557"/>
          </a:xfrm>
          <a:prstGeom prst="rect">
            <a:avLst/>
          </a:prstGeom>
        </p:spPr>
      </p:pic>
      <p:sp>
        <p:nvSpPr>
          <p:cNvPr id="9" name="文字方塊 8">
            <a:extLst>
              <a:ext uri="{FF2B5EF4-FFF2-40B4-BE49-F238E27FC236}">
                <a16:creationId xmlns:a16="http://schemas.microsoft.com/office/drawing/2014/main" id="{81B1E6B7-5216-5E04-5AF9-3EDF10E2FD00}"/>
              </a:ext>
            </a:extLst>
          </p:cNvPr>
          <p:cNvSpPr txBox="1"/>
          <p:nvPr/>
        </p:nvSpPr>
        <p:spPr>
          <a:xfrm>
            <a:off x="5785729" y="5290156"/>
            <a:ext cx="6167716" cy="738664"/>
          </a:xfrm>
          <a:prstGeom prst="rect">
            <a:avLst/>
          </a:prstGeom>
          <a:noFill/>
        </p:spPr>
        <p:txBody>
          <a:bodyPr wrap="square">
            <a:spAutoFit/>
          </a:bodyPr>
          <a:lstStyle/>
          <a:p>
            <a:pPr marL="285750" indent="-285750" algn="just">
              <a:buFont typeface="Arial" panose="020B0604020202020204" pitchFamily="34" charset="0"/>
              <a:buChar char="•"/>
            </a:pPr>
            <a:r>
              <a:rPr lang="zh-TW" altLang="en-US" sz="1400" dirty="0"/>
              <a:t>AP (Average Precision)</a:t>
            </a:r>
            <a:r>
              <a:rPr lang="en-US" altLang="zh-TW" sz="1400" dirty="0"/>
              <a:t>: M</a:t>
            </a:r>
            <a:r>
              <a:rPr lang="zh-TW" altLang="en-US" sz="1400" dirty="0"/>
              <a:t>easuring how accurately the model detects objects. </a:t>
            </a:r>
            <a:endParaRPr lang="en-US" altLang="zh-TW" sz="1400" dirty="0"/>
          </a:p>
          <a:p>
            <a:pPr marL="285750" indent="-285750" algn="just">
              <a:buFont typeface="Arial" panose="020B0604020202020204" pitchFamily="34" charset="0"/>
              <a:buChar char="•"/>
            </a:pPr>
            <a:r>
              <a:rPr lang="zh-TW" altLang="en-US" sz="1400" dirty="0"/>
              <a:t>AP50 / AP75 Accuracy</a:t>
            </a:r>
            <a:r>
              <a:rPr lang="en-US" altLang="zh-TW" sz="1400" dirty="0"/>
              <a:t>:</a:t>
            </a:r>
            <a:r>
              <a:rPr lang="zh-TW" altLang="en-US" sz="1400" dirty="0"/>
              <a:t> </a:t>
            </a:r>
            <a:r>
              <a:rPr lang="en-US" altLang="zh-TW" sz="1400" dirty="0"/>
              <a:t>S</a:t>
            </a:r>
            <a:r>
              <a:rPr lang="zh-TW" altLang="en-US" sz="1400" dirty="0"/>
              <a:t>cores based on strictness</a:t>
            </a:r>
            <a:endParaRPr lang="en-US" altLang="zh-TW" sz="1400" dirty="0"/>
          </a:p>
          <a:p>
            <a:pPr marL="285750" indent="-285750" algn="just">
              <a:buFont typeface="Arial" panose="020B0604020202020204" pitchFamily="34" charset="0"/>
              <a:buChar char="•"/>
            </a:pPr>
            <a:r>
              <a:rPr lang="zh-TW" altLang="en-US" sz="1400" dirty="0"/>
              <a:t>AP Mask</a:t>
            </a:r>
            <a:r>
              <a:rPr lang="en-US" altLang="zh-TW" sz="1400" dirty="0"/>
              <a:t>:</a:t>
            </a:r>
            <a:r>
              <a:rPr lang="zh-TW" altLang="en-US" sz="1400" dirty="0"/>
              <a:t> The accuracy score for instance segmentation. </a:t>
            </a:r>
            <a:endParaRPr lang="en-US" altLang="zh-TW" sz="1400" dirty="0"/>
          </a:p>
        </p:txBody>
      </p:sp>
      <p:sp>
        <p:nvSpPr>
          <p:cNvPr id="12" name="矩形 11">
            <a:extLst>
              <a:ext uri="{FF2B5EF4-FFF2-40B4-BE49-F238E27FC236}">
                <a16:creationId xmlns:a16="http://schemas.microsoft.com/office/drawing/2014/main" id="{B10792CF-E1F9-0B36-7E6F-47E06351EBF2}"/>
              </a:ext>
            </a:extLst>
          </p:cNvPr>
          <p:cNvSpPr/>
          <p:nvPr/>
        </p:nvSpPr>
        <p:spPr>
          <a:xfrm>
            <a:off x="2602554" y="1992177"/>
            <a:ext cx="1442322" cy="2063456"/>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9184616B-7243-58BC-4E51-E5CB6B9E7F0E}"/>
              </a:ext>
            </a:extLst>
          </p:cNvPr>
          <p:cNvSpPr txBox="1"/>
          <p:nvPr/>
        </p:nvSpPr>
        <p:spPr>
          <a:xfrm>
            <a:off x="5638800" y="1567844"/>
            <a:ext cx="6346115" cy="2585323"/>
          </a:xfrm>
          <a:prstGeom prst="rect">
            <a:avLst/>
          </a:prstGeom>
          <a:noFill/>
        </p:spPr>
        <p:txBody>
          <a:bodyPr wrap="square">
            <a:spAutoFit/>
          </a:bodyPr>
          <a:lstStyle/>
          <a:p>
            <a:pPr marL="285750" indent="-285750" algn="just">
              <a:buFont typeface="Wingdings" panose="05000000000000000000" pitchFamily="2" charset="2"/>
              <a:buChar char="Ø"/>
            </a:pPr>
            <a:r>
              <a:rPr lang="en-US" altLang="zh-TW" dirty="0"/>
              <a:t>Table2(a) lists the results of Swin-T and ResNet-50 on the </a:t>
            </a:r>
            <a:r>
              <a:rPr lang="en-US" altLang="zh-TW" b="1" dirty="0"/>
              <a:t>four different object detection frameworks</a:t>
            </a:r>
            <a:r>
              <a:rPr lang="en-US" altLang="zh-TW" dirty="0"/>
              <a:t>. Swin-T architecture brings consistent+3.4∼4.2 box AP gains over ResNet-50,with slightly larger model size, FLOPs and latency.</a:t>
            </a:r>
          </a:p>
          <a:p>
            <a:pPr marL="285750" indent="-285750" algn="just">
              <a:buFont typeface="Wingdings" panose="05000000000000000000" pitchFamily="2" charset="2"/>
              <a:buChar char="Ø"/>
            </a:pPr>
            <a:endParaRPr lang="en-US" altLang="zh-TW" dirty="0"/>
          </a:p>
          <a:p>
            <a:pPr marL="285750" indent="-285750" algn="just">
              <a:buFont typeface="Wingdings" panose="05000000000000000000" pitchFamily="2" charset="2"/>
              <a:buChar char="Ø"/>
            </a:pPr>
            <a:r>
              <a:rPr lang="en-US" altLang="zh-TW" dirty="0"/>
              <a:t>Table2(b) lists the results of Under the </a:t>
            </a:r>
            <a:r>
              <a:rPr lang="en-US" altLang="zh-TW" b="1" dirty="0"/>
              <a:t>same framework</a:t>
            </a:r>
            <a:r>
              <a:rPr lang="en-US" altLang="zh-TW" dirty="0"/>
              <a:t>, Swin-T and Swin-B outperform ResNet-50 and ResNeXt-101 by +4.2 and +3.6 AP respectively, while Swin-T beats </a:t>
            </a:r>
            <a:r>
              <a:rPr lang="en-US" altLang="zh-TW" dirty="0" err="1"/>
              <a:t>DeiT</a:t>
            </a:r>
            <a:r>
              <a:rPr lang="en-US" altLang="zh-TW" dirty="0"/>
              <a:t>-S by +2.5 AP.</a:t>
            </a:r>
            <a:endParaRPr lang="zh-TW" altLang="en-US" dirty="0"/>
          </a:p>
        </p:txBody>
      </p:sp>
      <p:sp>
        <p:nvSpPr>
          <p:cNvPr id="8" name="文字方塊 7">
            <a:extLst>
              <a:ext uri="{FF2B5EF4-FFF2-40B4-BE49-F238E27FC236}">
                <a16:creationId xmlns:a16="http://schemas.microsoft.com/office/drawing/2014/main" id="{A2DEB160-8449-B08F-D6C0-6FDAA4709508}"/>
              </a:ext>
            </a:extLst>
          </p:cNvPr>
          <p:cNvSpPr txBox="1"/>
          <p:nvPr/>
        </p:nvSpPr>
        <p:spPr>
          <a:xfrm>
            <a:off x="624436" y="6104930"/>
            <a:ext cx="5123331" cy="307777"/>
          </a:xfrm>
          <a:prstGeom prst="rect">
            <a:avLst/>
          </a:prstGeom>
          <a:noFill/>
        </p:spPr>
        <p:txBody>
          <a:bodyPr wrap="square">
            <a:spAutoFit/>
          </a:bodyPr>
          <a:lstStyle/>
          <a:p>
            <a:pPr algn="just"/>
            <a:r>
              <a:rPr lang="en-US" altLang="zh-TW" sz="1400" dirty="0"/>
              <a:t>Table2.Results</a:t>
            </a:r>
            <a:r>
              <a:rPr lang="zh-TW" altLang="en-US" sz="1400" dirty="0"/>
              <a:t> </a:t>
            </a:r>
            <a:r>
              <a:rPr lang="en-US" altLang="zh-TW" sz="1400" dirty="0"/>
              <a:t>on</a:t>
            </a:r>
            <a:r>
              <a:rPr lang="zh-TW" altLang="en-US" sz="1400" dirty="0"/>
              <a:t> </a:t>
            </a:r>
            <a:r>
              <a:rPr lang="en-US" altLang="zh-TW" sz="1400" dirty="0"/>
              <a:t>COCO</a:t>
            </a:r>
            <a:r>
              <a:rPr lang="zh-TW" altLang="en-US" sz="1400" dirty="0"/>
              <a:t> </a:t>
            </a:r>
            <a:r>
              <a:rPr lang="en-US" altLang="zh-TW" sz="1400" dirty="0"/>
              <a:t>object</a:t>
            </a:r>
            <a:r>
              <a:rPr lang="zh-TW" altLang="en-US" sz="1400" dirty="0"/>
              <a:t> </a:t>
            </a:r>
            <a:r>
              <a:rPr lang="en-US" altLang="zh-TW" sz="1400" dirty="0"/>
              <a:t>detection</a:t>
            </a:r>
            <a:r>
              <a:rPr lang="zh-TW" altLang="en-US" sz="1400" dirty="0"/>
              <a:t> </a:t>
            </a:r>
            <a:r>
              <a:rPr lang="en-US" altLang="zh-TW" sz="1400" dirty="0"/>
              <a:t>and</a:t>
            </a:r>
            <a:r>
              <a:rPr lang="zh-TW" altLang="en-US" sz="1400" dirty="0"/>
              <a:t> </a:t>
            </a:r>
            <a:r>
              <a:rPr lang="en-US" altLang="zh-TW" sz="1400" dirty="0"/>
              <a:t>instance</a:t>
            </a:r>
            <a:r>
              <a:rPr lang="zh-TW" altLang="en-US" sz="1400" dirty="0"/>
              <a:t> </a:t>
            </a:r>
            <a:r>
              <a:rPr lang="en-US" altLang="zh-TW" sz="1400" dirty="0"/>
              <a:t>segmentation.</a:t>
            </a:r>
            <a:endParaRPr lang="zh-TW" altLang="en-US" sz="1400" dirty="0"/>
          </a:p>
        </p:txBody>
      </p:sp>
    </p:spTree>
    <p:extLst>
      <p:ext uri="{BB962C8B-B14F-4D97-AF65-F5344CB8AC3E}">
        <p14:creationId xmlns:p14="http://schemas.microsoft.com/office/powerpoint/2010/main" val="1876668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7423F-F168-5784-50A1-BED2BB614213}"/>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AE0BA3E-6D7E-20E5-4C2F-86CA0F4DA653}"/>
              </a:ext>
            </a:extLst>
          </p:cNvPr>
          <p:cNvSpPr>
            <a:spLocks noGrp="1"/>
          </p:cNvSpPr>
          <p:nvPr>
            <p:ph type="title"/>
          </p:nvPr>
        </p:nvSpPr>
        <p:spPr/>
        <p:txBody>
          <a:bodyPr/>
          <a:lstStyle/>
          <a:p>
            <a:r>
              <a:rPr lang="en-US" altLang="zh-TW" dirty="0"/>
              <a:t>IV. Experiment</a:t>
            </a:r>
            <a:endParaRPr lang="zh-TW" altLang="en-US" dirty="0"/>
          </a:p>
        </p:txBody>
      </p:sp>
      <p:sp>
        <p:nvSpPr>
          <p:cNvPr id="3" name="投影片編號版面配置區 2">
            <a:extLst>
              <a:ext uri="{FF2B5EF4-FFF2-40B4-BE49-F238E27FC236}">
                <a16:creationId xmlns:a16="http://schemas.microsoft.com/office/drawing/2014/main" id="{C2CDA9FC-AFBB-EDEB-7DB5-FBBF00CDD21E}"/>
              </a:ext>
            </a:extLst>
          </p:cNvPr>
          <p:cNvSpPr>
            <a:spLocks noGrp="1"/>
          </p:cNvSpPr>
          <p:nvPr>
            <p:ph type="sldNum" sz="quarter" idx="12"/>
          </p:nvPr>
        </p:nvSpPr>
        <p:spPr/>
        <p:txBody>
          <a:bodyPr/>
          <a:lstStyle/>
          <a:p>
            <a:fld id="{3E97B41F-AD73-4999-8C34-7D0FF5EF3CF5}" type="slidenum">
              <a:rPr lang="zh-TW" altLang="en-US" smtClean="0"/>
              <a:t>21</a:t>
            </a:fld>
            <a:endParaRPr lang="zh-TW" altLang="en-US"/>
          </a:p>
        </p:txBody>
      </p:sp>
      <p:sp>
        <p:nvSpPr>
          <p:cNvPr id="4" name="內容版面配置區 3">
            <a:extLst>
              <a:ext uri="{FF2B5EF4-FFF2-40B4-BE49-F238E27FC236}">
                <a16:creationId xmlns:a16="http://schemas.microsoft.com/office/drawing/2014/main" id="{A41DE7EC-11B1-FCB8-754D-16930B5F654C}"/>
              </a:ext>
            </a:extLst>
          </p:cNvPr>
          <p:cNvSpPr>
            <a:spLocks noGrp="1"/>
          </p:cNvSpPr>
          <p:nvPr>
            <p:ph sz="quarter" idx="13"/>
          </p:nvPr>
        </p:nvSpPr>
        <p:spPr>
          <a:xfrm>
            <a:off x="880334" y="1287817"/>
            <a:ext cx="9601200" cy="4905375"/>
          </a:xfrm>
        </p:spPr>
        <p:txBody>
          <a:bodyPr/>
          <a:lstStyle/>
          <a:p>
            <a:r>
              <a:rPr lang="en-US" altLang="zh-TW" b="1" dirty="0"/>
              <a:t>Object Detection on COCO</a:t>
            </a:r>
            <a:endParaRPr lang="en-US" altLang="zh-TW" sz="2200" dirty="0"/>
          </a:p>
        </p:txBody>
      </p:sp>
      <p:sp>
        <p:nvSpPr>
          <p:cNvPr id="5" name="內容版面配置區 4">
            <a:extLst>
              <a:ext uri="{FF2B5EF4-FFF2-40B4-BE49-F238E27FC236}">
                <a16:creationId xmlns:a16="http://schemas.microsoft.com/office/drawing/2014/main" id="{7975334A-AE30-40A0-458F-6E9969B24C23}"/>
              </a:ext>
            </a:extLst>
          </p:cNvPr>
          <p:cNvSpPr>
            <a:spLocks noGrp="1"/>
          </p:cNvSpPr>
          <p:nvPr>
            <p:ph sz="quarter" idx="14"/>
          </p:nvPr>
        </p:nvSpPr>
        <p:spPr/>
        <p:txBody>
          <a:bodyPr/>
          <a:lstStyle/>
          <a:p>
            <a:endParaRPr lang="zh-TW" altLang="en-US" dirty="0"/>
          </a:p>
        </p:txBody>
      </p:sp>
      <p:pic>
        <p:nvPicPr>
          <p:cNvPr id="8" name="圖片 7" descr="一張含有 文字, 字型, 數字, 文件 的圖片&#10;&#10;AI 產生的內容可能不正確。">
            <a:extLst>
              <a:ext uri="{FF2B5EF4-FFF2-40B4-BE49-F238E27FC236}">
                <a16:creationId xmlns:a16="http://schemas.microsoft.com/office/drawing/2014/main" id="{30531B9B-B874-A627-A7A8-F8EC001B6381}"/>
              </a:ext>
            </a:extLst>
          </p:cNvPr>
          <p:cNvPicPr>
            <a:picLocks noChangeAspect="1"/>
          </p:cNvPicPr>
          <p:nvPr/>
        </p:nvPicPr>
        <p:blipFill>
          <a:blip r:embed="rId3"/>
          <a:srcRect t="59782"/>
          <a:stretch>
            <a:fillRect/>
          </a:stretch>
        </p:blipFill>
        <p:spPr>
          <a:xfrm>
            <a:off x="866083" y="1967673"/>
            <a:ext cx="5229917" cy="3186814"/>
          </a:xfrm>
          <a:prstGeom prst="rect">
            <a:avLst/>
          </a:prstGeom>
        </p:spPr>
      </p:pic>
      <p:sp>
        <p:nvSpPr>
          <p:cNvPr id="9" name="文字方塊 8">
            <a:extLst>
              <a:ext uri="{FF2B5EF4-FFF2-40B4-BE49-F238E27FC236}">
                <a16:creationId xmlns:a16="http://schemas.microsoft.com/office/drawing/2014/main" id="{BC064F66-B66E-3C7D-02BA-D039E7DDD5CE}"/>
              </a:ext>
            </a:extLst>
          </p:cNvPr>
          <p:cNvSpPr txBox="1"/>
          <p:nvPr/>
        </p:nvSpPr>
        <p:spPr>
          <a:xfrm>
            <a:off x="954293" y="5163759"/>
            <a:ext cx="5229917" cy="307777"/>
          </a:xfrm>
          <a:prstGeom prst="rect">
            <a:avLst/>
          </a:prstGeom>
          <a:noFill/>
        </p:spPr>
        <p:txBody>
          <a:bodyPr wrap="square">
            <a:spAutoFit/>
          </a:bodyPr>
          <a:lstStyle/>
          <a:p>
            <a:pPr algn="just"/>
            <a:r>
              <a:rPr lang="en-US" altLang="zh-TW" sz="1400" dirty="0"/>
              <a:t>Table2.Results</a:t>
            </a:r>
            <a:r>
              <a:rPr lang="zh-TW" altLang="en-US" sz="1400" dirty="0"/>
              <a:t> </a:t>
            </a:r>
            <a:r>
              <a:rPr lang="en-US" altLang="zh-TW" sz="1400" dirty="0"/>
              <a:t>on</a:t>
            </a:r>
            <a:r>
              <a:rPr lang="zh-TW" altLang="en-US" sz="1400" dirty="0"/>
              <a:t> </a:t>
            </a:r>
            <a:r>
              <a:rPr lang="en-US" altLang="zh-TW" sz="1400" dirty="0"/>
              <a:t>COCO</a:t>
            </a:r>
            <a:r>
              <a:rPr lang="zh-TW" altLang="en-US" sz="1400" dirty="0"/>
              <a:t> </a:t>
            </a:r>
            <a:r>
              <a:rPr lang="en-US" altLang="zh-TW" sz="1400" dirty="0"/>
              <a:t>object</a:t>
            </a:r>
            <a:r>
              <a:rPr lang="zh-TW" altLang="en-US" sz="1400" dirty="0"/>
              <a:t> </a:t>
            </a:r>
            <a:r>
              <a:rPr lang="en-US" altLang="zh-TW" sz="1400" dirty="0"/>
              <a:t>detection</a:t>
            </a:r>
            <a:r>
              <a:rPr lang="zh-TW" altLang="en-US" sz="1400" dirty="0"/>
              <a:t> </a:t>
            </a:r>
            <a:r>
              <a:rPr lang="en-US" altLang="zh-TW" sz="1400" dirty="0"/>
              <a:t>and</a:t>
            </a:r>
            <a:r>
              <a:rPr lang="zh-TW" altLang="en-US" sz="1400" dirty="0"/>
              <a:t> </a:t>
            </a:r>
            <a:r>
              <a:rPr lang="en-US" altLang="zh-TW" sz="1400" dirty="0"/>
              <a:t>instance</a:t>
            </a:r>
            <a:r>
              <a:rPr lang="zh-TW" altLang="en-US" sz="1400" dirty="0"/>
              <a:t> </a:t>
            </a:r>
            <a:r>
              <a:rPr lang="en-US" altLang="zh-TW" sz="1400" dirty="0"/>
              <a:t>segmentation.</a:t>
            </a:r>
            <a:endParaRPr lang="zh-TW" altLang="en-US" sz="1400" dirty="0"/>
          </a:p>
        </p:txBody>
      </p:sp>
      <p:sp>
        <p:nvSpPr>
          <p:cNvPr id="10" name="矩形 9">
            <a:extLst>
              <a:ext uri="{FF2B5EF4-FFF2-40B4-BE49-F238E27FC236}">
                <a16:creationId xmlns:a16="http://schemas.microsoft.com/office/drawing/2014/main" id="{5ED5F115-CB60-152A-AB56-8B555CD7DF8B}"/>
              </a:ext>
            </a:extLst>
          </p:cNvPr>
          <p:cNvSpPr/>
          <p:nvPr/>
        </p:nvSpPr>
        <p:spPr>
          <a:xfrm>
            <a:off x="3691219" y="4845030"/>
            <a:ext cx="1095933" cy="2581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A4A18A7C-40E9-ADCC-C648-C3D0964DB53D}"/>
              </a:ext>
            </a:extLst>
          </p:cNvPr>
          <p:cNvSpPr txBox="1"/>
          <p:nvPr/>
        </p:nvSpPr>
        <p:spPr>
          <a:xfrm>
            <a:off x="6184210" y="2173266"/>
            <a:ext cx="5907965" cy="1477328"/>
          </a:xfrm>
          <a:prstGeom prst="rect">
            <a:avLst/>
          </a:prstGeom>
          <a:noFill/>
        </p:spPr>
        <p:txBody>
          <a:bodyPr wrap="square">
            <a:spAutoFit/>
          </a:bodyPr>
          <a:lstStyle/>
          <a:p>
            <a:pPr marL="285750" indent="-285750" algn="just">
              <a:buFont typeface="Wingdings" panose="05000000000000000000" pitchFamily="2" charset="2"/>
              <a:buChar char="Ø"/>
            </a:pPr>
            <a:r>
              <a:rPr lang="en-US" altLang="zh-TW" b="1" dirty="0"/>
              <a:t>Comparison to previous state-of-the-art	              </a:t>
            </a:r>
            <a:r>
              <a:rPr lang="en-US" altLang="zh-TW" dirty="0"/>
              <a:t>The best model achieves a new State-of-the-Art (SOTA) on COCO test-dev with 58.7 box AP and 51.1 mask AP, outperforming the previous best result by +2.7 box AP and + 2.6 mask AP.</a:t>
            </a:r>
            <a:endParaRPr lang="zh-TW" altLang="en-US" dirty="0"/>
          </a:p>
        </p:txBody>
      </p:sp>
      <p:sp>
        <p:nvSpPr>
          <p:cNvPr id="11" name="矩形 10">
            <a:extLst>
              <a:ext uri="{FF2B5EF4-FFF2-40B4-BE49-F238E27FC236}">
                <a16:creationId xmlns:a16="http://schemas.microsoft.com/office/drawing/2014/main" id="{C7478A4B-40C4-F4EC-FA1C-888ED8623734}"/>
              </a:ext>
            </a:extLst>
          </p:cNvPr>
          <p:cNvSpPr/>
          <p:nvPr/>
        </p:nvSpPr>
        <p:spPr>
          <a:xfrm>
            <a:off x="3691219" y="3865244"/>
            <a:ext cx="484094" cy="2581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6C658541-55CB-2E16-EE88-D1D83B0D73A1}"/>
              </a:ext>
            </a:extLst>
          </p:cNvPr>
          <p:cNvSpPr/>
          <p:nvPr/>
        </p:nvSpPr>
        <p:spPr>
          <a:xfrm>
            <a:off x="4239185" y="3399471"/>
            <a:ext cx="484094" cy="25813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224830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EBD18-78BA-2078-97B7-9EC40FCC599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90B0A81-AC7C-75A0-C3A7-D887A910B407}"/>
              </a:ext>
            </a:extLst>
          </p:cNvPr>
          <p:cNvSpPr>
            <a:spLocks noGrp="1"/>
          </p:cNvSpPr>
          <p:nvPr>
            <p:ph type="title"/>
          </p:nvPr>
        </p:nvSpPr>
        <p:spPr/>
        <p:txBody>
          <a:bodyPr/>
          <a:lstStyle/>
          <a:p>
            <a:r>
              <a:rPr lang="en-US" altLang="zh-TW" dirty="0"/>
              <a:t>IV. Experiment</a:t>
            </a:r>
            <a:endParaRPr lang="zh-TW" altLang="en-US" dirty="0"/>
          </a:p>
        </p:txBody>
      </p:sp>
      <p:sp>
        <p:nvSpPr>
          <p:cNvPr id="3" name="投影片編號版面配置區 2">
            <a:extLst>
              <a:ext uri="{FF2B5EF4-FFF2-40B4-BE49-F238E27FC236}">
                <a16:creationId xmlns:a16="http://schemas.microsoft.com/office/drawing/2014/main" id="{8698AC19-0996-D50A-DA82-C930051EE0E3}"/>
              </a:ext>
            </a:extLst>
          </p:cNvPr>
          <p:cNvSpPr>
            <a:spLocks noGrp="1"/>
          </p:cNvSpPr>
          <p:nvPr>
            <p:ph type="sldNum" sz="quarter" idx="12"/>
          </p:nvPr>
        </p:nvSpPr>
        <p:spPr/>
        <p:txBody>
          <a:bodyPr/>
          <a:lstStyle/>
          <a:p>
            <a:fld id="{3E97B41F-AD73-4999-8C34-7D0FF5EF3CF5}" type="slidenum">
              <a:rPr lang="zh-TW" altLang="en-US" smtClean="0"/>
              <a:t>22</a:t>
            </a:fld>
            <a:endParaRPr lang="zh-TW" altLang="en-US"/>
          </a:p>
        </p:txBody>
      </p:sp>
      <p:sp>
        <p:nvSpPr>
          <p:cNvPr id="4" name="內容版面配置區 3">
            <a:extLst>
              <a:ext uri="{FF2B5EF4-FFF2-40B4-BE49-F238E27FC236}">
                <a16:creationId xmlns:a16="http://schemas.microsoft.com/office/drawing/2014/main" id="{A4AB5C69-8A3B-D56B-2D07-E543EA077133}"/>
              </a:ext>
            </a:extLst>
          </p:cNvPr>
          <p:cNvSpPr>
            <a:spLocks noGrp="1"/>
          </p:cNvSpPr>
          <p:nvPr>
            <p:ph sz="quarter" idx="13"/>
          </p:nvPr>
        </p:nvSpPr>
        <p:spPr>
          <a:xfrm>
            <a:off x="880334" y="1287817"/>
            <a:ext cx="9601200" cy="4905375"/>
          </a:xfrm>
        </p:spPr>
        <p:txBody>
          <a:bodyPr>
            <a:normAutofit/>
          </a:bodyPr>
          <a:lstStyle/>
          <a:p>
            <a:r>
              <a:rPr lang="en-US" altLang="zh-TW" b="1" dirty="0"/>
              <a:t>Semantic Segmentation on ADE20K</a:t>
            </a:r>
          </a:p>
        </p:txBody>
      </p:sp>
      <p:sp>
        <p:nvSpPr>
          <p:cNvPr id="5" name="內容版面配置區 4">
            <a:extLst>
              <a:ext uri="{FF2B5EF4-FFF2-40B4-BE49-F238E27FC236}">
                <a16:creationId xmlns:a16="http://schemas.microsoft.com/office/drawing/2014/main" id="{CF07DB95-1B65-EBD0-8EE0-9C18CCE88354}"/>
              </a:ext>
            </a:extLst>
          </p:cNvPr>
          <p:cNvSpPr>
            <a:spLocks noGrp="1"/>
          </p:cNvSpPr>
          <p:nvPr>
            <p:ph sz="quarter" idx="14"/>
          </p:nvPr>
        </p:nvSpPr>
        <p:spPr/>
        <p:txBody>
          <a:bodyPr/>
          <a:lstStyle/>
          <a:p>
            <a:endParaRPr lang="zh-TW" altLang="en-US" dirty="0"/>
          </a:p>
        </p:txBody>
      </p:sp>
      <p:pic>
        <p:nvPicPr>
          <p:cNvPr id="7" name="圖片 6" descr="一張含有 文字, 螢幕擷取畫面, 字型, 數字 的圖片&#10;&#10;AI 產生的內容可能不正確。">
            <a:extLst>
              <a:ext uri="{FF2B5EF4-FFF2-40B4-BE49-F238E27FC236}">
                <a16:creationId xmlns:a16="http://schemas.microsoft.com/office/drawing/2014/main" id="{2120FA01-955F-D9EC-A21D-D55D50ADC802}"/>
              </a:ext>
            </a:extLst>
          </p:cNvPr>
          <p:cNvPicPr>
            <a:picLocks noChangeAspect="1"/>
          </p:cNvPicPr>
          <p:nvPr/>
        </p:nvPicPr>
        <p:blipFill>
          <a:blip r:embed="rId3"/>
          <a:stretch>
            <a:fillRect/>
          </a:stretch>
        </p:blipFill>
        <p:spPr>
          <a:xfrm>
            <a:off x="1022073" y="1898838"/>
            <a:ext cx="5171231" cy="3683332"/>
          </a:xfrm>
          <a:prstGeom prst="rect">
            <a:avLst/>
          </a:prstGeom>
        </p:spPr>
      </p:pic>
      <p:sp>
        <p:nvSpPr>
          <p:cNvPr id="8" name="文字方塊 7">
            <a:extLst>
              <a:ext uri="{FF2B5EF4-FFF2-40B4-BE49-F238E27FC236}">
                <a16:creationId xmlns:a16="http://schemas.microsoft.com/office/drawing/2014/main" id="{88B141DC-F936-32AC-3FD9-8AF471F7A188}"/>
              </a:ext>
            </a:extLst>
          </p:cNvPr>
          <p:cNvSpPr txBox="1"/>
          <p:nvPr/>
        </p:nvSpPr>
        <p:spPr>
          <a:xfrm>
            <a:off x="912947" y="5605388"/>
            <a:ext cx="5389484" cy="307777"/>
          </a:xfrm>
          <a:prstGeom prst="rect">
            <a:avLst/>
          </a:prstGeom>
          <a:noFill/>
        </p:spPr>
        <p:txBody>
          <a:bodyPr wrap="square">
            <a:spAutoFit/>
          </a:bodyPr>
          <a:lstStyle/>
          <a:p>
            <a:pPr algn="just"/>
            <a:r>
              <a:rPr lang="zh-TW" altLang="en-US" sz="1400" dirty="0"/>
              <a:t>Table3. Results of semantic segmentationon the ADE20K val and testset.</a:t>
            </a:r>
          </a:p>
        </p:txBody>
      </p:sp>
      <p:sp>
        <p:nvSpPr>
          <p:cNvPr id="10" name="矩形 9">
            <a:extLst>
              <a:ext uri="{FF2B5EF4-FFF2-40B4-BE49-F238E27FC236}">
                <a16:creationId xmlns:a16="http://schemas.microsoft.com/office/drawing/2014/main" id="{243AA72A-6503-AA6B-A545-0692D1EFA853}"/>
              </a:ext>
            </a:extLst>
          </p:cNvPr>
          <p:cNvSpPr/>
          <p:nvPr/>
        </p:nvSpPr>
        <p:spPr>
          <a:xfrm>
            <a:off x="2511756" y="5262406"/>
            <a:ext cx="1912326" cy="307777"/>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430C7788-A3E0-D299-66CA-0F0415E73DD9}"/>
              </a:ext>
            </a:extLst>
          </p:cNvPr>
          <p:cNvSpPr/>
          <p:nvPr/>
        </p:nvSpPr>
        <p:spPr>
          <a:xfrm>
            <a:off x="2442280" y="4038076"/>
            <a:ext cx="1981802" cy="29579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a:extLst>
              <a:ext uri="{FF2B5EF4-FFF2-40B4-BE49-F238E27FC236}">
                <a16:creationId xmlns:a16="http://schemas.microsoft.com/office/drawing/2014/main" id="{BA23E387-6AAD-0337-92C9-2FED49DB2C7A}"/>
              </a:ext>
            </a:extLst>
          </p:cNvPr>
          <p:cNvSpPr txBox="1"/>
          <p:nvPr/>
        </p:nvSpPr>
        <p:spPr>
          <a:xfrm>
            <a:off x="6335043" y="1898838"/>
            <a:ext cx="5652512" cy="1754326"/>
          </a:xfrm>
          <a:prstGeom prst="rect">
            <a:avLst/>
          </a:prstGeom>
          <a:noFill/>
        </p:spPr>
        <p:txBody>
          <a:bodyPr wrap="square">
            <a:spAutoFit/>
          </a:bodyPr>
          <a:lstStyle/>
          <a:p>
            <a:pPr marL="285750" indent="-285750" algn="just">
              <a:buFont typeface="Wingdings" panose="05000000000000000000" pitchFamily="2" charset="2"/>
              <a:buChar char="Ø"/>
            </a:pPr>
            <a:r>
              <a:rPr lang="en-US" altLang="zh-TW" dirty="0"/>
              <a:t>Swin-S significantly outperforms </a:t>
            </a:r>
            <a:r>
              <a:rPr lang="en-US" altLang="zh-TW" dirty="0" err="1"/>
              <a:t>DeiT</a:t>
            </a:r>
            <a:r>
              <a:rPr lang="en-US" altLang="zh-TW" dirty="0"/>
              <a:t>-S (+5.3 </a:t>
            </a:r>
            <a:r>
              <a:rPr lang="en-US" altLang="zh-TW" dirty="0" err="1"/>
              <a:t>mIoU</a:t>
            </a:r>
            <a:r>
              <a:rPr lang="en-US" altLang="zh-TW" dirty="0"/>
              <a:t>), ResNet-101 (+4.4 </a:t>
            </a:r>
            <a:r>
              <a:rPr lang="en-US" altLang="zh-TW" dirty="0" err="1"/>
              <a:t>mIoU</a:t>
            </a:r>
            <a:r>
              <a:rPr lang="en-US" altLang="zh-TW" dirty="0"/>
              <a:t>), and ResNeSt-101 (+2.4 </a:t>
            </a:r>
            <a:r>
              <a:rPr lang="en-US" altLang="zh-TW" dirty="0" err="1"/>
              <a:t>mIoU</a:t>
            </a:r>
            <a:r>
              <a:rPr lang="en-US" altLang="zh-TW" dirty="0"/>
              <a:t>) under similar computation costs, while the pre-trained Swin-L model achieves a new State-of-the-Art of 53.5 </a:t>
            </a:r>
            <a:r>
              <a:rPr lang="en-US" altLang="zh-TW" dirty="0" err="1"/>
              <a:t>mIoU</a:t>
            </a:r>
            <a:r>
              <a:rPr lang="en-US" altLang="zh-TW" dirty="0"/>
              <a:t>, beating the previous best SETR model by +3.2 </a:t>
            </a:r>
            <a:r>
              <a:rPr lang="en-US" altLang="zh-TW" dirty="0" err="1"/>
              <a:t>mIoU</a:t>
            </a:r>
            <a:r>
              <a:rPr lang="en-US" altLang="zh-TW" dirty="0"/>
              <a:t> despite having a smaller model size.</a:t>
            </a:r>
            <a:endParaRPr lang="zh-TW" altLang="en-US" dirty="0"/>
          </a:p>
        </p:txBody>
      </p:sp>
    </p:spTree>
    <p:extLst>
      <p:ext uri="{BB962C8B-B14F-4D97-AF65-F5344CB8AC3E}">
        <p14:creationId xmlns:p14="http://schemas.microsoft.com/office/powerpoint/2010/main" val="3596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2740-B4B0-6694-C2EE-05B9E2D4C66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BA686EB-9C42-2C44-5DA1-1C69F7AA66F1}"/>
              </a:ext>
            </a:extLst>
          </p:cNvPr>
          <p:cNvSpPr>
            <a:spLocks noGrp="1"/>
          </p:cNvSpPr>
          <p:nvPr>
            <p:ph type="title"/>
          </p:nvPr>
        </p:nvSpPr>
        <p:spPr/>
        <p:txBody>
          <a:bodyPr/>
          <a:lstStyle/>
          <a:p>
            <a:r>
              <a:rPr lang="en-US" altLang="zh-TW" dirty="0"/>
              <a:t>Outline</a:t>
            </a:r>
            <a:endParaRPr lang="zh-TW" altLang="en-US" dirty="0"/>
          </a:p>
        </p:txBody>
      </p:sp>
      <p:sp>
        <p:nvSpPr>
          <p:cNvPr id="4" name="內容版面配置區 3">
            <a:extLst>
              <a:ext uri="{FF2B5EF4-FFF2-40B4-BE49-F238E27FC236}">
                <a16:creationId xmlns:a16="http://schemas.microsoft.com/office/drawing/2014/main" id="{15A43F57-2464-402E-1614-66772031DFA9}"/>
              </a:ext>
            </a:extLst>
          </p:cNvPr>
          <p:cNvSpPr>
            <a:spLocks noGrp="1"/>
          </p:cNvSpPr>
          <p:nvPr>
            <p:ph sz="quarter" idx="14"/>
          </p:nvPr>
        </p:nvSpPr>
        <p:spPr/>
        <p:txBody>
          <a:bodyPr/>
          <a:lstStyle/>
          <a:p>
            <a:endParaRPr lang="zh-TW" altLang="en-US"/>
          </a:p>
        </p:txBody>
      </p:sp>
      <p:sp>
        <p:nvSpPr>
          <p:cNvPr id="7" name="內容版面配置區 2">
            <a:extLst>
              <a:ext uri="{FF2B5EF4-FFF2-40B4-BE49-F238E27FC236}">
                <a16:creationId xmlns:a16="http://schemas.microsoft.com/office/drawing/2014/main" id="{5545AB11-88E2-5EB2-E2A3-5EE1BE3DFEEE}"/>
              </a:ext>
            </a:extLst>
          </p:cNvPr>
          <p:cNvSpPr>
            <a:spLocks noGrp="1"/>
          </p:cNvSpPr>
          <p:nvPr>
            <p:ph sz="quarter" idx="13"/>
          </p:nvPr>
        </p:nvSpPr>
        <p:spPr>
          <a:xfrm>
            <a:off x="838200" y="1298575"/>
            <a:ext cx="9601200" cy="4905375"/>
          </a:xfrm>
        </p:spPr>
        <p:txBody>
          <a:bodyPr>
            <a:normAutofit/>
          </a:bodyPr>
          <a:lstStyle/>
          <a:p>
            <a:pPr marL="571500" indent="-571500">
              <a:lnSpc>
                <a:spcPct val="150000"/>
              </a:lnSpc>
              <a:buAutoNum type="romanUcPeriod"/>
            </a:pPr>
            <a:r>
              <a:rPr lang="en-US" altLang="zh-TW" sz="2800" dirty="0"/>
              <a:t>Introduction</a:t>
            </a:r>
          </a:p>
          <a:p>
            <a:pPr marL="571500" indent="-571500">
              <a:lnSpc>
                <a:spcPct val="150000"/>
              </a:lnSpc>
              <a:buAutoNum type="romanUcPeriod"/>
            </a:pPr>
            <a:r>
              <a:rPr lang="en-US" altLang="zh-TW" sz="2800" dirty="0"/>
              <a:t>Related Work</a:t>
            </a:r>
          </a:p>
          <a:p>
            <a:pPr marL="571500" indent="-571500">
              <a:lnSpc>
                <a:spcPct val="150000"/>
              </a:lnSpc>
              <a:buFont typeface="Wingdings" panose="05000000000000000000" pitchFamily="2" charset="2"/>
              <a:buAutoNum type="romanUcPeriod"/>
            </a:pPr>
            <a:r>
              <a:rPr lang="en-US" altLang="zh-TW" sz="2800" dirty="0"/>
              <a:t>Method</a:t>
            </a:r>
          </a:p>
          <a:p>
            <a:pPr marL="571500" indent="-571500">
              <a:lnSpc>
                <a:spcPct val="150000"/>
              </a:lnSpc>
              <a:buAutoNum type="romanUcPeriod"/>
            </a:pPr>
            <a:r>
              <a:rPr lang="en-US" altLang="zh-TW" sz="2800" dirty="0"/>
              <a:t>Experiment</a:t>
            </a:r>
          </a:p>
          <a:p>
            <a:pPr marL="571500" indent="-571500">
              <a:lnSpc>
                <a:spcPct val="150000"/>
              </a:lnSpc>
              <a:buAutoNum type="romanUcPeriod"/>
            </a:pPr>
            <a:r>
              <a:rPr lang="en-US" altLang="zh-TW" sz="2800" b="1" dirty="0"/>
              <a:t>Conclusion</a:t>
            </a:r>
            <a:endParaRPr lang="zh-TW" altLang="en-US" b="1" dirty="0"/>
          </a:p>
        </p:txBody>
      </p:sp>
      <p:sp>
        <p:nvSpPr>
          <p:cNvPr id="8" name="投影片編號版面配置區 7">
            <a:extLst>
              <a:ext uri="{FF2B5EF4-FFF2-40B4-BE49-F238E27FC236}">
                <a16:creationId xmlns:a16="http://schemas.microsoft.com/office/drawing/2014/main" id="{9E567F22-5050-C019-9902-E562B5CD8B3A}"/>
              </a:ext>
            </a:extLst>
          </p:cNvPr>
          <p:cNvSpPr>
            <a:spLocks noGrp="1"/>
          </p:cNvSpPr>
          <p:nvPr>
            <p:ph type="sldNum" sz="quarter" idx="12"/>
          </p:nvPr>
        </p:nvSpPr>
        <p:spPr/>
        <p:txBody>
          <a:bodyPr/>
          <a:lstStyle/>
          <a:p>
            <a:fld id="{3E97B41F-AD73-4999-8C34-7D0FF5EF3CF5}" type="slidenum">
              <a:rPr lang="zh-TW" altLang="en-US" smtClean="0"/>
              <a:t>23</a:t>
            </a:fld>
            <a:endParaRPr lang="zh-TW" altLang="en-US"/>
          </a:p>
        </p:txBody>
      </p:sp>
    </p:spTree>
    <p:extLst>
      <p:ext uri="{BB962C8B-B14F-4D97-AF65-F5344CB8AC3E}">
        <p14:creationId xmlns:p14="http://schemas.microsoft.com/office/powerpoint/2010/main" val="377284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33152-F2AD-BF59-8ABC-BF0EC36842A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45EA82A-D061-5CA8-4D53-835DD788133C}"/>
              </a:ext>
            </a:extLst>
          </p:cNvPr>
          <p:cNvSpPr>
            <a:spLocks noGrp="1"/>
          </p:cNvSpPr>
          <p:nvPr>
            <p:ph type="title"/>
          </p:nvPr>
        </p:nvSpPr>
        <p:spPr/>
        <p:txBody>
          <a:bodyPr/>
          <a:lstStyle/>
          <a:p>
            <a:r>
              <a:rPr lang="en-US" altLang="zh-TW" dirty="0"/>
              <a:t>V. Conclusion</a:t>
            </a:r>
            <a:endParaRPr lang="zh-TW" altLang="en-US" dirty="0"/>
          </a:p>
        </p:txBody>
      </p:sp>
      <p:sp>
        <p:nvSpPr>
          <p:cNvPr id="3" name="投影片編號版面配置區 2">
            <a:extLst>
              <a:ext uri="{FF2B5EF4-FFF2-40B4-BE49-F238E27FC236}">
                <a16:creationId xmlns:a16="http://schemas.microsoft.com/office/drawing/2014/main" id="{33E370FC-9878-1BAB-A2D9-E86C33E4B6CF}"/>
              </a:ext>
            </a:extLst>
          </p:cNvPr>
          <p:cNvSpPr>
            <a:spLocks noGrp="1"/>
          </p:cNvSpPr>
          <p:nvPr>
            <p:ph type="sldNum" sz="quarter" idx="12"/>
          </p:nvPr>
        </p:nvSpPr>
        <p:spPr/>
        <p:txBody>
          <a:bodyPr/>
          <a:lstStyle/>
          <a:p>
            <a:fld id="{3E97B41F-AD73-4999-8C34-7D0FF5EF3CF5}" type="slidenum">
              <a:rPr lang="zh-TW" altLang="en-US" smtClean="0"/>
              <a:t>24</a:t>
            </a:fld>
            <a:endParaRPr lang="zh-TW" altLang="en-US"/>
          </a:p>
        </p:txBody>
      </p:sp>
      <p:sp>
        <p:nvSpPr>
          <p:cNvPr id="4" name="內容版面配置區 3">
            <a:extLst>
              <a:ext uri="{FF2B5EF4-FFF2-40B4-BE49-F238E27FC236}">
                <a16:creationId xmlns:a16="http://schemas.microsoft.com/office/drawing/2014/main" id="{50891A15-0433-CAEA-A544-81D7F26A4EF3}"/>
              </a:ext>
            </a:extLst>
          </p:cNvPr>
          <p:cNvSpPr>
            <a:spLocks noGrp="1"/>
          </p:cNvSpPr>
          <p:nvPr>
            <p:ph sz="quarter" idx="13"/>
          </p:nvPr>
        </p:nvSpPr>
        <p:spPr/>
        <p:txBody>
          <a:bodyPr/>
          <a:lstStyle/>
          <a:p>
            <a:pPr lvl="1">
              <a:buFont typeface="Wingdings" panose="05000000000000000000" pitchFamily="2" charset="2"/>
              <a:buChar char="Ø"/>
            </a:pPr>
            <a:r>
              <a:rPr lang="en-US" altLang="zh-TW" dirty="0"/>
              <a:t>This paper presents Swin Transformer, a new vision Transformer which produces a hierarchical feature representation and has linear computational complexity with respect to input image size. </a:t>
            </a:r>
          </a:p>
          <a:p>
            <a:pPr lvl="1">
              <a:buFont typeface="Wingdings" panose="05000000000000000000" pitchFamily="2" charset="2"/>
              <a:buChar char="Ø"/>
            </a:pPr>
            <a:r>
              <a:rPr lang="en-US" altLang="zh-TW" dirty="0"/>
              <a:t>Swin Transformer achieves the state-of-the-art performance on COCO object detection and ADE20K semantic segmentation, significantly surpassing previous best methods. </a:t>
            </a:r>
          </a:p>
          <a:p>
            <a:pPr lvl="1">
              <a:buFont typeface="Wingdings" panose="05000000000000000000" pitchFamily="2" charset="2"/>
              <a:buChar char="Ø"/>
            </a:pPr>
            <a:r>
              <a:rPr lang="en-US" altLang="zh-TW" dirty="0"/>
              <a:t>Author hope that Swin Transformer’s strong performance on various vision problems will encourage unified modeling of vision and language signals</a:t>
            </a:r>
          </a:p>
          <a:p>
            <a:endParaRPr lang="en-US" altLang="zh-TW" sz="2200" dirty="0"/>
          </a:p>
        </p:txBody>
      </p:sp>
      <p:sp>
        <p:nvSpPr>
          <p:cNvPr id="5" name="內容版面配置區 4">
            <a:extLst>
              <a:ext uri="{FF2B5EF4-FFF2-40B4-BE49-F238E27FC236}">
                <a16:creationId xmlns:a16="http://schemas.microsoft.com/office/drawing/2014/main" id="{7685795A-8838-7FB7-23AA-4AD8B2AEBA1E}"/>
              </a:ext>
            </a:extLst>
          </p:cNvPr>
          <p:cNvSpPr>
            <a:spLocks noGrp="1"/>
          </p:cNvSpPr>
          <p:nvPr>
            <p:ph sz="quarter" idx="14"/>
          </p:nvPr>
        </p:nvSpPr>
        <p:spPr/>
        <p:txBody>
          <a:bodyPr/>
          <a:lstStyle/>
          <a:p>
            <a:endParaRPr lang="zh-TW" altLang="en-US" dirty="0"/>
          </a:p>
        </p:txBody>
      </p:sp>
    </p:spTree>
    <p:extLst>
      <p:ext uri="{BB962C8B-B14F-4D97-AF65-F5344CB8AC3E}">
        <p14:creationId xmlns:p14="http://schemas.microsoft.com/office/powerpoint/2010/main" val="417250133"/>
      </p:ext>
    </p:extLst>
  </p:cSld>
  <p:clrMapOvr>
    <a:masterClrMapping/>
  </p:clrMapOvr>
</p:sld>
</file>

<file path=ppt/theme/theme1.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2.xml><?xml version="1.0" encoding="utf-8"?>
<a:theme xmlns:a="http://schemas.openxmlformats.org/drawingml/2006/main" name="NCUE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UEE" id="{4D309C3F-E183-4FB4-AEDB-7CCE43E5FED5}" vid="{04B2A469-F8F0-40CC-A4FD-E8EC6971CFD5}"/>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9f277c6e-4667-4e89-a9a0-04ef23c7621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D01D057C34BA4346AFC101E54BFF0B4A" ma:contentTypeVersion="5" ma:contentTypeDescription="建立新的文件。" ma:contentTypeScope="" ma:versionID="a0a6beb63d380da9c56ed11622043d5d">
  <xsd:schema xmlns:xsd="http://www.w3.org/2001/XMLSchema" xmlns:xs="http://www.w3.org/2001/XMLSchema" xmlns:p="http://schemas.microsoft.com/office/2006/metadata/properties" xmlns:ns3="9f277c6e-4667-4e89-a9a0-04ef23c7621b" targetNamespace="http://schemas.microsoft.com/office/2006/metadata/properties" ma:root="true" ma:fieldsID="5166e0dbef0bc47bdad1eb1077a5c76a" ns3:_="">
    <xsd:import namespace="9f277c6e-4667-4e89-a9a0-04ef23c7621b"/>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277c6e-4667-4e89-a9a0-04ef23c7621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9A375C-DF77-4DDE-899A-09A1D9F7B3DF}">
  <ds:schemaRefs>
    <ds:schemaRef ds:uri="http://purl.org/dc/dcmitype/"/>
    <ds:schemaRef ds:uri="http://www.w3.org/XML/1998/namespace"/>
    <ds:schemaRef ds:uri="http://schemas.microsoft.com/office/infopath/2007/PartnerControls"/>
    <ds:schemaRef ds:uri="9f277c6e-4667-4e89-a9a0-04ef23c7621b"/>
    <ds:schemaRef ds:uri="http://schemas.microsoft.com/office/2006/documentManagement/types"/>
    <ds:schemaRef ds:uri="http://purl.org/dc/elements/1.1/"/>
    <ds:schemaRef ds:uri="http://purl.org/dc/term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7D72FB4E-D123-4D18-8152-3D27E1C89126}">
  <ds:schemaRefs>
    <ds:schemaRef ds:uri="http://schemas.microsoft.com/sharepoint/v3/contenttype/forms"/>
  </ds:schemaRefs>
</ds:datastoreItem>
</file>

<file path=customXml/itemProps3.xml><?xml version="1.0" encoding="utf-8"?>
<ds:datastoreItem xmlns:ds="http://schemas.openxmlformats.org/officeDocument/2006/customXml" ds:itemID="{2654207D-B331-4976-97D0-BEF0A147B0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277c6e-4667-4e89-a9a0-04ef23c762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NCUEE</Template>
  <TotalTime>125445</TotalTime>
  <Words>4329</Words>
  <Application>Microsoft Office PowerPoint</Application>
  <PresentationFormat>寬螢幕</PresentationFormat>
  <Paragraphs>252</Paragraphs>
  <Slides>24</Slides>
  <Notes>19</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24</vt:i4>
      </vt:variant>
    </vt:vector>
  </HeadingPairs>
  <TitlesOfParts>
    <vt:vector size="34" baseType="lpstr">
      <vt:lpstr>Aptos</vt:lpstr>
      <vt:lpstr>Arial</vt:lpstr>
      <vt:lpstr>Calibri</vt:lpstr>
      <vt:lpstr>Cambria Math</vt:lpstr>
      <vt:lpstr>Georgia</vt:lpstr>
      <vt:lpstr>Times</vt:lpstr>
      <vt:lpstr>Times New Roman</vt:lpstr>
      <vt:lpstr>Wingdings</vt:lpstr>
      <vt:lpstr>NCUEE</vt:lpstr>
      <vt:lpstr>NCUEE</vt:lpstr>
      <vt:lpstr>Swin Transformer: Hierarchical Visiosn Transformer using Shifted Window</vt:lpstr>
      <vt:lpstr>Summary</vt:lpstr>
      <vt:lpstr>Outline</vt:lpstr>
      <vt:lpstr>I. Introduction </vt:lpstr>
      <vt:lpstr>I. Introduction </vt:lpstr>
      <vt:lpstr>Outline</vt:lpstr>
      <vt:lpstr>II. Related Work</vt:lpstr>
      <vt:lpstr>II. Related Work</vt:lpstr>
      <vt:lpstr>Outline</vt:lpstr>
      <vt:lpstr>III. Method </vt:lpstr>
      <vt:lpstr>III. Method </vt:lpstr>
      <vt:lpstr>III. Method </vt:lpstr>
      <vt:lpstr>III. Method </vt:lpstr>
      <vt:lpstr>III. Method </vt:lpstr>
      <vt:lpstr>III. Method </vt:lpstr>
      <vt:lpstr>III. Method </vt:lpstr>
      <vt:lpstr>Outline</vt:lpstr>
      <vt:lpstr>IV. Experiment</vt:lpstr>
      <vt:lpstr>IV. Experiment</vt:lpstr>
      <vt:lpstr>IV. Experiment</vt:lpstr>
      <vt:lpstr>IV. Experiment</vt:lpstr>
      <vt:lpstr>IV. Experiment</vt:lpstr>
      <vt:lpstr>Outline</vt:lpstr>
      <vt:lpstr>V.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賴應賢 (113521105)</dc:creator>
  <cp:lastModifiedBy>王翊丞 (114527014)</cp:lastModifiedBy>
  <cp:revision>132</cp:revision>
  <dcterms:created xsi:type="dcterms:W3CDTF">2024-09-18T08:55:23Z</dcterms:created>
  <dcterms:modified xsi:type="dcterms:W3CDTF">2026-03-04T04:26:02Z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0x010100D01D057C34BA4346AFC101E54BFF0B4A</vt:lpwstr>
  </property>
</Properties>
</file>